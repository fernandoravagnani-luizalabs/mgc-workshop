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embeddedFontLst>
    <p:embeddedFont>
      <p:font typeface="Nunito"/>
      <p:regular r:id="rId61"/>
      <p:bold r:id="rId62"/>
      <p:italic r:id="rId63"/>
      <p:boldItalic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Montserrat Light"/>
      <p:regular r:id="rId69"/>
      <p:bold r:id="rId70"/>
      <p:italic r:id="rId71"/>
      <p:boldItalic r:id="rId72"/>
    </p:embeddedFont>
    <p:embeddedFont>
      <p:font typeface="Rubik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ubik-regular.fntdata"/><Relationship Id="rId72" Type="http://schemas.openxmlformats.org/officeDocument/2006/relationships/font" Target="fonts/MontserratLight-boldItalic.fntdata"/><Relationship Id="rId31" Type="http://schemas.openxmlformats.org/officeDocument/2006/relationships/slide" Target="slides/slide26.xml"/><Relationship Id="rId75" Type="http://schemas.openxmlformats.org/officeDocument/2006/relationships/font" Target="fonts/Rubik-italic.fntdata"/><Relationship Id="rId30" Type="http://schemas.openxmlformats.org/officeDocument/2006/relationships/slide" Target="slides/slide25.xml"/><Relationship Id="rId74" Type="http://schemas.openxmlformats.org/officeDocument/2006/relationships/font" Target="fonts/Rubik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schemas.openxmlformats.org/officeDocument/2006/relationships/font" Target="fonts/Rubik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MontserratLight-italic.fntdata"/><Relationship Id="rId70" Type="http://schemas.openxmlformats.org/officeDocument/2006/relationships/font" Target="fonts/MontserratLigh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Nunito-bold.fntdata"/><Relationship Id="rId61" Type="http://schemas.openxmlformats.org/officeDocument/2006/relationships/font" Target="fonts/Nunito-regular.fntdata"/><Relationship Id="rId20" Type="http://schemas.openxmlformats.org/officeDocument/2006/relationships/slide" Target="slides/slide15.xml"/><Relationship Id="rId64" Type="http://schemas.openxmlformats.org/officeDocument/2006/relationships/font" Target="fonts/Nunito-boldItalic.fntdata"/><Relationship Id="rId63" Type="http://schemas.openxmlformats.org/officeDocument/2006/relationships/font" Target="fonts/Nunito-italic.fntdata"/><Relationship Id="rId22" Type="http://schemas.openxmlformats.org/officeDocument/2006/relationships/slide" Target="slides/slide17.xml"/><Relationship Id="rId66" Type="http://schemas.openxmlformats.org/officeDocument/2006/relationships/font" Target="fonts/Montserrat-bold.fntdata"/><Relationship Id="rId21" Type="http://schemas.openxmlformats.org/officeDocument/2006/relationships/slide" Target="slides/slide16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19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8.xml"/><Relationship Id="rId67" Type="http://schemas.openxmlformats.org/officeDocument/2006/relationships/font" Target="fonts/Montserrat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MontserratLigh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dev.to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32edbcc1a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932edbcc1a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af019197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af019197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31354e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631354e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afad4ee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afad4ee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5afad4ee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5afad4ee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b011c0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db011c0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6137b7e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6137b7e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Pensar em um titulo ou frase para destacar que estamos pensando no brasil</a:t>
            </a:r>
            <a:br>
              <a:rPr lang="pt-BR"/>
            </a:br>
            <a:br>
              <a:rPr lang="pt-BR"/>
            </a:br>
            <a:r>
              <a:rPr lang="pt-BR"/>
              <a:t>pensar modernizar o slide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c45f8bf4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c45f8bf4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r>
              <a:rPr lang="pt-BR"/>
              <a:t>Fazer um menu com link para cada slide de produto</a:t>
            </a:r>
            <a:br>
              <a:rPr lang="pt-BR"/>
            </a:br>
            <a:br>
              <a:rPr lang="pt-BR"/>
            </a:br>
            <a:r>
              <a:rPr lang="pt-BR"/>
              <a:t>“você deve perguntar: quais produtos vc consume hoje?”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5afad4ee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5afad4ee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br>
              <a:rPr lang="pt-BR"/>
            </a:br>
            <a:r>
              <a:rPr lang="pt-BR"/>
              <a:t>Fazer um menu com link para cada slide de produto</a:t>
            </a:r>
            <a:br>
              <a:rPr lang="pt-BR"/>
            </a:br>
            <a:br>
              <a:rPr lang="pt-BR"/>
            </a:br>
            <a:r>
              <a:rPr lang="pt-BR"/>
              <a:t>“você deve perguntar: quais produtos vc consume hoje?”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6111485a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6111485a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4cbd3ad8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4cbd3ad8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Dev.to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Atualizar link discord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baf019197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baf019197_3_10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baf019197_3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baf019197_3_43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baf019197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baf019197_3_1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baf019197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baf019197_3_12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baf019197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baf019197_3_15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af019197_3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baf019197_3_49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baf019197_3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fbaf019197_3_51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baf019197_3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fbaf019197_3_53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af019197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af019197_3_17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baf019197_3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baf019197_3_6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baf019197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baf019197_3_16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baf019197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baf019197_3_19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baf019197_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baf019197_3_20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baf019197_3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fbaf019197_3_21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baf019197_3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fbaf019197_3_59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baf019197_3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baf019197_3_66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baf019197_3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baf019197_3_68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baf019197_3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baf019197_3_70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baf019197_3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baf019197_3_64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baf019197_3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fbaf019197_3_22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baf019197_3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fbaf019197_3_72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baf019197_3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fbaf019197_3_24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baf019197_3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fbaf019197_3_24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baf019197_3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fbaf019197_3_76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baf019197_3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fbaf019197_3_77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baf019197_3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fbaf019197_3_80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fbaf019197_3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fbaf019197_3_25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baf019197_3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fbaf019197_3_110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baf019197_3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g3fbaf019197_3_26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baf019197_3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fbaf019197_3_108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fbaf019197_3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fbaf019197_3_112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baf019197_3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fbaf019197_3_115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baf019197_3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fbaf019197_3_32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baf019197_3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baf019197_3_33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baf019197_3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g3fbaf019197_3_117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fbaf019197_3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fbaf019197_3_123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bd5e94e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3fbd5e94eb0_0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fbaf019197_3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fbaf019197_3_129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baf019197_3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fbaf019197_3_145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baf019197_3_1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baf019197_3_17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fbd5e94eb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g3fbd5e94eb0_0_14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fbaf019197_3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g3fbaf019197_3_157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fbaf019197_3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fbaf019197_3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932edbcc1a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932edbcc1a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magalu.cloud/termos-legais/politica-de-privacidade/" TargetMode="External"/><Relationship Id="rId10" Type="http://schemas.openxmlformats.org/officeDocument/2006/relationships/hyperlink" Target="https://magalu.cloud/termos-legais/politica-de-privacidade/" TargetMode="External"/><Relationship Id="rId13" Type="http://schemas.openxmlformats.org/officeDocument/2006/relationships/hyperlink" Target="https://magalu.cloud/termos-legais/politica-de-sgsi/" TargetMode="External"/><Relationship Id="rId12" Type="http://schemas.openxmlformats.org/officeDocument/2006/relationships/hyperlink" Target="https://magalu.cloud/termos-legais/politica-de-sgsi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41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magalu.cloud/termos-legais/politica-de-privacidade/" TargetMode="External"/><Relationship Id="rId10" Type="http://schemas.openxmlformats.org/officeDocument/2006/relationships/image" Target="../media/image36.png"/><Relationship Id="rId13" Type="http://schemas.openxmlformats.org/officeDocument/2006/relationships/hyperlink" Target="https://magalu.cloud/termos-legais/politica-de-sgsi/" TargetMode="External"/><Relationship Id="rId12" Type="http://schemas.openxmlformats.org/officeDocument/2006/relationships/hyperlink" Target="https://magalu.cloud/termos-legais/politica-de-privacidade/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15" Type="http://schemas.openxmlformats.org/officeDocument/2006/relationships/image" Target="../media/image30.png"/><Relationship Id="rId14" Type="http://schemas.openxmlformats.org/officeDocument/2006/relationships/hyperlink" Target="https://magalu.cloud/termos-legais/politica-de-sgsi/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7.png"/><Relationship Id="rId7" Type="http://schemas.openxmlformats.org/officeDocument/2006/relationships/image" Target="../media/image28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40" Type="http://schemas.openxmlformats.org/officeDocument/2006/relationships/image" Target="../media/image63.png"/><Relationship Id="rId20" Type="http://schemas.openxmlformats.org/officeDocument/2006/relationships/image" Target="../media/image53.png"/><Relationship Id="rId42" Type="http://schemas.openxmlformats.org/officeDocument/2006/relationships/image" Target="../media/image77.png"/><Relationship Id="rId41" Type="http://schemas.openxmlformats.org/officeDocument/2006/relationships/image" Target="../media/image127.png"/><Relationship Id="rId22" Type="http://schemas.openxmlformats.org/officeDocument/2006/relationships/image" Target="../media/image58.png"/><Relationship Id="rId44" Type="http://schemas.openxmlformats.org/officeDocument/2006/relationships/image" Target="../media/image78.png"/><Relationship Id="rId21" Type="http://schemas.openxmlformats.org/officeDocument/2006/relationships/image" Target="../media/image52.png"/><Relationship Id="rId43" Type="http://schemas.openxmlformats.org/officeDocument/2006/relationships/image" Target="../media/image85.png"/><Relationship Id="rId24" Type="http://schemas.openxmlformats.org/officeDocument/2006/relationships/image" Target="../media/image60.png"/><Relationship Id="rId46" Type="http://schemas.openxmlformats.org/officeDocument/2006/relationships/image" Target="../media/image71.png"/><Relationship Id="rId23" Type="http://schemas.openxmlformats.org/officeDocument/2006/relationships/image" Target="../media/image50.png"/><Relationship Id="rId45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42.png"/><Relationship Id="rId26" Type="http://schemas.openxmlformats.org/officeDocument/2006/relationships/image" Target="../media/image54.png"/><Relationship Id="rId25" Type="http://schemas.openxmlformats.org/officeDocument/2006/relationships/image" Target="../media/image59.png"/><Relationship Id="rId47" Type="http://schemas.openxmlformats.org/officeDocument/2006/relationships/image" Target="../media/image7.png"/><Relationship Id="rId28" Type="http://schemas.openxmlformats.org/officeDocument/2006/relationships/image" Target="../media/image62.png"/><Relationship Id="rId27" Type="http://schemas.openxmlformats.org/officeDocument/2006/relationships/image" Target="../media/image51.png"/><Relationship Id="rId5" Type="http://schemas.openxmlformats.org/officeDocument/2006/relationships/image" Target="../media/image43.png"/><Relationship Id="rId6" Type="http://schemas.openxmlformats.org/officeDocument/2006/relationships/image" Target="../media/image35.png"/><Relationship Id="rId29" Type="http://schemas.openxmlformats.org/officeDocument/2006/relationships/image" Target="../media/image76.png"/><Relationship Id="rId7" Type="http://schemas.openxmlformats.org/officeDocument/2006/relationships/image" Target="../media/image34.png"/><Relationship Id="rId8" Type="http://schemas.openxmlformats.org/officeDocument/2006/relationships/image" Target="../media/image39.png"/><Relationship Id="rId31" Type="http://schemas.openxmlformats.org/officeDocument/2006/relationships/image" Target="../media/image66.png"/><Relationship Id="rId30" Type="http://schemas.openxmlformats.org/officeDocument/2006/relationships/image" Target="../media/image64.png"/><Relationship Id="rId11" Type="http://schemas.openxmlformats.org/officeDocument/2006/relationships/image" Target="../media/image47.png"/><Relationship Id="rId33" Type="http://schemas.openxmlformats.org/officeDocument/2006/relationships/image" Target="../media/image117.png"/><Relationship Id="rId10" Type="http://schemas.openxmlformats.org/officeDocument/2006/relationships/image" Target="../media/image56.png"/><Relationship Id="rId32" Type="http://schemas.openxmlformats.org/officeDocument/2006/relationships/image" Target="../media/image100.png"/><Relationship Id="rId13" Type="http://schemas.openxmlformats.org/officeDocument/2006/relationships/image" Target="../media/image45.png"/><Relationship Id="rId35" Type="http://schemas.openxmlformats.org/officeDocument/2006/relationships/image" Target="../media/image108.png"/><Relationship Id="rId12" Type="http://schemas.openxmlformats.org/officeDocument/2006/relationships/image" Target="../media/image46.png"/><Relationship Id="rId34" Type="http://schemas.openxmlformats.org/officeDocument/2006/relationships/image" Target="../media/image57.png"/><Relationship Id="rId15" Type="http://schemas.openxmlformats.org/officeDocument/2006/relationships/image" Target="../media/image61.png"/><Relationship Id="rId37" Type="http://schemas.openxmlformats.org/officeDocument/2006/relationships/image" Target="../media/image80.png"/><Relationship Id="rId14" Type="http://schemas.openxmlformats.org/officeDocument/2006/relationships/image" Target="../media/image49.png"/><Relationship Id="rId36" Type="http://schemas.openxmlformats.org/officeDocument/2006/relationships/image" Target="../media/image65.png"/><Relationship Id="rId17" Type="http://schemas.openxmlformats.org/officeDocument/2006/relationships/image" Target="../media/image73.png"/><Relationship Id="rId39" Type="http://schemas.openxmlformats.org/officeDocument/2006/relationships/image" Target="../media/image68.png"/><Relationship Id="rId16" Type="http://schemas.openxmlformats.org/officeDocument/2006/relationships/image" Target="../media/image74.png"/><Relationship Id="rId38" Type="http://schemas.openxmlformats.org/officeDocument/2006/relationships/image" Target="../media/image98.png"/><Relationship Id="rId19" Type="http://schemas.openxmlformats.org/officeDocument/2006/relationships/image" Target="../media/image48.png"/><Relationship Id="rId18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75.png"/><Relationship Id="rId5" Type="http://schemas.openxmlformats.org/officeDocument/2006/relationships/image" Target="../media/image69.png"/><Relationship Id="rId6" Type="http://schemas.openxmlformats.org/officeDocument/2006/relationships/image" Target="../media/image86.png"/><Relationship Id="rId7" Type="http://schemas.openxmlformats.org/officeDocument/2006/relationships/image" Target="../media/image72.png"/><Relationship Id="rId8" Type="http://schemas.openxmlformats.org/officeDocument/2006/relationships/image" Target="../media/image81.png"/><Relationship Id="rId11" Type="http://schemas.openxmlformats.org/officeDocument/2006/relationships/image" Target="../media/image79.png"/><Relationship Id="rId10" Type="http://schemas.openxmlformats.org/officeDocument/2006/relationships/image" Target="../media/image88.png"/><Relationship Id="rId13" Type="http://schemas.openxmlformats.org/officeDocument/2006/relationships/image" Target="../media/image89.png"/><Relationship Id="rId12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9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2" Type="http://schemas.openxmlformats.org/officeDocument/2006/relationships/image" Target="../media/image9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agalu.cloud" TargetMode="External"/><Relationship Id="rId4" Type="http://schemas.openxmlformats.org/officeDocument/2006/relationships/hyperlink" Target="https://docs.magalu.cloud/docs/onboarding/create-account" TargetMode="External"/><Relationship Id="rId9" Type="http://schemas.openxmlformats.org/officeDocument/2006/relationships/image" Target="../media/image111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nsole.magalu.cloud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0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hat.whatsapp.com/DjXNR87YBcb94669Hlbg8P" TargetMode="External"/><Relationship Id="rId4" Type="http://schemas.openxmlformats.org/officeDocument/2006/relationships/hyperlink" Target="https://forms.gle/ocvRupRunz5yXexd7" TargetMode="External"/><Relationship Id="rId9" Type="http://schemas.openxmlformats.org/officeDocument/2006/relationships/image" Target="../media/image10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2.png"/><Relationship Id="rId10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fernandoravagnani-luizalabs/mgc-workshop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0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magalu.cloud/docs/computing/virtual-machine/how-to/create-instances/set-ssh-key-instanc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0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magalu.cloud/docs/computing/virtual-machine/how-to/create-instances/create-instanc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br-se1.magaluobjects.com" TargetMode="External"/><Relationship Id="rId4" Type="http://schemas.openxmlformats.org/officeDocument/2006/relationships/hyperlink" Target="https://docs.magalu.cloud/docs/storage/object-storage/quickstart" TargetMode="External"/><Relationship Id="rId9" Type="http://schemas.openxmlformats.org/officeDocument/2006/relationships/image" Target="../media/image109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0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0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://200.x.x.x" TargetMode="External"/><Relationship Id="rId8" Type="http://schemas.openxmlformats.org/officeDocument/2006/relationships/image" Target="../media/image1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112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s://docs.magalu.cloud/docs/computing/virtual-machine/how-to/manage-instances/delete-instance" TargetMode="External"/><Relationship Id="rId8" Type="http://schemas.openxmlformats.org/officeDocument/2006/relationships/image" Target="../media/image10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1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s://docs.magalu.cloud/docs/storage/object-storage/how-to/buckets/create-list-delete-bucket#apagar-bucket" TargetMode="External"/><Relationship Id="rId8" Type="http://schemas.openxmlformats.org/officeDocument/2006/relationships/image" Target="../media/image10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magalu.cloud/docs/storage/object-storage/compatible-tools/mgc-cli-compatibility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magalu.cloud/docs/computing/ssh-keys/how-to/creat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magalu.cloud/docs/computing/virtual-machine/how-to/create-instances/create-instanc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s://docs.magalu.cloud/docs/storage/object-storage/how-to/buckets/create-list-delete-bucket" TargetMode="External"/><Relationship Id="rId8" Type="http://schemas.openxmlformats.org/officeDocument/2006/relationships/image" Target="../media/image1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ocs.magalu.cloud/docs/computing/virtual-machine/how-to/create-instances/create-instanc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s://docs.magalu.cloud/docs/storage/object-storage/how-to/buckets/create-list-delete-bucket" TargetMode="External"/><Relationship Id="rId8" Type="http://schemas.openxmlformats.org/officeDocument/2006/relationships/image" Target="../media/image1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cs.magalu.cloud/docs/storage/object-storage/compatible-tools/terraform-configuration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cs.magalu.cloud/docs/devops-tools/api-keys/how-to/other-products/create-api-key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125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35.png"/><Relationship Id="rId8" Type="http://schemas.openxmlformats.org/officeDocument/2006/relationships/image" Target="../media/image1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1.png"/><Relationship Id="rId8" Type="http://schemas.openxmlformats.org/officeDocument/2006/relationships/image" Target="../media/image1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magalu.cloud/" TargetMode="External"/><Relationship Id="rId4" Type="http://schemas.openxmlformats.org/officeDocument/2006/relationships/hyperlink" Target="https://docs.magalu.cloud/" TargetMode="External"/><Relationship Id="rId9" Type="http://schemas.openxmlformats.org/officeDocument/2006/relationships/hyperlink" Target="https://registry.terraform.io/providers/MagaluCloud/mgc/latest/docs" TargetMode="External"/><Relationship Id="rId5" Type="http://schemas.openxmlformats.org/officeDocument/2006/relationships/hyperlink" Target="https://docs.magalu.cloud/docs/onboarding/create-account" TargetMode="External"/><Relationship Id="rId6" Type="http://schemas.openxmlformats.org/officeDocument/2006/relationships/hyperlink" Target="https://docs.magalu.cloud/docs/devops-tools/cli-mgc/overview" TargetMode="External"/><Relationship Id="rId7" Type="http://schemas.openxmlformats.org/officeDocument/2006/relationships/hyperlink" Target="https://docs.magalu.cloud/docs/computing/virtual-machine/overview" TargetMode="External"/><Relationship Id="rId8" Type="http://schemas.openxmlformats.org/officeDocument/2006/relationships/hyperlink" Target="https://docs.magalu.cloud/docs/storage/object-storage/overview" TargetMode="External"/><Relationship Id="rId11" Type="http://schemas.openxmlformats.org/officeDocument/2006/relationships/image" Target="../media/image8.png"/><Relationship Id="rId10" Type="http://schemas.openxmlformats.org/officeDocument/2006/relationships/hyperlink" Target="https://github.com/fernandoravagnani-luizalabs/mgc-workshop" TargetMode="External"/><Relationship Id="rId13" Type="http://schemas.openxmlformats.org/officeDocument/2006/relationships/image" Target="../media/image5.png"/><Relationship Id="rId12" Type="http://schemas.openxmlformats.org/officeDocument/2006/relationships/image" Target="../media/image19.png"/><Relationship Id="rId1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128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hyperlink" Target="http://drive.google.com/file/d/1lqDcSpc0nVU3ShnZZEsFjw3skYCLIQyM/view" TargetMode="External"/><Relationship Id="rId8" Type="http://schemas.openxmlformats.org/officeDocument/2006/relationships/image" Target="../media/image1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13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36.png"/><Relationship Id="rId8" Type="http://schemas.openxmlformats.org/officeDocument/2006/relationships/image" Target="../media/image124.png"/><Relationship Id="rId11" Type="http://schemas.openxmlformats.org/officeDocument/2006/relationships/image" Target="../media/image130.png"/><Relationship Id="rId10" Type="http://schemas.openxmlformats.org/officeDocument/2006/relationships/image" Target="../media/image126.png"/><Relationship Id="rId13" Type="http://schemas.openxmlformats.org/officeDocument/2006/relationships/image" Target="../media/image137.png"/><Relationship Id="rId12" Type="http://schemas.openxmlformats.org/officeDocument/2006/relationships/image" Target="../media/image132.png"/><Relationship Id="rId14" Type="http://schemas.openxmlformats.org/officeDocument/2006/relationships/image" Target="../media/image1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34.png"/><Relationship Id="rId8" Type="http://schemas.openxmlformats.org/officeDocument/2006/relationships/image" Target="../media/image12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1.png"/><Relationship Id="rId4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 title="bg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3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771800" y="1557113"/>
            <a:ext cx="38865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 Teoria à Prática: </a:t>
            </a:r>
            <a:endParaRPr sz="29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Construindo sua Primeira Solução na Magalu Cloud</a:t>
            </a:r>
            <a:endParaRPr sz="29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771800" y="1142238"/>
            <a:ext cx="39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4" title="Logo-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9631" y="1710565"/>
            <a:ext cx="2576699" cy="6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aopaul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9624" y="2812516"/>
            <a:ext cx="2218699" cy="6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Slide 3.png"/>
          <p:cNvPicPr preferRelativeResize="0"/>
          <p:nvPr/>
        </p:nvPicPr>
        <p:blipFill rotWithShape="1">
          <a:blip r:embed="rId3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94750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Quem Somos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50" y="5026225"/>
            <a:ext cx="8978525" cy="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5">
            <a:alphaModFix/>
          </a:blip>
          <a:srcRect b="9083" l="0" r="0" t="0"/>
          <a:stretch/>
        </p:blipFill>
        <p:spPr>
          <a:xfrm>
            <a:off x="152400" y="991650"/>
            <a:ext cx="4246251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6">
            <a:alphaModFix/>
          </a:blip>
          <a:srcRect b="12450" l="0" r="0" t="0"/>
          <a:stretch/>
        </p:blipFill>
        <p:spPr>
          <a:xfrm>
            <a:off x="4551050" y="991650"/>
            <a:ext cx="4440549" cy="237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32825" y="3217425"/>
            <a:ext cx="1425450" cy="14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38450" y="3210152"/>
            <a:ext cx="1425450" cy="144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200" y="190460"/>
            <a:ext cx="1456100" cy="2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20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4748" y="2887651"/>
            <a:ext cx="986113" cy="2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202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3247" y="567401"/>
            <a:ext cx="946225" cy="27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202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8000" y="2908525"/>
            <a:ext cx="919524" cy="2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76532" y="261723"/>
            <a:ext cx="946225" cy="276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/>
          <p:nvPr/>
        </p:nvCxnSpPr>
        <p:spPr>
          <a:xfrm>
            <a:off x="8300" y="2569425"/>
            <a:ext cx="8910000" cy="0"/>
          </a:xfrm>
          <a:prstGeom prst="straightConnector1">
            <a:avLst/>
          </a:prstGeom>
          <a:noFill/>
          <a:ln cap="flat" cmpd="sng" w="19050">
            <a:solidFill>
              <a:srgbClr val="00D2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" name="Google Shape;90;p17" title="sphe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263" y="2220879"/>
            <a:ext cx="6971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201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3699" y="2887648"/>
            <a:ext cx="946217" cy="2972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300475" y="3528231"/>
            <a:ext cx="189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Magalu foi a primeira empresa varejista no Brasil a migrar para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uma nuvem pública.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15100" y="3173856"/>
            <a:ext cx="16935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Pioneirismo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734900" y="881438"/>
            <a:ext cx="2131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Surge a ideia inicial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criar uma nuvem acessível e com um propósito claro: impulsionar a competitividade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 Brasil através da tecnologia.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749513" y="527056"/>
            <a:ext cx="16935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Idealização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p17" title="sphe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2600" y="2220879"/>
            <a:ext cx="697100" cy="6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3316350" y="3528231"/>
            <a:ext cx="1899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Nasce a Magalu Cloud para democratizar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acesso à nuvem nos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negócios brasileiros, de forma personalizável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 fácil de gerenciar.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330975" y="3173856"/>
            <a:ext cx="16935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Inovação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7" title="sphe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82563" y="2220879"/>
            <a:ext cx="697100" cy="6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4821600" y="1189481"/>
            <a:ext cx="1693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Novas parcerias,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ampliação de casos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uso, portfólio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 categorias de produtos.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836225" y="835106"/>
            <a:ext cx="1899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Consolidação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17" title="sphe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7813" y="2220879"/>
            <a:ext cx="697100" cy="6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6332225" y="3511988"/>
            <a:ext cx="2511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Acelerar o crescimento do ecossistema de inovação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 varejo nacional, ao oferecer uma infraestrutura de nuvem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robusta, acessível e adaptada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às necessidade do mercado brasileiro.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346850" y="3157606"/>
            <a:ext cx="1899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Ecossistema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Google Shape;105;p17" title="sphe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8438" y="2204629"/>
            <a:ext cx="697100" cy="6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699500" y="2735463"/>
            <a:ext cx="3080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Impulsionar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competitividade</a:t>
            </a:r>
            <a:endParaRPr sz="24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do </a:t>
            </a: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Brasil</a:t>
            </a:r>
            <a:r>
              <a:rPr lang="pt-BR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através</a:t>
            </a:r>
            <a:endParaRPr sz="24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</a:t>
            </a: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tecnologia.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99500" y="2212263"/>
            <a:ext cx="170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Propósito:</a:t>
            </a:r>
            <a:endParaRPr b="1" sz="22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236700" y="2735463"/>
            <a:ext cx="176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Ser alicerce da transformação</a:t>
            </a:r>
            <a:endParaRPr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 criadores de valor global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236700" y="2212263"/>
            <a:ext cx="170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D2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Missão:</a:t>
            </a:r>
            <a:endParaRPr sz="2200">
              <a:solidFill>
                <a:srgbClr val="00D2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309400" y="2735463"/>
            <a:ext cx="2135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Empoderarmos</a:t>
            </a:r>
            <a:r>
              <a:rPr lang="pt-BR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para transformar, ao lado dos nossos clientes, acreditando que o impossível é apenas um ponto de vista.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6309400" y="2212263"/>
            <a:ext cx="170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D2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Valores</a:t>
            </a:r>
            <a:r>
              <a:rPr lang="pt-BR" sz="2200">
                <a:solidFill>
                  <a:srgbClr val="00D2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</a:t>
            </a:r>
            <a:endParaRPr sz="2200">
              <a:solidFill>
                <a:srgbClr val="00D2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99500" y="1199663"/>
            <a:ext cx="61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Magalu Cloud é, age e comunica de dentro para fora.</a:t>
            </a:r>
            <a:endParaRPr sz="1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823" y="745737"/>
            <a:ext cx="2447000" cy="4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2587200" y="153750"/>
            <a:ext cx="3969600" cy="4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Pilares de </a:t>
            </a:r>
            <a:r>
              <a:rPr b="1" lang="pt-BR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diferenciação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200" y="190460"/>
            <a:ext cx="1456100" cy="2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 title="Ativo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5074" y="1119272"/>
            <a:ext cx="852060" cy="618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 title="Ativo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1461" y="1116255"/>
            <a:ext cx="852040" cy="5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 title="Ativo 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1704" y="1093824"/>
            <a:ext cx="714340" cy="666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 title="Ativo 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8059" y="1093832"/>
            <a:ext cx="714340" cy="7230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876800" y="1878750"/>
            <a:ext cx="13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Mais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Economia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4745163" y="1878750"/>
            <a:ext cx="166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Mais Proximidade </a:t>
            </a:r>
            <a:endParaRPr b="1"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2829375" y="1878750"/>
            <a:ext cx="145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Mais</a:t>
            </a:r>
            <a:endParaRPr b="1"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Velocidade</a:t>
            </a:r>
            <a:endParaRPr b="1"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877113" y="1878750"/>
            <a:ext cx="145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Mais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Escala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710450" y="2419650"/>
            <a:ext cx="166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 com o melhor custo-benefício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precificação em Real, gerando previsibilidade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potencial economia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até 75%.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686875" y="2419650"/>
            <a:ext cx="1725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Atendimento humanizado, em português, e que entende o negócio de cada cliente, promovendo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otimizações desde 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migração.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2734425" y="2419650"/>
            <a:ext cx="16674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Centers no Brasil, com infraestrutura moderna e de alta performance, garantindo menor latência e mais velocidade no processamento.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789825" y="2419650"/>
            <a:ext cx="1630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Arquitetura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preparada para escalar, acompanhando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expansão das aplicações, demanda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workloads com estabilidade e eficiência.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9" title="Asset 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6700" y="3938125"/>
            <a:ext cx="1344475" cy="8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498994" y="3960116"/>
            <a:ext cx="57183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Garantimos soberania de dados, conformidade total com a LGPD e processos alinhados às normas ISO de segurança da informação. </a:t>
            </a:r>
            <a:endParaRPr sz="112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>
            <a:hlinkClick r:id="rId10"/>
          </p:cNvPr>
          <p:cNvSpPr/>
          <p:nvPr/>
        </p:nvSpPr>
        <p:spPr>
          <a:xfrm>
            <a:off x="2498994" y="4467515"/>
            <a:ext cx="1691700" cy="223200"/>
          </a:xfrm>
          <a:prstGeom prst="roundRect">
            <a:avLst>
              <a:gd fmla="val 16667" name="adj"/>
            </a:avLst>
          </a:prstGeom>
          <a:noFill/>
          <a:ln cap="flat" cmpd="sng" w="119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Política de Privacidade</a:t>
            </a:r>
            <a:endParaRPr b="1"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9">
            <a:hlinkClick r:id="rId12"/>
          </p:cNvPr>
          <p:cNvSpPr/>
          <p:nvPr/>
        </p:nvSpPr>
        <p:spPr>
          <a:xfrm>
            <a:off x="4362613" y="4467515"/>
            <a:ext cx="1344600" cy="223200"/>
          </a:xfrm>
          <a:prstGeom prst="roundRect">
            <a:avLst>
              <a:gd fmla="val 16667" name="adj"/>
            </a:avLst>
          </a:prstGeom>
          <a:noFill/>
          <a:ln cap="flat" cmpd="sng" w="119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Política de SGSI</a:t>
            </a:r>
            <a:endParaRPr b="1"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 title="bg3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474325" y="1258475"/>
            <a:ext cx="2228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</a:t>
            </a:r>
            <a:r>
              <a:rPr b="1" lang="pt-B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futuro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 nuvem</a:t>
            </a:r>
            <a:endParaRPr sz="2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é </a:t>
            </a:r>
            <a:r>
              <a:rPr b="1" lang="pt-B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brasileiro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74325" y="2856313"/>
            <a:ext cx="2102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Regiões: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br-ne1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br-se1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AZs (Availability Zones)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br-ne1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= 2 zonas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br-se1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= 3 zonas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625" y="387323"/>
            <a:ext cx="1456100" cy="248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5974925" y="635475"/>
            <a:ext cx="96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br-ne1</a:t>
            </a:r>
            <a:endParaRPr b="1"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5082875" y="3816250"/>
            <a:ext cx="96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br-se1</a:t>
            </a:r>
            <a:endParaRPr b="1"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600200" y="2315350"/>
            <a:ext cx="963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 Gbps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 6</a:t>
            </a:r>
            <a:r>
              <a:rPr lang="pt-B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ms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7513675" y="3605950"/>
            <a:ext cx="100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Internet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 title="icon 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625" y="3537463"/>
            <a:ext cx="361775" cy="35915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360401" y="718125"/>
            <a:ext cx="7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transformação do seu negócio começa aqui: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21" title="latenc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3500" y="10"/>
            <a:ext cx="1456089" cy="139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875" y="403250"/>
            <a:ext cx="1710899" cy="2915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7851332" y="559714"/>
            <a:ext cx="962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025" lIns="62025" spcFirstLastPara="1" rIns="62025" wrap="square" tIns="62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46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LATÊNCIA MÉDIA</a:t>
            </a:r>
            <a:endParaRPr sz="746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886013" y="656936"/>
            <a:ext cx="2352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025" lIns="62025" spcFirstLastPara="1" rIns="62025" wrap="square" tIns="62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≤</a:t>
            </a:r>
            <a:endParaRPr b="1" sz="19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8087146" y="656936"/>
            <a:ext cx="6921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025" lIns="62025" spcFirstLastPara="1" rIns="62025" wrap="square" tIns="62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6ms</a:t>
            </a:r>
            <a:endParaRPr b="1" sz="19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1" title="icon 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968" y="1675320"/>
            <a:ext cx="361790" cy="435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838612" y="1601500"/>
            <a:ext cx="1710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1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Computação</a:t>
            </a:r>
            <a:endParaRPr b="1" sz="181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838612" y="1897427"/>
            <a:ext cx="171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3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Alto desempenho</a:t>
            </a:r>
            <a:endParaRPr b="1" sz="831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86018" y="2164816"/>
            <a:ext cx="20193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Virtual Machines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Kubernetes gerenciados </a:t>
            </a:r>
            <a:r>
              <a:rPr b="1" lang="pt-BR" sz="86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*NOVO*</a:t>
            </a:r>
            <a:endParaRPr sz="861">
              <a:solidFill>
                <a:srgbClr val="00D2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Container Registry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GPU’S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Linux / Windows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00598" y="2335018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68" name="Google Shape;168;p21"/>
          <p:cNvSpPr/>
          <p:nvPr/>
        </p:nvSpPr>
        <p:spPr>
          <a:xfrm>
            <a:off x="400598" y="2463362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69" name="Google Shape;169;p21"/>
          <p:cNvSpPr/>
          <p:nvPr/>
        </p:nvSpPr>
        <p:spPr>
          <a:xfrm>
            <a:off x="400598" y="2591690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70" name="Google Shape;170;p21"/>
          <p:cNvSpPr/>
          <p:nvPr/>
        </p:nvSpPr>
        <p:spPr>
          <a:xfrm>
            <a:off x="400598" y="2720049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71" name="Google Shape;171;p21"/>
          <p:cNvSpPr/>
          <p:nvPr/>
        </p:nvSpPr>
        <p:spPr>
          <a:xfrm>
            <a:off x="400598" y="2848392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72" name="Google Shape;172;p21"/>
          <p:cNvSpPr txBox="1"/>
          <p:nvPr/>
        </p:nvSpPr>
        <p:spPr>
          <a:xfrm>
            <a:off x="6466117" y="1601500"/>
            <a:ext cx="2227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1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Armazenamento</a:t>
            </a:r>
            <a:endParaRPr b="1" sz="181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466124" y="1897415"/>
            <a:ext cx="171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3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Eficiência</a:t>
            </a:r>
            <a:endParaRPr b="1" sz="831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6013531" y="2164803"/>
            <a:ext cx="20193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Block Storage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Object Storage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Snapshot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6028110" y="2335006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76" name="Google Shape;176;p21"/>
          <p:cNvSpPr/>
          <p:nvPr/>
        </p:nvSpPr>
        <p:spPr>
          <a:xfrm>
            <a:off x="6028110" y="2463349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77" name="Google Shape;177;p21"/>
          <p:cNvSpPr/>
          <p:nvPr/>
        </p:nvSpPr>
        <p:spPr>
          <a:xfrm>
            <a:off x="6028110" y="2591678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pic>
        <p:nvPicPr>
          <p:cNvPr id="178" name="Google Shape;178;p21" title="icon 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0500" y="1731375"/>
            <a:ext cx="361775" cy="340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3535383" y="1601500"/>
            <a:ext cx="2227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1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Redes Virtuais</a:t>
            </a:r>
            <a:endParaRPr b="1" sz="181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3535390" y="1897415"/>
            <a:ext cx="171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3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Conectividade Inteligente</a:t>
            </a:r>
            <a:endParaRPr b="1" sz="831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095668" y="2164803"/>
            <a:ext cx="20193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VPC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IP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Load Balancer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110248" y="2335006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83" name="Google Shape;183;p21"/>
          <p:cNvSpPr/>
          <p:nvPr/>
        </p:nvSpPr>
        <p:spPr>
          <a:xfrm>
            <a:off x="3110248" y="2463349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84" name="Google Shape;184;p21"/>
          <p:cNvSpPr/>
          <p:nvPr/>
        </p:nvSpPr>
        <p:spPr>
          <a:xfrm>
            <a:off x="3110248" y="2591678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pic>
        <p:nvPicPr>
          <p:cNvPr id="185" name="Google Shape;185;p21" title="icon 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50453" y="1670225"/>
            <a:ext cx="361775" cy="38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774421" y="3502075"/>
            <a:ext cx="2227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1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1" sz="181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774428" y="3797990"/>
            <a:ext cx="171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3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Gestão Simplificada</a:t>
            </a:r>
            <a:endParaRPr b="1" sz="831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86200" y="4065376"/>
            <a:ext cx="2019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PostgreSQL </a:t>
            </a: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86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*NOVO*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MySQL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00773" y="4232081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90" name="Google Shape;190;p21"/>
          <p:cNvSpPr/>
          <p:nvPr/>
        </p:nvSpPr>
        <p:spPr>
          <a:xfrm>
            <a:off x="400773" y="4360424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pic>
        <p:nvPicPr>
          <p:cNvPr id="191" name="Google Shape;191;p21" title="icon 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0775" y="3584750"/>
            <a:ext cx="361775" cy="435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3535570" y="3435925"/>
            <a:ext cx="2227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1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Identidade</a:t>
            </a:r>
            <a:endParaRPr b="1" sz="181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535577" y="3731840"/>
            <a:ext cx="171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31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Governança</a:t>
            </a:r>
            <a:endParaRPr b="1" sz="831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095850" y="3999225"/>
            <a:ext cx="24003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Single Sign-On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Gestão de identidade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Portal único e simplificado para controle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acessos a todos os sistemas</a:t>
            </a:r>
            <a:endParaRPr sz="861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110435" y="4169431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96" name="Google Shape;196;p21"/>
          <p:cNvSpPr/>
          <p:nvPr/>
        </p:nvSpPr>
        <p:spPr>
          <a:xfrm>
            <a:off x="3110435" y="4297774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97" name="Google Shape;197;p21"/>
          <p:cNvSpPr/>
          <p:nvPr/>
        </p:nvSpPr>
        <p:spPr>
          <a:xfrm>
            <a:off x="3110435" y="4426103"/>
            <a:ext cx="40200" cy="40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112400" lIns="112400" spcFirstLastPara="1" rIns="112400" wrap="square" tIns="11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1"/>
          </a:p>
        </p:txBody>
      </p:sp>
      <p:sp>
        <p:nvSpPr>
          <p:cNvPr id="198" name="Google Shape;198;p21">
            <a:hlinkClick r:id="rId11"/>
          </p:cNvPr>
          <p:cNvSpPr/>
          <p:nvPr/>
        </p:nvSpPr>
        <p:spPr>
          <a:xfrm>
            <a:off x="6085850" y="4307400"/>
            <a:ext cx="1353300" cy="178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Política de Privacidade</a:t>
            </a:r>
            <a:endParaRPr b="1"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21">
            <a:hlinkClick r:id="rId13"/>
          </p:cNvPr>
          <p:cNvSpPr/>
          <p:nvPr/>
        </p:nvSpPr>
        <p:spPr>
          <a:xfrm>
            <a:off x="7606675" y="4307400"/>
            <a:ext cx="1075500" cy="178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Política de SGSI</a:t>
            </a:r>
            <a:endParaRPr b="1"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015867" y="3377388"/>
            <a:ext cx="1184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50" lIns="56150" spcFirstLastPara="1" rIns="56150" wrap="square" tIns="56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7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Segurança</a:t>
            </a:r>
            <a:endParaRPr b="1" sz="1474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 rot="10800000">
            <a:off x="6085838" y="3684488"/>
            <a:ext cx="12435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1"/>
          <p:cNvSpPr txBox="1"/>
          <p:nvPr/>
        </p:nvSpPr>
        <p:spPr>
          <a:xfrm>
            <a:off x="6015863" y="3709713"/>
            <a:ext cx="1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Estratégica e em multicamadas Auditoria contínua e alerta em tempo real.</a:t>
            </a:r>
            <a:endParaRPr sz="6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203" name="Google Shape;203;p21" title="Asset 2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43501" y="3377400"/>
            <a:ext cx="1184100" cy="73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1"/>
          <p:cNvCxnSpPr/>
          <p:nvPr/>
        </p:nvCxnSpPr>
        <p:spPr>
          <a:xfrm>
            <a:off x="360400" y="3133000"/>
            <a:ext cx="8199000" cy="0"/>
          </a:xfrm>
          <a:prstGeom prst="straightConnector1">
            <a:avLst/>
          </a:prstGeom>
          <a:noFill/>
          <a:ln cap="flat" cmpd="sng" w="19050">
            <a:solidFill>
              <a:srgbClr val="00D2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4364963" y="1634050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Empresas no segmento: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591738" y="1439550"/>
            <a:ext cx="185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42%</a:t>
            </a:r>
            <a:endParaRPr b="1" sz="6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06963" y="1830025"/>
            <a:ext cx="214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Software e TI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2132850" y="3039450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Empresas no segmento: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64325" y="2875850"/>
            <a:ext cx="162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1" sz="6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132850" y="3235438"/>
            <a:ext cx="218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Consultoria &amp; Serviços empresariais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6392375" y="3139500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Empresas no segmento: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823850" y="2875850"/>
            <a:ext cx="162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12%</a:t>
            </a:r>
            <a:endParaRPr b="1" sz="6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392375" y="3335488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Saúde e Educação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2132850" y="4247700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Empresas no segmento: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64325" y="3984050"/>
            <a:ext cx="136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1" sz="6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2132850" y="4443688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Varejo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453450" y="4247700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Empresas no segmento: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823850" y="3984050"/>
            <a:ext cx="136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lang="pt-BR" sz="6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1" sz="6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6453450" y="4443688"/>
            <a:ext cx="21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Financeiro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4" name="Google Shape;224;p22"/>
          <p:cNvCxnSpPr/>
          <p:nvPr/>
        </p:nvCxnSpPr>
        <p:spPr>
          <a:xfrm>
            <a:off x="472500" y="2570025"/>
            <a:ext cx="8199000" cy="0"/>
          </a:xfrm>
          <a:prstGeom prst="straightConnector1">
            <a:avLst/>
          </a:prstGeom>
          <a:noFill/>
          <a:ln cap="flat" cmpd="sng" w="19050">
            <a:solidFill>
              <a:srgbClr val="00D2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2"/>
          <p:cNvCxnSpPr/>
          <p:nvPr/>
        </p:nvCxnSpPr>
        <p:spPr>
          <a:xfrm>
            <a:off x="472500" y="1417275"/>
            <a:ext cx="8199000" cy="0"/>
          </a:xfrm>
          <a:prstGeom prst="straightConnector1">
            <a:avLst/>
          </a:prstGeom>
          <a:noFill/>
          <a:ln cap="flat" cmpd="sng" w="19050">
            <a:solidFill>
              <a:srgbClr val="00D2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2"/>
          <p:cNvSpPr txBox="1"/>
          <p:nvPr/>
        </p:nvSpPr>
        <p:spPr>
          <a:xfrm>
            <a:off x="472498" y="1417275"/>
            <a:ext cx="17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PRINCIPAL SEGMENTO</a:t>
            </a:r>
            <a:endParaRPr sz="5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472498" y="2547188"/>
            <a:ext cx="17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OUTROS </a:t>
            </a:r>
            <a:r>
              <a:rPr b="1" lang="pt-BR" sz="1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SEGMENTOS</a:t>
            </a:r>
            <a:endParaRPr sz="5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550" y="264200"/>
            <a:ext cx="1710899" cy="29157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360400" y="559775"/>
            <a:ext cx="8311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+2000 Clientes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Atuação em segmentos diversos: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50" y="5026225"/>
            <a:ext cx="8978525" cy="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title="logo magalu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0275" y="746420"/>
            <a:ext cx="1196501" cy="358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title="glob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1985" y="655763"/>
            <a:ext cx="1196525" cy="345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title="Camada 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8423" y="1543588"/>
            <a:ext cx="1159928" cy="1578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23"/>
          <p:cNvCxnSpPr/>
          <p:nvPr/>
        </p:nvCxnSpPr>
        <p:spPr>
          <a:xfrm>
            <a:off x="1158875" y="1319825"/>
            <a:ext cx="67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9" name="Google Shape;239;p23" title="Group 1.png"/>
          <p:cNvPicPr preferRelativeResize="0"/>
          <p:nvPr/>
        </p:nvPicPr>
        <p:blipFill rotWithShape="1">
          <a:blip r:embed="rId8">
            <a:alphaModFix/>
          </a:blip>
          <a:srcRect b="85062" l="24311" r="60488" t="3744"/>
          <a:stretch/>
        </p:blipFill>
        <p:spPr>
          <a:xfrm>
            <a:off x="2166748" y="1461355"/>
            <a:ext cx="786324" cy="25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title="Group 1.png"/>
          <p:cNvPicPr preferRelativeResize="0"/>
          <p:nvPr/>
        </p:nvPicPr>
        <p:blipFill rotWithShape="1">
          <a:blip r:embed="rId8">
            <a:alphaModFix/>
          </a:blip>
          <a:srcRect b="79676" l="47884" r="44479" t="0"/>
          <a:stretch/>
        </p:blipFill>
        <p:spPr>
          <a:xfrm>
            <a:off x="3940652" y="3137888"/>
            <a:ext cx="333878" cy="3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title="Group 1.png"/>
          <p:cNvPicPr preferRelativeResize="0"/>
          <p:nvPr/>
        </p:nvPicPr>
        <p:blipFill rotWithShape="1">
          <a:blip r:embed="rId8">
            <a:alphaModFix/>
          </a:blip>
          <a:srcRect b="82640" l="66762" r="25075" t="0"/>
          <a:stretch/>
        </p:blipFill>
        <p:spPr>
          <a:xfrm>
            <a:off x="1560116" y="3184936"/>
            <a:ext cx="356897" cy="33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title="Group 1.png"/>
          <p:cNvPicPr preferRelativeResize="0"/>
          <p:nvPr/>
        </p:nvPicPr>
        <p:blipFill rotWithShape="1">
          <a:blip r:embed="rId8">
            <a:alphaModFix/>
          </a:blip>
          <a:srcRect b="81056" l="81023" r="0" t="0"/>
          <a:stretch/>
        </p:blipFill>
        <p:spPr>
          <a:xfrm>
            <a:off x="3065959" y="1428789"/>
            <a:ext cx="829602" cy="36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title="Group 1.png"/>
          <p:cNvPicPr preferRelativeResize="0"/>
          <p:nvPr/>
        </p:nvPicPr>
        <p:blipFill rotWithShape="1">
          <a:blip r:embed="rId8">
            <a:alphaModFix/>
          </a:blip>
          <a:srcRect b="65166" l="0" r="83538" t="20275"/>
          <a:stretch/>
        </p:blipFill>
        <p:spPr>
          <a:xfrm>
            <a:off x="1663353" y="2024366"/>
            <a:ext cx="719688" cy="28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title="Group 1.png"/>
          <p:cNvPicPr preferRelativeResize="0"/>
          <p:nvPr/>
        </p:nvPicPr>
        <p:blipFill rotWithShape="1">
          <a:blip r:embed="rId8">
            <a:alphaModFix/>
          </a:blip>
          <a:srcRect b="65916" l="21961" r="58639" t="23822"/>
          <a:stretch/>
        </p:blipFill>
        <p:spPr>
          <a:xfrm>
            <a:off x="5283038" y="1533383"/>
            <a:ext cx="792456" cy="18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title="Group 1.png"/>
          <p:cNvPicPr preferRelativeResize="0"/>
          <p:nvPr/>
        </p:nvPicPr>
        <p:blipFill rotWithShape="1">
          <a:blip r:embed="rId8">
            <a:alphaModFix/>
          </a:blip>
          <a:srcRect b="66498" l="44431" r="40909" t="26648"/>
          <a:stretch/>
        </p:blipFill>
        <p:spPr>
          <a:xfrm>
            <a:off x="2479371" y="2115622"/>
            <a:ext cx="687743" cy="143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title="Group 1.png"/>
          <p:cNvPicPr preferRelativeResize="0"/>
          <p:nvPr/>
        </p:nvPicPr>
        <p:blipFill rotWithShape="1">
          <a:blip r:embed="rId8">
            <a:alphaModFix/>
          </a:blip>
          <a:srcRect b="61958" l="66905" r="25457" t="22649"/>
          <a:stretch/>
        </p:blipFill>
        <p:spPr>
          <a:xfrm>
            <a:off x="3318718" y="2026531"/>
            <a:ext cx="358294" cy="321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title="Group 1.png"/>
          <p:cNvPicPr preferRelativeResize="0"/>
          <p:nvPr/>
        </p:nvPicPr>
        <p:blipFill rotWithShape="1">
          <a:blip r:embed="rId8">
            <a:alphaModFix/>
          </a:blip>
          <a:srcRect b="63095" l="81023" r="0" t="26643"/>
          <a:stretch/>
        </p:blipFill>
        <p:spPr>
          <a:xfrm>
            <a:off x="6581243" y="2087803"/>
            <a:ext cx="831845" cy="20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title="Group 1.png"/>
          <p:cNvPicPr preferRelativeResize="0"/>
          <p:nvPr/>
        </p:nvPicPr>
        <p:blipFill rotWithShape="1">
          <a:blip r:embed="rId8">
            <a:alphaModFix/>
          </a:blip>
          <a:srcRect b="46697" l="0" r="81419" t="43971"/>
          <a:stretch/>
        </p:blipFill>
        <p:spPr>
          <a:xfrm>
            <a:off x="3828609" y="2085910"/>
            <a:ext cx="871705" cy="19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title="Group 1.png"/>
          <p:cNvPicPr preferRelativeResize="0"/>
          <p:nvPr/>
        </p:nvPicPr>
        <p:blipFill rotWithShape="1">
          <a:blip r:embed="rId8">
            <a:alphaModFix/>
          </a:blip>
          <a:srcRect b="47048" l="22167" r="59252" t="41759"/>
          <a:stretch/>
        </p:blipFill>
        <p:spPr>
          <a:xfrm>
            <a:off x="4799561" y="2049166"/>
            <a:ext cx="871690" cy="233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title="Group 1.png"/>
          <p:cNvPicPr preferRelativeResize="0"/>
          <p:nvPr/>
        </p:nvPicPr>
        <p:blipFill rotWithShape="1">
          <a:blip r:embed="rId8">
            <a:alphaModFix/>
          </a:blip>
          <a:srcRect b="47415" l="44261" r="41080" t="44690"/>
          <a:stretch/>
        </p:blipFill>
        <p:spPr>
          <a:xfrm>
            <a:off x="5770466" y="2098653"/>
            <a:ext cx="687743" cy="16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title="Group 1.png"/>
          <p:cNvPicPr preferRelativeResize="0"/>
          <p:nvPr/>
        </p:nvPicPr>
        <p:blipFill rotWithShape="1">
          <a:blip r:embed="rId8">
            <a:alphaModFix/>
          </a:blip>
          <a:srcRect b="44999" l="81023" r="0" t="41514"/>
          <a:stretch/>
        </p:blipFill>
        <p:spPr>
          <a:xfrm>
            <a:off x="3417069" y="2427428"/>
            <a:ext cx="925469" cy="292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title="Layer 2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87347" y="2407629"/>
            <a:ext cx="714917" cy="27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title="Group 1.png"/>
          <p:cNvPicPr preferRelativeResize="0"/>
          <p:nvPr/>
        </p:nvPicPr>
        <p:blipFill rotWithShape="1">
          <a:blip r:embed="rId8">
            <a:alphaModFix/>
          </a:blip>
          <a:srcRect b="23630" l="0" r="83538" t="67039"/>
          <a:stretch/>
        </p:blipFill>
        <p:spPr>
          <a:xfrm>
            <a:off x="4448523" y="2472514"/>
            <a:ext cx="802829" cy="20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title="Group 1.png"/>
          <p:cNvPicPr preferRelativeResize="0"/>
          <p:nvPr/>
        </p:nvPicPr>
        <p:blipFill rotWithShape="1">
          <a:blip r:embed="rId8">
            <a:alphaModFix/>
          </a:blip>
          <a:srcRect b="21426" l="21317" r="58054" t="65087"/>
          <a:stretch/>
        </p:blipFill>
        <p:spPr>
          <a:xfrm>
            <a:off x="5357352" y="2437879"/>
            <a:ext cx="1006035" cy="292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title="Group 1.png"/>
          <p:cNvPicPr preferRelativeResize="0"/>
          <p:nvPr/>
        </p:nvPicPr>
        <p:blipFill rotWithShape="1">
          <a:blip r:embed="rId8">
            <a:alphaModFix/>
          </a:blip>
          <a:srcRect b="22685" l="42327" r="38697" t="66122"/>
          <a:stretch/>
        </p:blipFill>
        <p:spPr>
          <a:xfrm>
            <a:off x="6437593" y="2469557"/>
            <a:ext cx="925447" cy="24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title="mptec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4021" y="2472735"/>
            <a:ext cx="738244" cy="14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title="Group 1.png"/>
          <p:cNvPicPr preferRelativeResize="0"/>
          <p:nvPr/>
        </p:nvPicPr>
        <p:blipFill rotWithShape="1">
          <a:blip r:embed="rId8">
            <a:alphaModFix/>
          </a:blip>
          <a:srcRect b="21827" l="83220" r="0" t="65459"/>
          <a:stretch/>
        </p:blipFill>
        <p:spPr>
          <a:xfrm>
            <a:off x="1431787" y="2814204"/>
            <a:ext cx="801520" cy="2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title="Group 1.png"/>
          <p:cNvPicPr preferRelativeResize="0"/>
          <p:nvPr/>
        </p:nvPicPr>
        <p:blipFill rotWithShape="1">
          <a:blip r:embed="rId8">
            <a:alphaModFix/>
          </a:blip>
          <a:srcRect b="0" l="0" r="83538" t="87286"/>
          <a:stretch/>
        </p:blipFill>
        <p:spPr>
          <a:xfrm>
            <a:off x="2222118" y="2804688"/>
            <a:ext cx="786321" cy="2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title="Group 1.png"/>
          <p:cNvPicPr preferRelativeResize="0"/>
          <p:nvPr/>
        </p:nvPicPr>
        <p:blipFill rotWithShape="1">
          <a:blip r:embed="rId8">
            <a:alphaModFix/>
          </a:blip>
          <a:srcRect b="0" l="23902" r="60896" t="87018"/>
          <a:stretch/>
        </p:blipFill>
        <p:spPr>
          <a:xfrm>
            <a:off x="3872580" y="2811233"/>
            <a:ext cx="726108" cy="275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title="Group 1.png"/>
          <p:cNvPicPr preferRelativeResize="0"/>
          <p:nvPr/>
        </p:nvPicPr>
        <p:blipFill rotWithShape="1">
          <a:blip r:embed="rId8">
            <a:alphaModFix/>
          </a:blip>
          <a:srcRect b="0" l="42300" r="38723" t="87018"/>
          <a:stretch/>
        </p:blipFill>
        <p:spPr>
          <a:xfrm>
            <a:off x="6142211" y="1493636"/>
            <a:ext cx="846920" cy="25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title="Group 1.png"/>
          <p:cNvPicPr preferRelativeResize="0"/>
          <p:nvPr/>
        </p:nvPicPr>
        <p:blipFill rotWithShape="1">
          <a:blip r:embed="rId8">
            <a:alphaModFix/>
          </a:blip>
          <a:srcRect b="2158" l="64094" r="21753" t="88808"/>
          <a:stretch/>
        </p:blipFill>
        <p:spPr>
          <a:xfrm>
            <a:off x="4763413" y="2835803"/>
            <a:ext cx="871723" cy="24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title="inbra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39201" y="2838808"/>
            <a:ext cx="568670" cy="21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12934" y="2895404"/>
            <a:ext cx="522528" cy="183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76108" y="2873740"/>
            <a:ext cx="783275" cy="2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00034" y="2881593"/>
            <a:ext cx="318570" cy="202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66320" y="3261184"/>
            <a:ext cx="475477" cy="192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691104" y="3241370"/>
            <a:ext cx="475480" cy="216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315871" y="3201904"/>
            <a:ext cx="475480" cy="32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055846" y="1550951"/>
            <a:ext cx="632254" cy="151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423836" y="3200677"/>
            <a:ext cx="1003377" cy="27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576515" y="3210458"/>
            <a:ext cx="390104" cy="241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110784" y="3218693"/>
            <a:ext cx="840745" cy="22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022506" y="3244894"/>
            <a:ext cx="747595" cy="222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875864" y="3583768"/>
            <a:ext cx="456854" cy="222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525825" y="3607601"/>
            <a:ext cx="747596" cy="23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466517" y="3637974"/>
            <a:ext cx="608406" cy="15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302516" y="3655701"/>
            <a:ext cx="818421" cy="1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261383" y="3620806"/>
            <a:ext cx="943040" cy="221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275445" y="3613191"/>
            <a:ext cx="650802" cy="25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7031793" y="3585972"/>
            <a:ext cx="401324" cy="401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2120058" y="4028252"/>
            <a:ext cx="577473" cy="165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2871863" y="4024810"/>
            <a:ext cx="953884" cy="133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3911928" y="3996790"/>
            <a:ext cx="677460" cy="219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/>
          <p:cNvPicPr preferRelativeResize="0"/>
          <p:nvPr/>
        </p:nvPicPr>
        <p:blipFill rotWithShape="1">
          <a:blip r:embed="rId33">
            <a:alphaModFix/>
          </a:blip>
          <a:srcRect b="15233" l="0" r="0" t="0"/>
          <a:stretch/>
        </p:blipFill>
        <p:spPr>
          <a:xfrm>
            <a:off x="1881341" y="4236496"/>
            <a:ext cx="550477" cy="466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6671948" y="4372514"/>
            <a:ext cx="890134" cy="164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4600909" y="3990073"/>
            <a:ext cx="900359" cy="27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5630310" y="4008389"/>
            <a:ext cx="714352" cy="19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6473722" y="4036151"/>
            <a:ext cx="651533" cy="22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/>
          <p:cNvPicPr preferRelativeResize="0"/>
          <p:nvPr/>
        </p:nvPicPr>
        <p:blipFill rotWithShape="1">
          <a:blip r:embed="rId38">
            <a:alphaModFix/>
          </a:blip>
          <a:srcRect b="23095" l="0" r="0" t="23294"/>
          <a:stretch/>
        </p:blipFill>
        <p:spPr>
          <a:xfrm>
            <a:off x="4148593" y="4370369"/>
            <a:ext cx="515982" cy="276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2498925" y="4444372"/>
            <a:ext cx="661523" cy="122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3312526" y="4429765"/>
            <a:ext cx="726834" cy="151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4717396" y="4383872"/>
            <a:ext cx="808104" cy="183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5689398" y="4356575"/>
            <a:ext cx="254176" cy="297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6081503" y="4402098"/>
            <a:ext cx="499755" cy="156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23"/>
          <p:cNvCxnSpPr/>
          <p:nvPr/>
        </p:nvCxnSpPr>
        <p:spPr>
          <a:xfrm>
            <a:off x="1158875" y="1906150"/>
            <a:ext cx="67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6" name="Google Shape;296;p23" title="Camada 3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1373822" y="4024008"/>
            <a:ext cx="522526" cy="153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title="conectala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1283051" y="1506901"/>
            <a:ext cx="783275" cy="24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title="SerasaExperian__BRANCO_RGB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5806927" y="565196"/>
            <a:ext cx="1318326" cy="5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2277575" y="396300"/>
            <a:ext cx="104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Cliente Interno</a:t>
            </a:r>
            <a:endParaRPr sz="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0" name="Google Shape;300;p23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7477200" y="190460"/>
            <a:ext cx="1456100" cy="248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200" y="190460"/>
            <a:ext cx="1456100" cy="24816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2652600" y="841425"/>
            <a:ext cx="3838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Acompanhe nossas</a:t>
            </a:r>
            <a:endParaRPr sz="2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mídias sociais:</a:t>
            </a:r>
            <a:endParaRPr sz="2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07" name="Google Shape;30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1901" y="2284113"/>
            <a:ext cx="493701" cy="3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3621" y="2251250"/>
            <a:ext cx="433062" cy="4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1636" y="2246400"/>
            <a:ext cx="423534" cy="4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0125" y="2246638"/>
            <a:ext cx="433050" cy="43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94563" y="2251487"/>
            <a:ext cx="565577" cy="43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22600" y="3192363"/>
            <a:ext cx="1109499" cy="11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6836250" y="2655463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Discord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@magalucloud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4" name="Google Shape;314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54000" y="3192363"/>
            <a:ext cx="1109499" cy="11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5341550" y="2655463"/>
            <a:ext cx="133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Youtube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@magalucloud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85400" y="3192363"/>
            <a:ext cx="1109499" cy="11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3899050" y="2655463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Instagram</a:t>
            </a: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@magalucloud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48650" y="3192588"/>
            <a:ext cx="1109499" cy="11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2462300" y="2655688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LinkedIn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@magalucloud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11900" y="3192588"/>
            <a:ext cx="1109499" cy="11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1025550" y="2655688"/>
            <a:ext cx="128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Website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magalu.cloud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/>
          <p:nvPr/>
        </p:nvSpPr>
        <p:spPr>
          <a:xfrm>
            <a:off x="1234455" y="1461488"/>
            <a:ext cx="102900" cy="21948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1508776" y="1461500"/>
            <a:ext cx="6968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WORKSHOP HANDS-ON (1H30)</a:t>
            </a:r>
            <a:endParaRPr b="1" i="0" sz="10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3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Magalu Cloud na Prática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br>
              <a:rPr lang="pt-BR" sz="19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9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Construindo e Automatizando Infraestrutura de Nuvem com Compute, Object Storage S3 e IaC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8" name="Google Shape;3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5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1" name="Google Shape;331;p25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5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25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6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2" name="Google Shape;342;p26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6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7">
            <a:alphaModFix/>
          </a:blip>
          <a:srcRect b="28694" l="0" r="0" t="0"/>
          <a:stretch/>
        </p:blipFill>
        <p:spPr>
          <a:xfrm>
            <a:off x="196050" y="1160075"/>
            <a:ext cx="3406600" cy="15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7535" y="624698"/>
            <a:ext cx="1543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4527" y="2907950"/>
            <a:ext cx="1629639" cy="165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94525" y="792413"/>
            <a:ext cx="3778234" cy="39347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26"/>
          <p:cNvCxnSpPr/>
          <p:nvPr/>
        </p:nvCxnSpPr>
        <p:spPr>
          <a:xfrm rot="10800000">
            <a:off x="4575200" y="624700"/>
            <a:ext cx="0" cy="427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0" name="Google Shape;350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52225" y="851400"/>
            <a:ext cx="943700" cy="3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/>
          <p:nvPr/>
        </p:nvSpPr>
        <p:spPr>
          <a:xfrm>
            <a:off x="6095925" y="851400"/>
            <a:ext cx="2339700" cy="309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352" name="Google Shape;352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18491" y="2957925"/>
            <a:ext cx="1691545" cy="169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/>
        </p:nvSpPr>
        <p:spPr>
          <a:xfrm>
            <a:off x="548655" y="622343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VISÃO GERAL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7"/>
          <p:cNvSpPr txBox="1"/>
          <p:nvPr/>
        </p:nvSpPr>
        <p:spPr>
          <a:xfrm>
            <a:off x="548655" y="828083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Objetivos e Dinâmica do Workshop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548650" y="1376725"/>
            <a:ext cx="3840600" cy="3539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720109" y="1513883"/>
            <a:ext cx="34977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🎯</a:t>
            </a:r>
            <a:r>
              <a:rPr b="1" i="0" lang="pt-BR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Propósito do Workshop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Apresentar a plataforma de nuvem pública 100% brasileira da Magalu Cloud.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Simular um caso real: hospedar um website na nuvem.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Experiência Hands-On individual: cada participante cria, testa e apaga seu ambiente.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Modelo pay-as-you-go: provisionar e depois desmontar tudo sem custo residual.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4663575" y="1376725"/>
            <a:ext cx="3909300" cy="3539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4835019" y="1513883"/>
            <a:ext cx="35664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⏱️</a:t>
            </a:r>
            <a:r>
              <a:rPr b="1" i="0" lang="pt-BR" sz="17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Agenda (90 Minutos)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15 min: Apresentação da Magalu Cloud e Arquitetura da Solução.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15 min: Criação da Conta no ID Magalu e Pré-requisitos.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25 min: Provisionamento da Infraestrutura (Console, CLI ou IaC).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20 min: Deploy da Aplicação, Integração S3 e Validação de Mídias.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10 min: Conte</a:t>
            </a:r>
            <a:r>
              <a:rPr lang="pt-BR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údo Extra (produto IA)</a:t>
            </a:r>
            <a:endParaRPr i="0" u="none" cap="none" strike="noStrike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i="0" lang="pt-BR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 min: Sessão de Perguntas (Q&amp;A).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4" name="Google Shape;3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7" name="Google Shape;367;p27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032175" y="2222966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27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/>
        </p:nvSpPr>
        <p:spPr>
          <a:xfrm>
            <a:off x="548655" y="622343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ARQUITETURA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548655" y="828083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Arquitetura da Solução: WordPress + Object Storage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548650" y="1376725"/>
            <a:ext cx="2469000" cy="3375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720109" y="1513883"/>
            <a:ext cx="21261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Compute &amp; Rede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 Máquina Virtual (VM) com Ubuntu 24.04 LTS.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Flavor padrão BV1-1-10   (1 vCPU, 1GB RAM,      10GB Disco)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 IP Público IPv4 dedicado para acesso via navegador.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Security Group com portas 22 (SSH) e 80 (HTTP) liberadas.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3291925" y="1376725"/>
            <a:ext cx="2469000" cy="3375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3463382" y="1513883"/>
            <a:ext cx="21261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Aplicação &amp; Dados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WordPress oficial rodando em container Docker (Apache + PHP).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Banco de dados relacional MySQL 8.0 em container dedicado.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Deploy automatizado via Docker Compose na VM.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Código, temas e configurações isolados no disco da VM.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6035200" y="1376725"/>
            <a:ext cx="2537700" cy="3399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6206655" y="1513883"/>
            <a:ext cx="21948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3. Object Storage (S3)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1 Bucket exclusivo na região Sudeste (br-se1).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Visibilidade pública de leitura para entrega de mídias.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Plugin Media Cloud Sync: salva imagens / vídeos direto no bucket.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URLs das imagens servidas pelo endpoint S3 sem onerar a VM.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4" name="Google Shape;3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8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7" name="Google Shape;387;p28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28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/>
        </p:nvSpPr>
        <p:spPr>
          <a:xfrm>
            <a:off x="559892" y="63984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ONBOARDING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559892" y="84558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Passo 1: Criação da Conta no ID Magalu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97072" y="1394225"/>
            <a:ext cx="3840600" cy="3487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268519" y="1531380"/>
            <a:ext cx="3497700" cy="3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📝 Cadastro Individual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Cada participante utiliza sua própria conta no ID Magalu.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https://magalu.cloud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e clique em 'Criar conta'.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Preencha nome completo, CPF/CNPJ, e-mail e senha segura.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 sua caixa de entrada e confirme o e-mail de ativação.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Documentação oficial: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https://docs.magalu.cloud/docs/onboarding/create-account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9" name="Google Shape;3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title="Slide 3.png"/>
          <p:cNvPicPr preferRelativeResize="0"/>
          <p:nvPr/>
        </p:nvPicPr>
        <p:blipFill rotWithShape="1">
          <a:blip r:embed="rId6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9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2" name="Google Shape;402;p29" title="Logo-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9" title="saopaulo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5" name="Google Shape;405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4018" y="1643824"/>
            <a:ext cx="4992514" cy="286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p29"/>
          <p:cNvCxnSpPr/>
          <p:nvPr/>
        </p:nvCxnSpPr>
        <p:spPr>
          <a:xfrm>
            <a:off x="7649750" y="995525"/>
            <a:ext cx="873300" cy="57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29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/>
          <p:nvPr/>
        </p:nvSpPr>
        <p:spPr>
          <a:xfrm>
            <a:off x="559892" y="63984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ONBOARDING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0"/>
          <p:cNvSpPr txBox="1"/>
          <p:nvPr/>
        </p:nvSpPr>
        <p:spPr>
          <a:xfrm>
            <a:off x="559892" y="84558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Passo 1: Criação da Conta no ID Magalu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90176" y="1376775"/>
            <a:ext cx="3909300" cy="3487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261633" y="1513930"/>
            <a:ext cx="3566400" cy="2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🔐 Primeiro Acesso ao Console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 o Console: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https://console.magalu.cloud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Faça login com seu ID Magalu recém-criado.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Aceite os Termos de Serviço da plataforma Magalu Cloud.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Confirme a criação automática do seu Tenant (organização padrão).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Pronto! Seu painel de controle está ativo para provisionamento.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6" name="Google Shape;4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0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9" name="Google Shape;419;p30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0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0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4401" y="1716918"/>
            <a:ext cx="4839723" cy="271625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1"/>
          <p:cNvSpPr txBox="1"/>
          <p:nvPr/>
        </p:nvSpPr>
        <p:spPr>
          <a:xfrm>
            <a:off x="559892" y="63984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ONBOARDING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559892" y="84558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Passo 1: Criação da Conta no ID Magalu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90176" y="1376775"/>
            <a:ext cx="3909300" cy="3487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261625" y="1513925"/>
            <a:ext cx="36594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🔐 </a:t>
            </a:r>
            <a:r>
              <a:rPr b="1"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Acesso ao Tenant do Workshop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Entre no grupo do whatsapp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https://chat.whatsapp.com/DjXNR87YBcb94669Hlbg8P</a:t>
            </a:r>
            <a:r>
              <a:rPr lang="pt-BR" sz="1300" u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Acesse o Forms e envie o e-mail usado no ID Magalu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https://forms.gle/ocvRupRunz5yXexd7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Aguardar o moderador do Workshop liberar acesso ao Tenant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Confirme 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se apareceu o Tenant</a:t>
            </a:r>
            <a:endParaRPr sz="13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**CPEN.SOL - Workshop Arquitetos"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Pronto!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Selecione o Tenant do Workshop para  a criação dos recursos a seguir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2" name="Google Shape;43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1" title="Slide 3.png"/>
          <p:cNvPicPr preferRelativeResize="0"/>
          <p:nvPr/>
        </p:nvPicPr>
        <p:blipFill rotWithShape="1">
          <a:blip r:embed="rId6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5" name="Google Shape;435;p31" title="Logo-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saopaulo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1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1876" y="1803955"/>
            <a:ext cx="4839724" cy="26328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31"/>
          <p:cNvCxnSpPr/>
          <p:nvPr/>
        </p:nvCxnSpPr>
        <p:spPr>
          <a:xfrm>
            <a:off x="6697900" y="2283600"/>
            <a:ext cx="873300" cy="57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0" name="Google Shape;440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82942" y="592025"/>
            <a:ext cx="1108650" cy="111235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1"/>
          <p:cNvSpPr txBox="1"/>
          <p:nvPr/>
        </p:nvSpPr>
        <p:spPr>
          <a:xfrm>
            <a:off x="7164675" y="955746"/>
            <a:ext cx="77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Forms:</a:t>
            </a:r>
            <a:endParaRPr/>
          </a:p>
        </p:txBody>
      </p:sp>
      <p:sp>
        <p:nvSpPr>
          <p:cNvPr id="442" name="Google Shape;442;p31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 txBox="1"/>
          <p:nvPr/>
        </p:nvSpPr>
        <p:spPr>
          <a:xfrm>
            <a:off x="559892" y="63983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PRÉ-REQUISITOS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559892" y="84557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Passo 2: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Instalação de f</a:t>
            </a: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erramenta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 / utilitários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106725" y="1394225"/>
            <a:ext cx="3909300" cy="3539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32"/>
          <p:cNvSpPr txBox="1"/>
          <p:nvPr/>
        </p:nvSpPr>
        <p:spPr>
          <a:xfrm>
            <a:off x="278183" y="1531390"/>
            <a:ext cx="35664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🛠️ Instalação das Ferramentas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O repositório inclui scripts automatizados de instalação:</a:t>
            </a:r>
            <a:endParaRPr i="0" sz="1300" u="none" cap="none" strike="noStrike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https://github.com/fernandoravagnani-luizalabs/mgc-workshop/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Linux / macOS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  chmod +x scripts/install-prereqs.sh &amp;&amp; ./scripts/install-prereqs.sh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Windows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(PowerShell Administrador):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  .\scripts\install-prereqs.ps1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Instala automaticamente: mgc CLI, terraform, ansible e git.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1" name="Google Shape;45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2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4" name="Google Shape;454;p32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7" name="Google Shape;45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82105" y="1432361"/>
            <a:ext cx="3860969" cy="3410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32"/>
          <p:cNvCxnSpPr/>
          <p:nvPr/>
        </p:nvCxnSpPr>
        <p:spPr>
          <a:xfrm flipH="1">
            <a:off x="5737075" y="3169925"/>
            <a:ext cx="519600" cy="513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2"/>
          <p:cNvCxnSpPr/>
          <p:nvPr/>
        </p:nvCxnSpPr>
        <p:spPr>
          <a:xfrm flipH="1">
            <a:off x="5775950" y="3453325"/>
            <a:ext cx="519600" cy="513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32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 txBox="1"/>
          <p:nvPr/>
        </p:nvSpPr>
        <p:spPr>
          <a:xfrm>
            <a:off x="563080" y="665989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OPÇÕES DE EXECUÇÃO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563080" y="871729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Escolha seu Método de Provisionamento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63080" y="1420369"/>
            <a:ext cx="2469000" cy="3291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734534" y="1557529"/>
            <a:ext cx="21261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Método 1: </a:t>
            </a:r>
            <a:endParaRPr b="1" i="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Console Web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Interface gráfica intuitiva no navegador.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Ideal para quem prefere uma experiência visual.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Passo a passo por menus do Console da MGC.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Deploy do WordPress via SSH manual.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👉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niciantes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3306353" y="1420369"/>
            <a:ext cx="2469000" cy="3291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3477807" y="1557529"/>
            <a:ext cx="21261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Método 2: </a:t>
            </a:r>
            <a:endParaRPr b="1" i="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MGC CLI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Linha de comando oficial da Magalu Cloud.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Execução rápida e direta no terminal.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Comandos para VM, Chaves e Object Storage.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Deploy do WordPress via SSH.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👉 DevOps/SREs.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6049626" y="1420369"/>
            <a:ext cx="2537700" cy="3291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6221080" y="1557529"/>
            <a:ext cx="21948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Método 3: </a:t>
            </a:r>
            <a:endParaRPr b="1" i="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Infraestrutura como Código (IaC) 100% automatizada.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Cria VM, Chave SSH, Bucket, ACL e IP público.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Provisioner Ansible instala Docker e sobe o site.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Deploy completo com 'terraform apply'.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👉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utomação avançada.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3" name="Google Shape;4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3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3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6" name="Google Shape;476;p33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3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3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33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"/>
          <p:cNvSpPr txBox="1"/>
          <p:nvPr/>
        </p:nvSpPr>
        <p:spPr>
          <a:xfrm>
            <a:off x="3032782" y="1461488"/>
            <a:ext cx="75441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EXECUÇÃO</a:t>
            </a:r>
            <a:endParaRPr b="1" i="0" sz="10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Método 1: 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Console Web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5" name="Google Shape;4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4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4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8" name="Google Shape;488;p34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2758455" y="1461488"/>
            <a:ext cx="102900" cy="21948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5"/>
          <p:cNvSpPr txBox="1"/>
          <p:nvPr/>
        </p:nvSpPr>
        <p:spPr>
          <a:xfrm>
            <a:off x="559892" y="63983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b="1" sz="8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5"/>
          <p:cNvSpPr txBox="1"/>
          <p:nvPr/>
        </p:nvSpPr>
        <p:spPr>
          <a:xfrm>
            <a:off x="559892" y="84557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Chaves SSH</a:t>
            </a:r>
            <a:endParaRPr b="1" sz="18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88325" y="1249863"/>
            <a:ext cx="3840600" cy="3649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5"/>
          <p:cNvSpPr txBox="1"/>
          <p:nvPr/>
        </p:nvSpPr>
        <p:spPr>
          <a:xfrm>
            <a:off x="259786" y="1391649"/>
            <a:ext cx="34977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Cadastrar Chave SSH no Console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Necessária para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conectar n</a:t>
            </a: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 VM.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Gere sua chave localmente via terminal: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ssh-keygen -t ed25519 -f ~/.ssh/id_ed25519 -N '' -C 'workshop-mgc'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Ajuste as permissões de segurança: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chmod 600 ~/.ssh/id_ed25519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Sua chave pública (~/.ssh/id_ed25519.pub) será cadastrada na MGC.</a:t>
            </a:r>
            <a:endParaRPr i="0" sz="1200" u="none" cap="none" strike="noStrike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Vá em: Criar instância &gt; Acesso &gt; Defina sua chave SSH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https://docs.magalu.cloud/docs/computing/virtual-machine/how-to/create-instances/set-ssh-key-instance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1" name="Google Shape;5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5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4" name="Google Shape;504;p35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5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5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1332" y="1502218"/>
            <a:ext cx="4910267" cy="31055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35"/>
          <p:cNvCxnSpPr/>
          <p:nvPr/>
        </p:nvCxnSpPr>
        <p:spPr>
          <a:xfrm rot="10800000">
            <a:off x="4938175" y="3685675"/>
            <a:ext cx="572100" cy="51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35"/>
          <p:cNvCxnSpPr/>
          <p:nvPr/>
        </p:nvCxnSpPr>
        <p:spPr>
          <a:xfrm rot="10800000">
            <a:off x="4938175" y="3097900"/>
            <a:ext cx="572100" cy="51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35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6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36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Criar Máquina Virtual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115259" y="1478280"/>
            <a:ext cx="3840600" cy="3291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6"/>
          <p:cNvSpPr txBox="1"/>
          <p:nvPr/>
        </p:nvSpPr>
        <p:spPr>
          <a:xfrm>
            <a:off x="286714" y="1615440"/>
            <a:ext cx="34977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📋 Configuração da Instância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Acesse: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Virtual Machine</a:t>
            </a: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→ Criar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instância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Defina: nome, imagem, tipo, rede, acesso e identificação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em: Ir par a revisão &gt; Criar instância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Anote o IP Público alocado (ex: 200.x.x.x.x).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Esse IP será utilizado para conectar via SSH e abrir o site no navegador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https://docs.magalu.cloud/docs/computing/virtual-machine/how-to/create-instances/create-instance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9" name="Google Shape;51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6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6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2" name="Google Shape;522;p36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5" name="Google Shape;52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7776" y="1473400"/>
            <a:ext cx="4972188" cy="322057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6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Criar Bucket no Object Storage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91450" y="1478275"/>
            <a:ext cx="4201500" cy="3359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37"/>
          <p:cNvSpPr txBox="1"/>
          <p:nvPr/>
        </p:nvSpPr>
        <p:spPr>
          <a:xfrm>
            <a:off x="262900" y="1615450"/>
            <a:ext cx="3974700" cy="29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🪣 Configuração do Bucket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Acesse: Object Storage → Criar bucket.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Nome: site-media-&lt;seu-nome&gt;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Região: br-se1 (mesma região da VM).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Visibilidade: Selecionar 'Público'.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 'Criar bucket'.</a:t>
            </a:r>
            <a:endParaRPr i="0" sz="1200" u="none" cap="none" strike="noStrike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Endpoint S3 da Magalu Cloud: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https://br-se1.magaluobjects.com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Anote o nome do bucket para configurar o plugin no WordPress.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2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https://docs.magalu.cloud/docs/storage/object-storage/quickstart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5" name="Google Shape;53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7" title="Slide 3.png"/>
          <p:cNvPicPr preferRelativeResize="0"/>
          <p:nvPr/>
        </p:nvPicPr>
        <p:blipFill rotWithShape="1">
          <a:blip r:embed="rId6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7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8" name="Google Shape;538;p37" title="Logo-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7" title="saopaulo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7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1" name="Google Shape;541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3327" y="1263925"/>
            <a:ext cx="4472249" cy="3506724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7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Deploy do WordPress via SSH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91450" y="1478275"/>
            <a:ext cx="3497700" cy="34470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38"/>
          <p:cNvSpPr txBox="1"/>
          <p:nvPr/>
        </p:nvSpPr>
        <p:spPr>
          <a:xfrm>
            <a:off x="262909" y="1615440"/>
            <a:ext cx="3497700" cy="3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Conectar e Instalar Docker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Conectar via SSH na VM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 -i ~/.ssh/id_ed25519 ubuntu@&lt;IP_PUBLICO&gt;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Instalar Docker e Compose Plugin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sudo apt update &amp;&amp; sudo apt install -y curl ca-certificates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sudo install -m 0755 -d /etc/apt/keyrings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sudo curl -fsSL https://download.docker.com/linux/ubuntu/gpg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-o /etc/apt/keyrings/docker.asc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echo "deb [arch=$(dpkg --print-architecture)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signed-by=/etc/apt/keyrings/docker.asc]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https://download.docker.com/linux/ubuntu noble stable"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| sudo tee /etc/apt/sources.list.d/docker.list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sudo apt update &amp;&amp; sudo apt install -y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docker-ce docker-ce-cli docker-compose-plugin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1" name="Google Shape;5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8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8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4" name="Google Shape;554;p38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8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8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7" name="Google Shape;557;p38"/>
          <p:cNvPicPr preferRelativeResize="0"/>
          <p:nvPr/>
        </p:nvPicPr>
        <p:blipFill rotWithShape="1">
          <a:blip r:embed="rId7">
            <a:alphaModFix/>
          </a:blip>
          <a:srcRect b="0" l="0" r="7919" t="0"/>
          <a:stretch/>
        </p:blipFill>
        <p:spPr>
          <a:xfrm>
            <a:off x="3702150" y="1511650"/>
            <a:ext cx="5320218" cy="3227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38"/>
          <p:cNvCxnSpPr/>
          <p:nvPr/>
        </p:nvCxnSpPr>
        <p:spPr>
          <a:xfrm flipH="1">
            <a:off x="5632400" y="3955850"/>
            <a:ext cx="532800" cy="23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8"/>
          <p:cNvCxnSpPr/>
          <p:nvPr/>
        </p:nvCxnSpPr>
        <p:spPr>
          <a:xfrm flipH="1">
            <a:off x="5872150" y="4265450"/>
            <a:ext cx="532800" cy="23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0" name="Google Shape;560;p38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39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Deploy do WordPress via SSH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91575" y="1478275"/>
            <a:ext cx="3375000" cy="3464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8" name="Google Shape;5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9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9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1" name="Google Shape;571;p39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9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9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9"/>
          <p:cNvSpPr txBox="1"/>
          <p:nvPr/>
        </p:nvSpPr>
        <p:spPr>
          <a:xfrm>
            <a:off x="263024" y="1615450"/>
            <a:ext cx="32037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Subir WordPress com Docker Compose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mkdir -p ~/wordpress &amp;&amp; cd ~/wordpress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—--------------------------------------------------</a:t>
            </a:r>
            <a:endParaRPr i="0" sz="4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pt-BR" sz="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Criar docker-compose.yml e iniciar</a:t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cat &gt; docker-compose.yml &lt;&lt;'EOF'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services: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wordpress: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image: wordpress:latest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restart: always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ports: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- "80:80"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environment: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WORDPRESS_DB_HOST: db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WORDPRESS_DB_USER: wordpress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WORDPRESS_DB_PASSWORD: wordpress_secret_pass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WORDPRESS_DB_NAME: wordpress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volumes: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- wordpress_data:/var/www/html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db: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image: mysql:8.0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restart: always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environment: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MYSQL_DATABASE: wordpress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MYSQL_USER: wordpress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MYSQL_PASSWORD: wordpress_secret_pass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MYSQL_RANDOM_ROOT_PASSWORD: '1'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volumes: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- db_data:/var/lib/mysql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volumes: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wordpress_data: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db_data:</a:t>
            </a:r>
            <a:endParaRPr sz="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EOF</a:t>
            </a:r>
            <a:b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—--------------------------------------------------</a:t>
            </a:r>
            <a:endParaRPr i="0" sz="4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sudo docker compose up -d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5" name="Google Shape;575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7525" y="1461822"/>
            <a:ext cx="5520276" cy="3312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39"/>
          <p:cNvCxnSpPr/>
          <p:nvPr/>
        </p:nvCxnSpPr>
        <p:spPr>
          <a:xfrm flipH="1">
            <a:off x="5819750" y="4125725"/>
            <a:ext cx="532800" cy="23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39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0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40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Acesso a</a:t>
            </a: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 WordPress via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HTTP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91575" y="1478275"/>
            <a:ext cx="3375000" cy="3071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5" name="Google Shape;58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0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0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8" name="Google Shape;588;p40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0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0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0"/>
          <p:cNvSpPr txBox="1"/>
          <p:nvPr/>
        </p:nvSpPr>
        <p:spPr>
          <a:xfrm>
            <a:off x="263024" y="1615450"/>
            <a:ext cx="32037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🌐</a:t>
            </a: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Acesso ao Website WordPress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Copie o IPv4 Público da VM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Abra o navegador e digite: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http://200.x.x.x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Certifique-se que o Grupo de segurança tenha regra de acesso liberada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IPv4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TCP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80 (http)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Entrada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Qualquer IP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2" name="Google Shape;592;p40"/>
          <p:cNvCxnSpPr/>
          <p:nvPr/>
        </p:nvCxnSpPr>
        <p:spPr>
          <a:xfrm flipH="1">
            <a:off x="5819750" y="4125725"/>
            <a:ext cx="532800" cy="23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3" name="Google Shape;593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41712" y="1359250"/>
            <a:ext cx="5158565" cy="34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0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1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41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Exclusão da Virtual Machine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41"/>
          <p:cNvSpPr/>
          <p:nvPr/>
        </p:nvSpPr>
        <p:spPr>
          <a:xfrm>
            <a:off x="91575" y="1478275"/>
            <a:ext cx="3375000" cy="3071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2" name="Google Shape;6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1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1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5" name="Google Shape;605;p41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1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1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41"/>
          <p:cNvSpPr txBox="1"/>
          <p:nvPr/>
        </p:nvSpPr>
        <p:spPr>
          <a:xfrm>
            <a:off x="263024" y="1615450"/>
            <a:ext cx="3203700" cy="27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❌</a:t>
            </a: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Exclusão da Instância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Acesse: Virtual Machine &gt; Instância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No ícone ⚙️ ou 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em: "Excluir"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Confirme o nome da instância a excluir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 "Excluir reserva de IP Público"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em: "Excluir instância"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https://docs.magalu.cloud/docs/computing/virtual-machine/how-to/manage-instances/delete-instance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9" name="Google Shape;609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0900" y="2132852"/>
            <a:ext cx="126956" cy="2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9125" y="1359253"/>
            <a:ext cx="5410374" cy="338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41"/>
          <p:cNvCxnSpPr/>
          <p:nvPr/>
        </p:nvCxnSpPr>
        <p:spPr>
          <a:xfrm flipH="1">
            <a:off x="5898375" y="3096925"/>
            <a:ext cx="532800" cy="23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41"/>
          <p:cNvCxnSpPr/>
          <p:nvPr/>
        </p:nvCxnSpPr>
        <p:spPr>
          <a:xfrm>
            <a:off x="4628275" y="3257250"/>
            <a:ext cx="575400" cy="3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41"/>
          <p:cNvCxnSpPr/>
          <p:nvPr/>
        </p:nvCxnSpPr>
        <p:spPr>
          <a:xfrm flipH="1" rot="10800000">
            <a:off x="5711125" y="4332450"/>
            <a:ext cx="483300" cy="29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41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2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CONSOLE WEB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42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1 (Console):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Exclusão do Bucket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91575" y="1478275"/>
            <a:ext cx="3375000" cy="3071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2" name="Google Shape;6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2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2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5" name="Google Shape;625;p42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2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2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42"/>
          <p:cNvSpPr txBox="1"/>
          <p:nvPr/>
        </p:nvSpPr>
        <p:spPr>
          <a:xfrm>
            <a:off x="263024" y="1615450"/>
            <a:ext cx="32037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❌ Exclus</a:t>
            </a: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ão</a:t>
            </a: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do Bucket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Acesse: Object Storage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No ícone       ou menu "Ações"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em: "Excluir bucket"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Confirme o nome do bucket a excluir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Clique em: "Excluir"</a:t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https://docs.magalu.cloud/docs/storage/object-storage/how-to/buckets/create-list-delete-bucket#apagar-bucket</a:t>
            </a:r>
            <a:r>
              <a:rPr lang="pt-BR" sz="12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9" name="Google Shape;629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3700" y="2132852"/>
            <a:ext cx="126956" cy="2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9124" y="1359240"/>
            <a:ext cx="5372476" cy="33015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1" name="Google Shape;631;p42"/>
          <p:cNvCxnSpPr/>
          <p:nvPr/>
        </p:nvCxnSpPr>
        <p:spPr>
          <a:xfrm flipH="1">
            <a:off x="6008063" y="3440650"/>
            <a:ext cx="594600" cy="25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42"/>
          <p:cNvCxnSpPr/>
          <p:nvPr/>
        </p:nvCxnSpPr>
        <p:spPr>
          <a:xfrm flipH="1">
            <a:off x="6972588" y="4047150"/>
            <a:ext cx="594600" cy="25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42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3"/>
          <p:cNvSpPr txBox="1"/>
          <p:nvPr/>
        </p:nvSpPr>
        <p:spPr>
          <a:xfrm>
            <a:off x="3032782" y="1461488"/>
            <a:ext cx="75441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EXECUÇÃO</a:t>
            </a:r>
            <a:endParaRPr b="1" i="0" sz="10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Método 2: 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CLI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9" name="Google Shape;6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3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3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2" name="Google Shape;642;p43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3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3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5" name="Google Shape;645;p43"/>
          <p:cNvSpPr/>
          <p:nvPr/>
        </p:nvSpPr>
        <p:spPr>
          <a:xfrm>
            <a:off x="2758455" y="1461488"/>
            <a:ext cx="102900" cy="21948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3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4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44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Autenticação e Configurações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44"/>
          <p:cNvSpPr/>
          <p:nvPr/>
        </p:nvSpPr>
        <p:spPr>
          <a:xfrm>
            <a:off x="91455" y="1478280"/>
            <a:ext cx="3840600" cy="32919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44"/>
          <p:cNvSpPr txBox="1"/>
          <p:nvPr/>
        </p:nvSpPr>
        <p:spPr>
          <a:xfrm>
            <a:off x="262909" y="1615440"/>
            <a:ext cx="3497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Autenticar CLI e Configurar API Key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Login via navegador no ID Magalu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auth login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Confirmar o tenant ativo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auth tenant current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Criar API Key para o Object Storage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api-key create workshop-key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Configurar a chave como padrão no CLI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api-key set &lt;UUID_DA_KEY&gt;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api-key current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https://docs.magalu.cloud/docs/storage/object-storage/compatible-tools/mgc-cli-compatibility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5" name="Google Shape;65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4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4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8" name="Google Shape;658;p44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4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4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1" name="Google Shape;661;p44" title="Captura de Tela 2026-09-20 às 16.54.5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8705" y="1718290"/>
            <a:ext cx="4907145" cy="290867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4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5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45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Autenticação e Configurações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45"/>
          <p:cNvSpPr/>
          <p:nvPr/>
        </p:nvSpPr>
        <p:spPr>
          <a:xfrm>
            <a:off x="91574" y="1478275"/>
            <a:ext cx="3618300" cy="32919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45"/>
          <p:cNvSpPr txBox="1"/>
          <p:nvPr/>
        </p:nvSpPr>
        <p:spPr>
          <a:xfrm>
            <a:off x="263025" y="1615450"/>
            <a:ext cx="33129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Registrar Chave SSH no Perfil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Gerar chave local (se ainda não possuir)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ssh-keygen -t ed25519 \</a:t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-f ~/.ssh/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sshkey-workshop-mgc</a:t>
            </a: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-N "" -C "workshop-mgc"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Registrar a chave pública no perfil da MGC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profile ssh-keys create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--name site-key-&lt;seu-nome&gt; \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--key "$(cat ~/.ssh/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sshkey-workshop-mgc</a:t>
            </a: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.pub)"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Listar chaves registradas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profile ssh-keys list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https://docs.magalu.cloud/docs/computing/ssh-keys/how-to/create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1" name="Google Shape;6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5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4" name="Google Shape;674;p45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5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45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7" name="Google Shape;677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32500" y="1622726"/>
            <a:ext cx="5182727" cy="29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45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6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Criar Máquina Virtual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91450" y="1478275"/>
            <a:ext cx="3965100" cy="34413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262900" y="1615450"/>
            <a:ext cx="37935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Comandos CLI para Criação e Consulta da VM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1. Criar a VM com IP público na região br-se1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virtual-machine instances create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--name site-web-01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--machine-type.name BV1-1-10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--image.name="cloud-ubuntu-24.04 LTS"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--ssh-key-name </a:t>
            </a:r>
            <a:r>
              <a:rPr lang="pt-BR" sz="9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site-key-&lt;seu-nome&gt;</a:t>
            </a: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--network.associate-public-ip true \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--region br-se1</a:t>
            </a:r>
            <a:r>
              <a:rPr lang="pt-BR" sz="9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\</a:t>
            </a:r>
            <a:endParaRPr sz="9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--availability-zone=br-se1-a</a:t>
            </a:r>
            <a:endParaRPr sz="9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2. Listar instâncias e copiar o IP Público associado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virtual-machine instances list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3. Consultar detalhes da instância criada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virtual-machine instances get &lt;ID_DA_INSTANCIA&gt;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9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</a:t>
            </a:r>
            <a:r>
              <a:rPr lang="pt-BR" sz="9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https://docs.magalu.cloud/docs/computing/virtual-machine/how-to/create-instances/create-instance</a:t>
            </a:r>
            <a:r>
              <a:rPr lang="pt-BR" sz="9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7" name="Google Shape;68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6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6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0" name="Google Shape;690;p46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46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6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3" name="Google Shape;69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16825" y="1644040"/>
            <a:ext cx="4782651" cy="307382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6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7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47"/>
          <p:cNvSpPr/>
          <p:nvPr/>
        </p:nvSpPr>
        <p:spPr>
          <a:xfrm>
            <a:off x="108550" y="1471125"/>
            <a:ext cx="3853500" cy="34281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47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Criar Bucket no Object Storage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2" name="Google Shape;7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7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7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5" name="Google Shape;705;p47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7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7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47"/>
          <p:cNvSpPr txBox="1"/>
          <p:nvPr/>
        </p:nvSpPr>
        <p:spPr>
          <a:xfrm>
            <a:off x="262900" y="1615450"/>
            <a:ext cx="3612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Comandos CLI para Criação e Configuração de Leitura Pública do Bucket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1. Criar o bucket na região Sudeste (br-se1)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buckets create site-media-&lt;seu-nome&gt; \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--public-read \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--region br-se1</a:t>
            </a:r>
            <a:endParaRPr sz="7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2. Definir a política de leitura pública (s3:GetObject) para entrega de mídias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buckets policy set \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--dst site-media-&lt;seu-nome&gt; \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--policy '{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"Version": "2012-10-17",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"Statement": [{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"Effect": "Allow",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"Principal": "*",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"Action": "s3:GetObject",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"Resource": "site-media-&lt;seu-nome&gt;/*"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}]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}'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7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 </a:t>
            </a:r>
            <a:r>
              <a:rPr lang="pt-BR" sz="7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https://docs.magalu.cloud/docs/storage/object-storage/how-to/buckets/create-list-delete-bucket</a:t>
            </a:r>
            <a:r>
              <a:rPr lang="pt-BR" sz="7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9" name="Google Shape;709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4450" y="1664040"/>
            <a:ext cx="4877151" cy="28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7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8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48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Excluir</a:t>
            </a: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Máquina Virtual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48"/>
          <p:cNvSpPr/>
          <p:nvPr/>
        </p:nvSpPr>
        <p:spPr>
          <a:xfrm>
            <a:off x="91450" y="1478275"/>
            <a:ext cx="3965100" cy="31848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48"/>
          <p:cNvSpPr txBox="1"/>
          <p:nvPr/>
        </p:nvSpPr>
        <p:spPr>
          <a:xfrm>
            <a:off x="186700" y="1615450"/>
            <a:ext cx="3793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❌ </a:t>
            </a: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Comando CLI para Exclus</a:t>
            </a:r>
            <a:r>
              <a:rPr b="1" lang="pt-BR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ão</a:t>
            </a: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da VM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1. 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Listar as</a:t>
            </a: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VMs na região br-se1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virtual-machine instances list 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--region br-se1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2. 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Identifique o ID da VM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(é o campo .id que fica na raiz/root level)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3. 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Exclua a instância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virtual-machine instances delete</a:t>
            </a: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&lt;ID_DA_INSTANCIA&gt;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https://docs.magalu.cloud/docs/computing/virtual-machine/how-to/create-instances/create-instance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9" name="Google Shape;71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8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8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2" name="Google Shape;722;p48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8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8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5" name="Google Shape;725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8950" y="1548456"/>
            <a:ext cx="4782650" cy="3033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6" name="Google Shape;726;p48"/>
          <p:cNvCxnSpPr/>
          <p:nvPr/>
        </p:nvCxnSpPr>
        <p:spPr>
          <a:xfrm flipH="1">
            <a:off x="6160463" y="1771000"/>
            <a:ext cx="594600" cy="25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7" name="Google Shape;727;p48"/>
          <p:cNvCxnSpPr/>
          <p:nvPr/>
        </p:nvCxnSpPr>
        <p:spPr>
          <a:xfrm flipH="1">
            <a:off x="7576756" y="3928230"/>
            <a:ext cx="594600" cy="25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48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9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VIA MGC CLI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49"/>
          <p:cNvSpPr/>
          <p:nvPr/>
        </p:nvSpPr>
        <p:spPr>
          <a:xfrm>
            <a:off x="108550" y="1471125"/>
            <a:ext cx="3853500" cy="34281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49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2 (CLI):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Excluir</a:t>
            </a: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Bucket no Object Storage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6" name="Google Shape;73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49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49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9" name="Google Shape;739;p49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9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9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49"/>
          <p:cNvSpPr txBox="1"/>
          <p:nvPr/>
        </p:nvSpPr>
        <p:spPr>
          <a:xfrm>
            <a:off x="262900" y="1615450"/>
            <a:ext cx="3612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❌</a:t>
            </a:r>
            <a:r>
              <a:rPr b="1"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Comando CLI para </a:t>
            </a:r>
            <a:r>
              <a:rPr b="1" lang="pt-BR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exclusão </a:t>
            </a:r>
            <a:r>
              <a:rPr b="1" i="0" lang="pt-BR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 Bucket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1. Listar os buckets na região Sudeste (br-se1)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buckets list --region br-se1</a:t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2. Identifique o nome do bucket</a:t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(é o campo "Name" que fica na raiz/root level)</a:t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3. Exclua o bucket</a:t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 object-storage buckets delete site-media-&lt;seu-nome&gt;</a:t>
            </a:r>
            <a:endParaRPr sz="1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0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Doc: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https://docs.magalu.cloud/docs/storage/object-storage/how-to/buckets/create-list-delete-bucket</a:t>
            </a:r>
            <a:r>
              <a:rPr lang="pt-BR" sz="1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3" name="Google Shape;743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4450" y="1892640"/>
            <a:ext cx="4877149" cy="2438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4" name="Google Shape;744;p49"/>
          <p:cNvCxnSpPr/>
          <p:nvPr/>
        </p:nvCxnSpPr>
        <p:spPr>
          <a:xfrm rot="10800000">
            <a:off x="5662150" y="2410950"/>
            <a:ext cx="584100" cy="28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49"/>
          <p:cNvCxnSpPr/>
          <p:nvPr/>
        </p:nvCxnSpPr>
        <p:spPr>
          <a:xfrm flipH="1">
            <a:off x="7040088" y="3352000"/>
            <a:ext cx="594600" cy="25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49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0"/>
          <p:cNvSpPr txBox="1"/>
          <p:nvPr/>
        </p:nvSpPr>
        <p:spPr>
          <a:xfrm>
            <a:off x="2270782" y="1461488"/>
            <a:ext cx="75441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EXECUÇÃO</a:t>
            </a:r>
            <a:endParaRPr b="1" i="0" sz="10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Método 3: 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(IaC): Automação com 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Terraform e Ansible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2" name="Google Shape;7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50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0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5" name="Google Shape;755;p50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50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0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1996455" y="1461488"/>
            <a:ext cx="102900" cy="21948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0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1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51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3 (IaC): Automação com Terraform e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51"/>
          <p:cNvSpPr/>
          <p:nvPr/>
        </p:nvSpPr>
        <p:spPr>
          <a:xfrm>
            <a:off x="320050" y="1478275"/>
            <a:ext cx="3840600" cy="3397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51"/>
          <p:cNvSpPr txBox="1"/>
          <p:nvPr/>
        </p:nvSpPr>
        <p:spPr>
          <a:xfrm>
            <a:off x="491509" y="1615440"/>
            <a:ext cx="34977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🏗️ O que o Terraform Provisiona?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Chave SSH (mgc_ssh_keys): registra a chave pública na nuvem.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VM (mgc_virtual_machine_instances): aloca a VM com IP público.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Bucket (mgc_object_storage_buckets): cria o repositório de mídias.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ACL S3 (aws_s3_bucket_acl): aplica permissão public-read via endpoint S3.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Outputs: exibe IP público, comando SSH e URL do site no terminal.</a:t>
            </a:r>
            <a:endParaRPr i="0" sz="1000" u="none" cap="none" strike="noStrike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https://docs.magalu.cloud/docs/storage/object-storage/compatible-tools/terraform-configuration</a:t>
            </a:r>
            <a: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51"/>
          <p:cNvSpPr/>
          <p:nvPr/>
        </p:nvSpPr>
        <p:spPr>
          <a:xfrm>
            <a:off x="4403100" y="1478275"/>
            <a:ext cx="4169700" cy="3397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51"/>
          <p:cNvSpPr txBox="1"/>
          <p:nvPr/>
        </p:nvSpPr>
        <p:spPr>
          <a:xfrm>
            <a:off x="4607875" y="1615450"/>
            <a:ext cx="3793500" cy="24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🤖 O que o Ansible Executa Automaticamente?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Trigger local-exec é acionado logo após a VM ficar disponível.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Gera o inventário hosts.ini dinamicamente com o IP da VM.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Aguarda o daemon SSH e o boot da VM (cloud-init status --wait).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Instala o Docker Engine e o plugin Docker Compose.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Copia o docker-compose.yml e inicia os containers do WordPress.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Zero intervenção manual necessária!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0" name="Google Shape;77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1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1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3" name="Google Shape;773;p51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1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1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51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2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52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3 (IaC):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Criação da API Key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52"/>
          <p:cNvSpPr/>
          <p:nvPr/>
        </p:nvSpPr>
        <p:spPr>
          <a:xfrm>
            <a:off x="320050" y="1478275"/>
            <a:ext cx="3840600" cy="3019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52"/>
          <p:cNvSpPr txBox="1"/>
          <p:nvPr/>
        </p:nvSpPr>
        <p:spPr>
          <a:xfrm>
            <a:off x="491509" y="1615440"/>
            <a:ext cx="3497700" cy="25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🔑</a:t>
            </a: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Criar a API Key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mgc auth api-key create \</a:t>
            </a:r>
            <a:b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--name workshop-key-&lt;seu-nome&gt; </a:t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Em "Select scopes", clique com a seta p/ direita → (dessa forma todos os scopes serão habilitados)</a:t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Por fim, clique em "Tab" para criar a api-key</a:t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Doc: </a:t>
            </a: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https://docs.magalu.cloud/docs/devops-tools/api-keys/how-to/other-products/create-api-key</a:t>
            </a:r>
            <a:r>
              <a:rPr lang="pt-BR" sz="1000" u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5" name="Google Shape;78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2" title="Slide 3.png"/>
          <p:cNvPicPr preferRelativeResize="0"/>
          <p:nvPr/>
        </p:nvPicPr>
        <p:blipFill rotWithShape="1">
          <a:blip r:embed="rId5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2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8" name="Google Shape;788;p52" title="Logo-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52" title="saopaulo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52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52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792" name="Google Shape;792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13050" y="1511640"/>
            <a:ext cx="4678551" cy="197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2"/>
          <p:cNvPicPr preferRelativeResize="0"/>
          <p:nvPr/>
        </p:nvPicPr>
        <p:blipFill rotWithShape="1">
          <a:blip r:embed="rId9">
            <a:alphaModFix/>
          </a:blip>
          <a:srcRect b="0" l="0" r="6655" t="0"/>
          <a:stretch/>
        </p:blipFill>
        <p:spPr>
          <a:xfrm>
            <a:off x="4313050" y="3595150"/>
            <a:ext cx="4707976" cy="801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52"/>
          <p:cNvCxnSpPr/>
          <p:nvPr/>
        </p:nvCxnSpPr>
        <p:spPr>
          <a:xfrm flipH="1">
            <a:off x="6819925" y="294337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2"/>
          <p:cNvCxnSpPr/>
          <p:nvPr/>
        </p:nvCxnSpPr>
        <p:spPr>
          <a:xfrm flipH="1">
            <a:off x="5641150" y="294337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3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53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3 (IaC): Executando o Terraform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91455" y="1478280"/>
            <a:ext cx="3840600" cy="32919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53"/>
          <p:cNvSpPr txBox="1"/>
          <p:nvPr/>
        </p:nvSpPr>
        <p:spPr>
          <a:xfrm>
            <a:off x="262909" y="1615440"/>
            <a:ext cx="34977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Configurar terraform.tfvars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cd terraform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cp terraform.tfvars.example terraform.tfvars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Preencher variáveis obrigatórias: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mgc_api_key          = "SUA_API_KEY_MGC"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region               = "br-se1"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vm_name              = "site-web-01"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ssh_key_name         = "site-key"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ssh_public_key       = "ssh-ed25519 AAAAC3..."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ssh_private_key_path = "~/.ssh/id_ed25519"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bucket_name          = "site-media-&lt;seu-nome&gt;"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object_storage_access_key = "SUA_ACCESS_KEY"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object_storage_secret_key = "SUA_SECRET_KEY"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4" name="Google Shape;80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53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53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7" name="Google Shape;807;p53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53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3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53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811" name="Google Shape;811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4455" y="1740240"/>
            <a:ext cx="4907144" cy="27473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2" name="Google Shape;812;p53"/>
          <p:cNvCxnSpPr/>
          <p:nvPr/>
        </p:nvCxnSpPr>
        <p:spPr>
          <a:xfrm flipH="1">
            <a:off x="6026975" y="211632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53"/>
          <p:cNvCxnSpPr/>
          <p:nvPr/>
        </p:nvCxnSpPr>
        <p:spPr>
          <a:xfrm flipH="1">
            <a:off x="7211225" y="3040650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4" name="Google Shape;814;p53"/>
          <p:cNvCxnSpPr/>
          <p:nvPr/>
        </p:nvCxnSpPr>
        <p:spPr>
          <a:xfrm flipH="1">
            <a:off x="6182125" y="361052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4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54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3 (IaC): Executando o Terraform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91575" y="1478275"/>
            <a:ext cx="3909300" cy="34527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54"/>
          <p:cNvSpPr txBox="1"/>
          <p:nvPr/>
        </p:nvSpPr>
        <p:spPr>
          <a:xfrm>
            <a:off x="263019" y="1615440"/>
            <a:ext cx="3566400" cy="3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Aplicar o Provisionamento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Inicializar providers (MGC, AWS S3, Null)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terraform init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Validar o plano de execução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terraform plan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Aplicar a infraestrutura e rodar o deploy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terraform apply -auto-approve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Ao final, veja os outputs no terminal: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Outputs: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bucket_name = "site-media-seu-nome"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public_ip   = "201.23.xx.xx"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wp_url      = "http://201.23.xx.xx"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3" name="Google Shape;82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4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4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6" name="Google Shape;826;p54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4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54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p54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830" name="Google Shape;830;p54"/>
          <p:cNvPicPr preferRelativeResize="0"/>
          <p:nvPr/>
        </p:nvPicPr>
        <p:blipFill rotWithShape="1">
          <a:blip r:embed="rId7">
            <a:alphaModFix/>
          </a:blip>
          <a:srcRect b="0" l="0" r="0" t="37946"/>
          <a:stretch/>
        </p:blipFill>
        <p:spPr>
          <a:xfrm>
            <a:off x="4153275" y="1506498"/>
            <a:ext cx="4838324" cy="148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53275" y="3098575"/>
            <a:ext cx="4838324" cy="1645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2" name="Google Shape;832;p54"/>
          <p:cNvCxnSpPr/>
          <p:nvPr/>
        </p:nvCxnSpPr>
        <p:spPr>
          <a:xfrm flipH="1">
            <a:off x="5648900" y="246842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54"/>
          <p:cNvCxnSpPr/>
          <p:nvPr/>
        </p:nvCxnSpPr>
        <p:spPr>
          <a:xfrm flipH="1">
            <a:off x="7132450" y="281582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5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TERRAFORM + ANSIBLE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55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Procedimento 3 (IaC): Executando o Terraform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55"/>
          <p:cNvSpPr/>
          <p:nvPr/>
        </p:nvSpPr>
        <p:spPr>
          <a:xfrm>
            <a:off x="91564" y="1478280"/>
            <a:ext cx="3909300" cy="32919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55"/>
          <p:cNvSpPr txBox="1"/>
          <p:nvPr/>
        </p:nvSpPr>
        <p:spPr>
          <a:xfrm>
            <a:off x="263019" y="1615440"/>
            <a:ext cx="3566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❌</a:t>
            </a:r>
            <a:r>
              <a:rPr b="1" i="0" lang="pt-BR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Exclusão dos recursos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Inicializar providers (MGC, AWS S3, Null)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terraform </a:t>
            </a: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destroy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Atenção aos 5 recursos que serão excluídos</a:t>
            </a:r>
            <a:b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Plan: 0 to add, 0 to change, 5 to destroy.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Após confirmar os recursos que serão excluídos, responda "yes"</a:t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Enter a value: yes</a:t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pt-BR" sz="1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# Ao final, </a:t>
            </a: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valide se o Terraform excluiu de fato:</a:t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Destroy complete! Resources: 5 destroyed.</a:t>
            </a:r>
            <a:endParaRPr sz="1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2" name="Google Shape;84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5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5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5" name="Google Shape;845;p55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5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55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8" name="Google Shape;848;p55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849" name="Google Shape;849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3275" y="1226911"/>
            <a:ext cx="4663127" cy="103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53275" y="2298688"/>
            <a:ext cx="4663131" cy="25116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1" name="Google Shape;851;p55"/>
          <p:cNvCxnSpPr/>
          <p:nvPr/>
        </p:nvCxnSpPr>
        <p:spPr>
          <a:xfrm flipH="1">
            <a:off x="7420375" y="1130875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55"/>
          <p:cNvCxnSpPr/>
          <p:nvPr/>
        </p:nvCxnSpPr>
        <p:spPr>
          <a:xfrm flipH="1">
            <a:off x="5903700" y="2008800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5"/>
          <p:cNvCxnSpPr/>
          <p:nvPr/>
        </p:nvCxnSpPr>
        <p:spPr>
          <a:xfrm flipH="1">
            <a:off x="5902700" y="4358800"/>
            <a:ext cx="513300" cy="3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6"/>
          <p:cNvSpPr txBox="1"/>
          <p:nvPr/>
        </p:nvSpPr>
        <p:spPr>
          <a:xfrm>
            <a:off x="2270782" y="1461488"/>
            <a:ext cx="75441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 b="1" i="0" sz="10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Aprendizados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           e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b="1" lang="pt-BR" sz="3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Próximos passos…</a:t>
            </a:r>
            <a:endParaRPr b="1" sz="31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9" name="Google Shape;85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6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56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2" name="Google Shape;862;p56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56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6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1996455" y="1461488"/>
            <a:ext cx="102900" cy="21948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6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7"/>
          <p:cNvSpPr txBox="1"/>
          <p:nvPr/>
        </p:nvSpPr>
        <p:spPr>
          <a:xfrm>
            <a:off x="548655" y="723900"/>
            <a:ext cx="80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57"/>
          <p:cNvSpPr txBox="1"/>
          <p:nvPr/>
        </p:nvSpPr>
        <p:spPr>
          <a:xfrm>
            <a:off x="548655" y="929640"/>
            <a:ext cx="80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Principais Aprendizados e 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Evolução</a:t>
            </a:r>
            <a:r>
              <a:rPr b="1" i="0" lang="pt-BR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Arquitetura</a:t>
            </a:r>
            <a:r>
              <a:rPr b="1" lang="pt-BR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57"/>
          <p:cNvSpPr/>
          <p:nvPr/>
        </p:nvSpPr>
        <p:spPr>
          <a:xfrm>
            <a:off x="548650" y="1706876"/>
            <a:ext cx="3840600" cy="257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57"/>
          <p:cNvSpPr txBox="1"/>
          <p:nvPr/>
        </p:nvSpPr>
        <p:spPr>
          <a:xfrm>
            <a:off x="720109" y="1844040"/>
            <a:ext cx="3497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🎓 O que Aprendemos Hoje?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Autenticação e gestão de contas com o ID Magalu.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Provisionamento de instâncias de VM na nuvem Magalu.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Uso do Object Storage S3 para armazenamento escalável de mídias.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Gerenciamento de recursos via Console, CLI e Infraestrutura como Código (Terraform).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Deploy automatizado de aplicações web com Docker Compose e Ansible.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57"/>
          <p:cNvSpPr/>
          <p:nvPr/>
        </p:nvSpPr>
        <p:spPr>
          <a:xfrm>
            <a:off x="4663575" y="1706876"/>
            <a:ext cx="3909300" cy="2594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57"/>
          <p:cNvSpPr txBox="1"/>
          <p:nvPr/>
        </p:nvSpPr>
        <p:spPr>
          <a:xfrm>
            <a:off x="4835019" y="1844040"/>
            <a:ext cx="3566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🚀 Como Evoluir Essa Arquitetura?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DBaaS: Migrar o banco MySQL para o Database-as-a-Service gerenciado da MGC.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Kubernetes (MKE): Orquestrar a aplicação em containers escaláveis.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Load Balancer: Distribuir tráfego entre múltiplas instâncias web.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CDN &amp; WAF: Acelerar entrega de conteúdo e proteger contra ameaças.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0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Backups e Políticas de Ciclo de Vida no Object Storage.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7" name="Google Shape;87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7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0" name="Google Shape;880;p57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57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57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57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8"/>
          <p:cNvSpPr/>
          <p:nvPr/>
        </p:nvSpPr>
        <p:spPr>
          <a:xfrm>
            <a:off x="341450" y="1249675"/>
            <a:ext cx="8383800" cy="299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58"/>
          <p:cNvSpPr txBox="1"/>
          <p:nvPr/>
        </p:nvSpPr>
        <p:spPr>
          <a:xfrm>
            <a:off x="529750" y="1386850"/>
            <a:ext cx="8024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📚 Links Úteis e Documentações Oficiais da Magalu Cloud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🌐 Portal Oficial: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https://magalu.cloud/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📖 Documentação Central: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https://docs.magalu.cloud/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🚀 Guia de Criação de Conta: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https://docs.magalu.cloud/docs/onboarding/create-account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💻 Guia da MGC CLI: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https://docs.magalu.cloud/docs/devops-tools/cli-mgc/overview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🖥️ Máquinas Virtuais: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https://docs.magalu.cloud/docs/computing/virtual-machine/overview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🪣 Object Storage S3: </a:t>
            </a:r>
            <a:r>
              <a:rPr lang="pt-B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https://docs.magalu.cloud/docs/storage/object-storage/overview</a:t>
            </a:r>
            <a:r>
              <a:rPr lang="pt-BR" sz="13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🏗️ Terraform Provider MGC: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https://registry.terraform.io/providers/MagaluCloud/mgc/latest/docs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🐙 Repositório do Workshop: </a:t>
            </a:r>
            <a:r>
              <a:rPr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https://github.com/fernandoravagnani-luizalabs/mgc-workshop</a:t>
            </a:r>
            <a:r>
              <a:rPr i="0" lang="pt-BR" sz="13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0" name="Google Shape;890;p5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8" title="Slide 3.png"/>
          <p:cNvPicPr preferRelativeResize="0"/>
          <p:nvPr/>
        </p:nvPicPr>
        <p:blipFill rotWithShape="1">
          <a:blip r:embed="rId12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8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p58" title="Logo-9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8" title="saopauloW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8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6" name="Google Shape;896;p58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9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9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4" name="Google Shape;904;p59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9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59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7" name="Google Shape;907;p59"/>
          <p:cNvSpPr/>
          <p:nvPr/>
        </p:nvSpPr>
        <p:spPr>
          <a:xfrm>
            <a:off x="2095225" y="1307604"/>
            <a:ext cx="106500" cy="28155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9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909" name="Google Shape;909;p59" title="AI Hu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5204" y="3426054"/>
            <a:ext cx="697100" cy="6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59"/>
          <p:cNvSpPr/>
          <p:nvPr/>
        </p:nvSpPr>
        <p:spPr>
          <a:xfrm>
            <a:off x="3560688" y="3552275"/>
            <a:ext cx="4114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MGC AI Hub</a:t>
            </a:r>
            <a:endParaRPr sz="2400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p59"/>
          <p:cNvSpPr/>
          <p:nvPr/>
        </p:nvSpPr>
        <p:spPr>
          <a:xfrm>
            <a:off x="2705205" y="1191700"/>
            <a:ext cx="4937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IA EM PRODUÇÃO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59"/>
          <p:cNvSpPr/>
          <p:nvPr/>
        </p:nvSpPr>
        <p:spPr>
          <a:xfrm>
            <a:off x="2705201" y="1671750"/>
            <a:ext cx="399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SEM COMPLICAÇÃO</a:t>
            </a:r>
            <a:endParaRPr sz="28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2718975" y="2433145"/>
            <a:ext cx="14400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Conheça a nova</a:t>
            </a:r>
            <a:endParaRPr sz="11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59"/>
          <p:cNvSpPr/>
          <p:nvPr/>
        </p:nvSpPr>
        <p:spPr>
          <a:xfrm>
            <a:off x="2718975" y="2666425"/>
            <a:ext cx="29145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PLATAFORMA DE </a:t>
            </a:r>
            <a:r>
              <a:rPr b="1" lang="pt-BR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IA</a:t>
            </a:r>
            <a:endParaRPr sz="17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59"/>
          <p:cNvSpPr/>
          <p:nvPr/>
        </p:nvSpPr>
        <p:spPr>
          <a:xfrm>
            <a:off x="2718975" y="2995555"/>
            <a:ext cx="24687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DA MAGALU CLOUD</a:t>
            </a:r>
            <a:endParaRPr sz="9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60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60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3" name="Google Shape;923;p60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60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0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6" name="Google Shape;926;p60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sp>
        <p:nvSpPr>
          <p:cNvPr id="927" name="Google Shape;927;p60"/>
          <p:cNvSpPr/>
          <p:nvPr/>
        </p:nvSpPr>
        <p:spPr>
          <a:xfrm>
            <a:off x="541769" y="667620"/>
            <a:ext cx="3291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A RESPOSTA</a:t>
            </a:r>
            <a:endParaRPr sz="8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555532" y="821063"/>
            <a:ext cx="7337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FORNECEMOS</a:t>
            </a:r>
            <a:r>
              <a:rPr b="1" lang="pt-BR" sz="18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 INFERÊNCIA </a:t>
            </a:r>
            <a:r>
              <a:rPr b="1" lang="pt-B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PARA A SUA SOLUÇÃO</a:t>
            </a:r>
            <a:endParaRPr sz="1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9" name="Google Shape;929;p60"/>
          <p:cNvSpPr/>
          <p:nvPr/>
        </p:nvSpPr>
        <p:spPr>
          <a:xfrm>
            <a:off x="555539" y="1213050"/>
            <a:ext cx="480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 escolha do modelo à API, sem complexidade operacional:</a:t>
            </a:r>
            <a:endParaRPr sz="11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0" name="Google Shape;930;p60"/>
          <p:cNvSpPr/>
          <p:nvPr/>
        </p:nvSpPr>
        <p:spPr>
          <a:xfrm>
            <a:off x="1952117" y="1827968"/>
            <a:ext cx="1611600" cy="10422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1" name="Google Shape;931;p60"/>
          <p:cNvSpPr/>
          <p:nvPr/>
        </p:nvSpPr>
        <p:spPr>
          <a:xfrm>
            <a:off x="2075508" y="1958378"/>
            <a:ext cx="274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60"/>
          <p:cNvSpPr/>
          <p:nvPr/>
        </p:nvSpPr>
        <p:spPr>
          <a:xfrm>
            <a:off x="2075508" y="2218928"/>
            <a:ext cx="1364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SUA </a:t>
            </a:r>
            <a:r>
              <a:rPr b="1" lang="pt-BR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12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60"/>
          <p:cNvSpPr/>
          <p:nvPr/>
        </p:nvSpPr>
        <p:spPr>
          <a:xfrm>
            <a:off x="2075508" y="2493248"/>
            <a:ext cx="1364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Produto, agente ou serviço</a:t>
            </a:r>
            <a:endParaRPr sz="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60"/>
          <p:cNvSpPr/>
          <p:nvPr/>
        </p:nvSpPr>
        <p:spPr>
          <a:xfrm>
            <a:off x="3587910" y="2164118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5" name="Google Shape;935;p60"/>
          <p:cNvSpPr/>
          <p:nvPr/>
        </p:nvSpPr>
        <p:spPr>
          <a:xfrm>
            <a:off x="3803778" y="1827968"/>
            <a:ext cx="1474200" cy="10422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6" name="Google Shape;936;p60"/>
          <p:cNvSpPr/>
          <p:nvPr/>
        </p:nvSpPr>
        <p:spPr>
          <a:xfrm>
            <a:off x="3927168" y="1958378"/>
            <a:ext cx="274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60"/>
          <p:cNvSpPr/>
          <p:nvPr/>
        </p:nvSpPr>
        <p:spPr>
          <a:xfrm>
            <a:off x="3927168" y="2218928"/>
            <a:ext cx="1227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sz="12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8" name="Google Shape;938;p60"/>
          <p:cNvSpPr/>
          <p:nvPr/>
        </p:nvSpPr>
        <p:spPr>
          <a:xfrm>
            <a:off x="3927168" y="2493248"/>
            <a:ext cx="12273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Integração simples</a:t>
            </a:r>
            <a:endParaRPr sz="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60"/>
          <p:cNvSpPr/>
          <p:nvPr/>
        </p:nvSpPr>
        <p:spPr>
          <a:xfrm>
            <a:off x="5302298" y="2164118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60"/>
          <p:cNvSpPr/>
          <p:nvPr/>
        </p:nvSpPr>
        <p:spPr>
          <a:xfrm>
            <a:off x="5518278" y="1827968"/>
            <a:ext cx="1680000" cy="10422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60"/>
          <p:cNvSpPr/>
          <p:nvPr/>
        </p:nvSpPr>
        <p:spPr>
          <a:xfrm>
            <a:off x="5641668" y="1958378"/>
            <a:ext cx="274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60"/>
          <p:cNvSpPr/>
          <p:nvPr/>
        </p:nvSpPr>
        <p:spPr>
          <a:xfrm>
            <a:off x="5641668" y="2218928"/>
            <a:ext cx="1433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MODELOS</a:t>
            </a:r>
            <a:endParaRPr sz="12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60"/>
          <p:cNvSpPr/>
          <p:nvPr/>
        </p:nvSpPr>
        <p:spPr>
          <a:xfrm>
            <a:off x="5641668" y="2493248"/>
            <a:ext cx="14334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Catálogo selecionado</a:t>
            </a:r>
            <a:endParaRPr sz="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60"/>
          <p:cNvSpPr/>
          <p:nvPr/>
        </p:nvSpPr>
        <p:spPr>
          <a:xfrm>
            <a:off x="1952113" y="3216313"/>
            <a:ext cx="5246100" cy="6309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152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60"/>
          <p:cNvSpPr/>
          <p:nvPr/>
        </p:nvSpPr>
        <p:spPr>
          <a:xfrm>
            <a:off x="3626653" y="3318078"/>
            <a:ext cx="19131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MAGALU CLOUD</a:t>
            </a:r>
            <a:endParaRPr sz="12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6" name="Google Shape;946;p60"/>
          <p:cNvSpPr/>
          <p:nvPr/>
        </p:nvSpPr>
        <p:spPr>
          <a:xfrm>
            <a:off x="3626653" y="3592398"/>
            <a:ext cx="19131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Runtime + infraestrutura GPU</a:t>
            </a:r>
            <a:endParaRPr sz="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60"/>
          <p:cNvSpPr/>
          <p:nvPr/>
        </p:nvSpPr>
        <p:spPr>
          <a:xfrm>
            <a:off x="1238250" y="4229035"/>
            <a:ext cx="1371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ESCOLHA.</a:t>
            </a:r>
            <a:endParaRPr sz="1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60"/>
          <p:cNvSpPr/>
          <p:nvPr/>
        </p:nvSpPr>
        <p:spPr>
          <a:xfrm>
            <a:off x="3864810" y="4229035"/>
            <a:ext cx="1371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INTEGRE.</a:t>
            </a:r>
            <a:endParaRPr sz="1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60"/>
          <p:cNvSpPr/>
          <p:nvPr/>
        </p:nvSpPr>
        <p:spPr>
          <a:xfrm>
            <a:off x="6656070" y="4229035"/>
            <a:ext cx="1371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USE.</a:t>
            </a:r>
            <a:endParaRPr sz="17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0" name="Google Shape;950;p60"/>
          <p:cNvSpPr/>
          <p:nvPr/>
        </p:nvSpPr>
        <p:spPr>
          <a:xfrm>
            <a:off x="1238250" y="4570465"/>
            <a:ext cx="692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Sem provisionar GPUs. Sem configurar runtimes. Sem transformar seu time de produto em time de infraestrutura.</a:t>
            </a:r>
            <a:endParaRPr sz="11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60"/>
          <p:cNvSpPr/>
          <p:nvPr/>
        </p:nvSpPr>
        <p:spPr>
          <a:xfrm rot="5400000">
            <a:off x="4487391" y="2899429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60"/>
          <p:cNvSpPr/>
          <p:nvPr/>
        </p:nvSpPr>
        <p:spPr>
          <a:xfrm rot="5400000">
            <a:off x="2662016" y="2899379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60"/>
          <p:cNvSpPr/>
          <p:nvPr/>
        </p:nvSpPr>
        <p:spPr>
          <a:xfrm rot="5400000">
            <a:off x="6262441" y="2899379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54" name="Google Shape;954;p60"/>
          <p:cNvGrpSpPr/>
          <p:nvPr/>
        </p:nvGrpSpPr>
        <p:grpSpPr>
          <a:xfrm>
            <a:off x="7395056" y="599705"/>
            <a:ext cx="2806053" cy="393583"/>
            <a:chOff x="2705204" y="3426054"/>
            <a:chExt cx="4969983" cy="697100"/>
          </a:xfrm>
        </p:grpSpPr>
        <p:pic>
          <p:nvPicPr>
            <p:cNvPr id="955" name="Google Shape;955;p60" title="AI Hu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6" name="Google Shape;956;p60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61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1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4" name="Google Shape;964;p61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1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61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7" name="Google Shape;967;p61"/>
          <p:cNvSpPr/>
          <p:nvPr/>
        </p:nvSpPr>
        <p:spPr>
          <a:xfrm>
            <a:off x="1180825" y="1307604"/>
            <a:ext cx="106500" cy="2815500"/>
          </a:xfrm>
          <a:prstGeom prst="rect">
            <a:avLst/>
          </a:prstGeom>
          <a:solidFill>
            <a:srgbClr val="0086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1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pic>
        <p:nvPicPr>
          <p:cNvPr id="969" name="Google Shape;969;p61" title="AI Hu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0804" y="3426054"/>
            <a:ext cx="697100" cy="6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61"/>
          <p:cNvSpPr/>
          <p:nvPr/>
        </p:nvSpPr>
        <p:spPr>
          <a:xfrm>
            <a:off x="2646288" y="3552275"/>
            <a:ext cx="4114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MGC AI Hub</a:t>
            </a:r>
            <a:endParaRPr sz="2400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1790805" y="1191700"/>
            <a:ext cx="4937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 que eu preciso ?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61"/>
          <p:cNvSpPr/>
          <p:nvPr/>
        </p:nvSpPr>
        <p:spPr>
          <a:xfrm>
            <a:off x="1790800" y="1671750"/>
            <a:ext cx="6438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https://api.inferencia.llm.mglu.io/v1</a:t>
            </a:r>
            <a:endParaRPr sz="2400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1790800" y="2256750"/>
            <a:ext cx="29145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API KEY : </a:t>
            </a:r>
            <a:r>
              <a:rPr i="1" lang="pt-BR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mgc-xky****</a:t>
            </a:r>
            <a:endParaRPr i="1" sz="1000">
              <a:solidFill>
                <a:srgbClr val="464D5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62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2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1" name="Google Shape;981;p62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62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2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62"/>
          <p:cNvSpPr txBox="1"/>
          <p:nvPr>
            <p:ph idx="12" type="sldNum"/>
          </p:nvPr>
        </p:nvSpPr>
        <p:spPr>
          <a:xfrm>
            <a:off x="83178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sp>
        <p:nvSpPr>
          <p:cNvPr id="985" name="Google Shape;985;p62"/>
          <p:cNvSpPr/>
          <p:nvPr/>
        </p:nvSpPr>
        <p:spPr>
          <a:xfrm>
            <a:off x="537125" y="743820"/>
            <a:ext cx="3291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8FF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RESPOSTA</a:t>
            </a:r>
            <a:endParaRPr sz="8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62"/>
          <p:cNvSpPr/>
          <p:nvPr/>
        </p:nvSpPr>
        <p:spPr>
          <a:xfrm>
            <a:off x="537143" y="990600"/>
            <a:ext cx="4643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BFF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 ESCOLHA 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BFF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 MODELO </a:t>
            </a:r>
            <a:r>
              <a:rPr b="1" lang="pt-B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À API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62"/>
          <p:cNvSpPr/>
          <p:nvPr/>
        </p:nvSpPr>
        <p:spPr>
          <a:xfrm>
            <a:off x="212874" y="2036402"/>
            <a:ext cx="285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62"/>
          <p:cNvSpPr/>
          <p:nvPr/>
        </p:nvSpPr>
        <p:spPr>
          <a:xfrm>
            <a:off x="508149" y="2803881"/>
            <a:ext cx="278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ESCOLHA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62"/>
          <p:cNvSpPr/>
          <p:nvPr/>
        </p:nvSpPr>
        <p:spPr>
          <a:xfrm>
            <a:off x="508149" y="3061056"/>
            <a:ext cx="29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Encontre o modelo para sua solução.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0" name="Google Shape;990;p62"/>
          <p:cNvCxnSpPr/>
          <p:nvPr/>
        </p:nvCxnSpPr>
        <p:spPr>
          <a:xfrm>
            <a:off x="508149" y="2543175"/>
            <a:ext cx="2543100" cy="0"/>
          </a:xfrm>
          <a:prstGeom prst="straightConnector1">
            <a:avLst/>
          </a:prstGeom>
          <a:noFill/>
          <a:ln cap="flat" cmpd="sng" w="7150">
            <a:solidFill>
              <a:srgbClr val="2431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1" name="Google Shape;991;p62"/>
          <p:cNvSpPr/>
          <p:nvPr/>
        </p:nvSpPr>
        <p:spPr>
          <a:xfrm>
            <a:off x="212874" y="2807927"/>
            <a:ext cx="285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62"/>
          <p:cNvSpPr/>
          <p:nvPr/>
        </p:nvSpPr>
        <p:spPr>
          <a:xfrm>
            <a:off x="489295" y="2009694"/>
            <a:ext cx="278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GERE SEU ACESSO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62"/>
          <p:cNvSpPr/>
          <p:nvPr/>
        </p:nvSpPr>
        <p:spPr>
          <a:xfrm>
            <a:off x="489295" y="2266869"/>
            <a:ext cx="29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Crie uma API key para começar.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4" name="Google Shape;994;p62"/>
          <p:cNvCxnSpPr/>
          <p:nvPr/>
        </p:nvCxnSpPr>
        <p:spPr>
          <a:xfrm>
            <a:off x="508149" y="3314700"/>
            <a:ext cx="2543100" cy="0"/>
          </a:xfrm>
          <a:prstGeom prst="straightConnector1">
            <a:avLst/>
          </a:prstGeom>
          <a:noFill/>
          <a:ln cap="flat" cmpd="sng" w="7150">
            <a:solidFill>
              <a:srgbClr val="2431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" name="Google Shape;995;p62"/>
          <p:cNvSpPr/>
          <p:nvPr/>
        </p:nvSpPr>
        <p:spPr>
          <a:xfrm>
            <a:off x="212874" y="3579452"/>
            <a:ext cx="285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62"/>
          <p:cNvSpPr/>
          <p:nvPr/>
        </p:nvSpPr>
        <p:spPr>
          <a:xfrm>
            <a:off x="508149" y="3521869"/>
            <a:ext cx="278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INTEGRE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62"/>
          <p:cNvSpPr/>
          <p:nvPr/>
        </p:nvSpPr>
        <p:spPr>
          <a:xfrm>
            <a:off x="508149" y="3779044"/>
            <a:ext cx="29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Consuma inferência via API.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8" name="Google Shape;998;p62"/>
          <p:cNvCxnSpPr/>
          <p:nvPr/>
        </p:nvCxnSpPr>
        <p:spPr>
          <a:xfrm>
            <a:off x="508149" y="4086225"/>
            <a:ext cx="2543100" cy="0"/>
          </a:xfrm>
          <a:prstGeom prst="straightConnector1">
            <a:avLst/>
          </a:prstGeom>
          <a:noFill/>
          <a:ln cap="flat" cmpd="sng" w="7150">
            <a:solidFill>
              <a:srgbClr val="2431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62"/>
          <p:cNvSpPr/>
          <p:nvPr/>
        </p:nvSpPr>
        <p:spPr>
          <a:xfrm>
            <a:off x="3428925" y="990600"/>
            <a:ext cx="5598000" cy="3788700"/>
          </a:xfrm>
          <a:prstGeom prst="roundRect">
            <a:avLst>
              <a:gd fmla="val 5714" name="adj"/>
            </a:avLst>
          </a:prstGeom>
          <a:solidFill>
            <a:srgbClr val="0B1225"/>
          </a:solidFill>
          <a:ln cap="flat" cmpd="sng" w="14300">
            <a:solidFill>
              <a:srgbClr val="00B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0" name="Google Shape;1000;p62" title="AI Hub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1375" y="1055275"/>
            <a:ext cx="5405825" cy="3667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1" name="Google Shape;1001;p62"/>
          <p:cNvGrpSpPr/>
          <p:nvPr/>
        </p:nvGrpSpPr>
        <p:grpSpPr>
          <a:xfrm>
            <a:off x="7395056" y="599705"/>
            <a:ext cx="2806053" cy="393583"/>
            <a:chOff x="2705204" y="3426054"/>
            <a:chExt cx="4969983" cy="697100"/>
          </a:xfrm>
        </p:grpSpPr>
        <p:pic>
          <p:nvPicPr>
            <p:cNvPr id="1002" name="Google Shape;1002;p62" title="AI Hub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62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3"/>
          <p:cNvSpPr/>
          <p:nvPr/>
        </p:nvSpPr>
        <p:spPr>
          <a:xfrm>
            <a:off x="6755340" y="1689900"/>
            <a:ext cx="2051100" cy="29880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9" name="Google Shape;1009;p63"/>
          <p:cNvSpPr/>
          <p:nvPr/>
        </p:nvSpPr>
        <p:spPr>
          <a:xfrm>
            <a:off x="4667550" y="1689900"/>
            <a:ext cx="1619100" cy="29880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0" name="Google Shape;1010;p63"/>
          <p:cNvSpPr/>
          <p:nvPr/>
        </p:nvSpPr>
        <p:spPr>
          <a:xfrm>
            <a:off x="2358582" y="1689900"/>
            <a:ext cx="2188800" cy="29880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1" name="Google Shape;1011;p63"/>
          <p:cNvSpPr/>
          <p:nvPr/>
        </p:nvSpPr>
        <p:spPr>
          <a:xfrm>
            <a:off x="400350" y="1689900"/>
            <a:ext cx="1838700" cy="29880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2" name="Google Shape;10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63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3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5" name="Google Shape;1015;p63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63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63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8" name="Google Shape;1018;p63"/>
          <p:cNvSpPr txBox="1"/>
          <p:nvPr>
            <p:ph idx="12" type="sldNum"/>
          </p:nvPr>
        </p:nvSpPr>
        <p:spPr>
          <a:xfrm>
            <a:off x="83940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sp>
        <p:nvSpPr>
          <p:cNvPr id="1019" name="Google Shape;1019;p63"/>
          <p:cNvSpPr/>
          <p:nvPr/>
        </p:nvSpPr>
        <p:spPr>
          <a:xfrm>
            <a:off x="493850" y="591920"/>
            <a:ext cx="6471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MARKETPLACE DE 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63"/>
          <p:cNvSpPr/>
          <p:nvPr/>
        </p:nvSpPr>
        <p:spPr>
          <a:xfrm>
            <a:off x="493850" y="1032750"/>
            <a:ext cx="5182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MODELOS DE INFERÊNCIA</a:t>
            </a:r>
            <a:endParaRPr sz="2800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63"/>
          <p:cNvSpPr txBox="1"/>
          <p:nvPr/>
        </p:nvSpPr>
        <p:spPr>
          <a:xfrm>
            <a:off x="504251" y="1767525"/>
            <a:ext cx="950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7F2"/>
              </a:buClr>
              <a:buSzPts val="1047"/>
              <a:buFont typeface="Arial"/>
              <a:buNone/>
            </a:pPr>
            <a:r>
              <a:rPr b="1" i="0" lang="pt-BR" sz="104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047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3"/>
          <p:cNvSpPr txBox="1"/>
          <p:nvPr/>
        </p:nvSpPr>
        <p:spPr>
          <a:xfrm>
            <a:off x="2467647" y="1772292"/>
            <a:ext cx="1224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7F2"/>
              </a:buClr>
              <a:buSzPts val="1047"/>
              <a:buFont typeface="Arial"/>
              <a:buNone/>
            </a:pPr>
            <a:r>
              <a:rPr b="1" i="0" lang="pt-BR" sz="104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INTERMEDIÁRIO</a:t>
            </a:r>
            <a:endParaRPr b="0" i="0" sz="1047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63"/>
          <p:cNvSpPr txBox="1"/>
          <p:nvPr/>
        </p:nvSpPr>
        <p:spPr>
          <a:xfrm>
            <a:off x="4758806" y="1767525"/>
            <a:ext cx="917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7F2"/>
              </a:buClr>
              <a:buSzPts val="1047"/>
              <a:buFont typeface="Arial"/>
              <a:buNone/>
            </a:pPr>
            <a:r>
              <a:rPr b="1" i="0" lang="pt-BR" sz="104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FRONTEIRA</a:t>
            </a:r>
            <a:endParaRPr b="0" i="0" sz="1047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63"/>
          <p:cNvSpPr txBox="1"/>
          <p:nvPr/>
        </p:nvSpPr>
        <p:spPr>
          <a:xfrm>
            <a:off x="6846594" y="1767525"/>
            <a:ext cx="1558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7F2"/>
              </a:buClr>
              <a:buSzPts val="1047"/>
              <a:buFont typeface="Arial"/>
              <a:buNone/>
            </a:pPr>
            <a:r>
              <a:rPr b="1" lang="pt-BR" sz="1047">
                <a:solidFill>
                  <a:schemeClr val="accent1"/>
                </a:solidFill>
              </a:rPr>
              <a:t>CASES / SOLUÇÕES</a:t>
            </a:r>
            <a:endParaRPr b="0" i="0" sz="1047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3"/>
          <p:cNvSpPr txBox="1"/>
          <p:nvPr/>
        </p:nvSpPr>
        <p:spPr>
          <a:xfrm>
            <a:off x="6766052" y="2099542"/>
            <a:ext cx="3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💬</a:t>
            </a:r>
            <a:endParaRPr/>
          </a:p>
        </p:txBody>
      </p:sp>
      <p:sp>
        <p:nvSpPr>
          <p:cNvPr id="1026" name="Google Shape;1026;p63"/>
          <p:cNvSpPr txBox="1"/>
          <p:nvPr/>
        </p:nvSpPr>
        <p:spPr>
          <a:xfrm>
            <a:off x="7030490" y="2036625"/>
            <a:ext cx="1738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Assistentes e Copilotos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(Conversas e suporte)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3"/>
          <p:cNvSpPr txBox="1"/>
          <p:nvPr/>
        </p:nvSpPr>
        <p:spPr>
          <a:xfrm>
            <a:off x="6766040" y="2575472"/>
            <a:ext cx="3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⛁</a:t>
            </a:r>
            <a:endParaRPr sz="1800"/>
          </a:p>
        </p:txBody>
      </p:sp>
      <p:sp>
        <p:nvSpPr>
          <p:cNvPr id="1028" name="Google Shape;1028;p63"/>
          <p:cNvSpPr txBox="1"/>
          <p:nvPr/>
        </p:nvSpPr>
        <p:spPr>
          <a:xfrm>
            <a:off x="7030490" y="2570025"/>
            <a:ext cx="1738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RAG e Conhecimento</a:t>
            </a:r>
            <a:b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(Respostas com contexto)</a:t>
            </a:r>
            <a:endParaRPr/>
          </a:p>
        </p:txBody>
      </p:sp>
      <p:sp>
        <p:nvSpPr>
          <p:cNvPr id="1029" name="Google Shape;1029;p63"/>
          <p:cNvSpPr txBox="1"/>
          <p:nvPr/>
        </p:nvSpPr>
        <p:spPr>
          <a:xfrm>
            <a:off x="6766040" y="3131842"/>
            <a:ext cx="35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📝</a:t>
            </a:r>
            <a:endParaRPr/>
          </a:p>
        </p:txBody>
      </p:sp>
      <p:sp>
        <p:nvSpPr>
          <p:cNvPr id="1030" name="Google Shape;1030;p63"/>
          <p:cNvSpPr txBox="1"/>
          <p:nvPr/>
        </p:nvSpPr>
        <p:spPr>
          <a:xfrm>
            <a:off x="7030490" y="3103425"/>
            <a:ext cx="1738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Documentos 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(resumo e extração)</a:t>
            </a:r>
            <a:endParaRPr/>
          </a:p>
        </p:txBody>
      </p:sp>
      <p:sp>
        <p:nvSpPr>
          <p:cNvPr id="1031" name="Google Shape;1031;p63"/>
          <p:cNvSpPr txBox="1"/>
          <p:nvPr/>
        </p:nvSpPr>
        <p:spPr>
          <a:xfrm>
            <a:off x="7030490" y="3636825"/>
            <a:ext cx="1738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Automação 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(IA dentro dos fluxos)</a:t>
            </a:r>
            <a:endParaRPr/>
          </a:p>
        </p:txBody>
      </p:sp>
      <p:sp>
        <p:nvSpPr>
          <p:cNvPr id="1032" name="Google Shape;1032;p63"/>
          <p:cNvSpPr txBox="1"/>
          <p:nvPr/>
        </p:nvSpPr>
        <p:spPr>
          <a:xfrm>
            <a:off x="6764097" y="3692052"/>
            <a:ext cx="3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⚙️</a:t>
            </a:r>
            <a:endParaRPr/>
          </a:p>
        </p:txBody>
      </p:sp>
      <p:sp>
        <p:nvSpPr>
          <p:cNvPr id="1033" name="Google Shape;1033;p63"/>
          <p:cNvSpPr txBox="1"/>
          <p:nvPr/>
        </p:nvSpPr>
        <p:spPr>
          <a:xfrm>
            <a:off x="6755115" y="4201233"/>
            <a:ext cx="35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♫</a:t>
            </a:r>
            <a:endParaRPr sz="1600"/>
          </a:p>
        </p:txBody>
      </p:sp>
      <p:sp>
        <p:nvSpPr>
          <p:cNvPr id="1034" name="Google Shape;1034;p63"/>
          <p:cNvSpPr txBox="1"/>
          <p:nvPr/>
        </p:nvSpPr>
        <p:spPr>
          <a:xfrm>
            <a:off x="7030490" y="4170225"/>
            <a:ext cx="1738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Transcrição de Áudio (STT)</a:t>
            </a: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Multilingue</a:t>
            </a:r>
            <a:endParaRPr/>
          </a:p>
        </p:txBody>
      </p:sp>
      <p:sp>
        <p:nvSpPr>
          <p:cNvPr id="1035" name="Google Shape;1035;p63"/>
          <p:cNvSpPr/>
          <p:nvPr/>
        </p:nvSpPr>
        <p:spPr>
          <a:xfrm>
            <a:off x="6393650" y="2138280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6" name="Google Shape;1036;p63"/>
          <p:cNvSpPr/>
          <p:nvPr/>
        </p:nvSpPr>
        <p:spPr>
          <a:xfrm>
            <a:off x="6393650" y="2671680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63"/>
          <p:cNvSpPr/>
          <p:nvPr/>
        </p:nvSpPr>
        <p:spPr>
          <a:xfrm>
            <a:off x="6393650" y="3205080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63"/>
          <p:cNvSpPr/>
          <p:nvPr/>
        </p:nvSpPr>
        <p:spPr>
          <a:xfrm>
            <a:off x="6393650" y="3738480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63"/>
          <p:cNvSpPr/>
          <p:nvPr/>
        </p:nvSpPr>
        <p:spPr>
          <a:xfrm>
            <a:off x="6393650" y="4271880"/>
            <a:ext cx="191700" cy="287700"/>
          </a:xfrm>
          <a:prstGeom prst="chevron">
            <a:avLst>
              <a:gd fmla="val 50000" name="adj"/>
            </a:avLst>
          </a:prstGeom>
          <a:solidFill>
            <a:srgbClr val="0086FF"/>
          </a:solidFill>
          <a:ln cap="flat" cmpd="sng" w="9525">
            <a:solidFill>
              <a:srgbClr val="008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16D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tmp/claude-0/-home-claude/35c5d594-c183-5b70-889c-4920228d2cc5/scratchpad/slide/badge_meta.png" id="1040" name="Google Shape;1040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1" y="4266641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63"/>
          <p:cNvSpPr txBox="1"/>
          <p:nvPr/>
        </p:nvSpPr>
        <p:spPr>
          <a:xfrm>
            <a:off x="824703" y="4232400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Llama-3.1-8B-Instruct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qwen.png" id="1042" name="Google Shape;1042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251" y="2384378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63"/>
          <p:cNvSpPr txBox="1"/>
          <p:nvPr/>
        </p:nvSpPr>
        <p:spPr>
          <a:xfrm>
            <a:off x="824703" y="2350125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Qwen3-8B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qwen.png" id="1044" name="Google Shape;1044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251" y="2698969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3"/>
          <p:cNvSpPr txBox="1"/>
          <p:nvPr/>
        </p:nvSpPr>
        <p:spPr>
          <a:xfrm>
            <a:off x="824703" y="2664725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Qwen3-Embedding-8B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qwen.png" id="1046" name="Google Shape;1046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251" y="3013556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63"/>
          <p:cNvSpPr txBox="1"/>
          <p:nvPr/>
        </p:nvSpPr>
        <p:spPr>
          <a:xfrm>
            <a:off x="824704" y="2979300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Qwen3-Reranker-8B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baai.png" id="1048" name="Google Shape;1048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251" y="3322222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63"/>
          <p:cNvSpPr txBox="1"/>
          <p:nvPr/>
        </p:nvSpPr>
        <p:spPr>
          <a:xfrm>
            <a:off x="824703" y="3287975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bge-reranker-v2-m3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nomic.png" id="1050" name="Google Shape;1050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4251" y="3644968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63"/>
          <p:cNvSpPr txBox="1"/>
          <p:nvPr/>
        </p:nvSpPr>
        <p:spPr>
          <a:xfrm>
            <a:off x="824703" y="3610725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nomic-embed-text-v1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google.png" id="1052" name="Google Shape;1052;p6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4251" y="3954195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63"/>
          <p:cNvSpPr txBox="1"/>
          <p:nvPr/>
        </p:nvSpPr>
        <p:spPr>
          <a:xfrm>
            <a:off x="824703" y="3919950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gemma-4-E4B-it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3"/>
          <p:cNvSpPr txBox="1"/>
          <p:nvPr/>
        </p:nvSpPr>
        <p:spPr>
          <a:xfrm>
            <a:off x="824703" y="2043525"/>
            <a:ext cx="1297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Sabiazinho-4 </a:t>
            </a:r>
            <a:r>
              <a:rPr b="1"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🇧🇷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5" name="Google Shape;1055;p63" title="sabia v2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3727" y="2087259"/>
            <a:ext cx="227250" cy="22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35c5d594-c183-5b70-889c-4920228d2cc5/scratchpad/slide/badge_qwen.png" id="1056" name="Google Shape;1056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67406" y="2384378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63"/>
          <p:cNvSpPr txBox="1"/>
          <p:nvPr/>
        </p:nvSpPr>
        <p:spPr>
          <a:xfrm>
            <a:off x="2787857" y="2350125"/>
            <a:ext cx="7515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Qwen3.5-9B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qwen.png" id="1058" name="Google Shape;1058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67406" y="2698969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63"/>
          <p:cNvSpPr txBox="1"/>
          <p:nvPr/>
        </p:nvSpPr>
        <p:spPr>
          <a:xfrm>
            <a:off x="2787857" y="2664725"/>
            <a:ext cx="8046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Qwen3.6-27B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qwen.png" id="1060" name="Google Shape;1060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67406" y="3013556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3"/>
          <p:cNvSpPr txBox="1"/>
          <p:nvPr/>
        </p:nvSpPr>
        <p:spPr>
          <a:xfrm>
            <a:off x="2787857" y="2979300"/>
            <a:ext cx="8046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Qwen3.8-27B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google.png" id="1062" name="Google Shape;1062;p6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67406" y="3954195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3"/>
          <p:cNvSpPr txBox="1"/>
          <p:nvPr/>
        </p:nvSpPr>
        <p:spPr>
          <a:xfrm>
            <a:off x="2787857" y="3919950"/>
            <a:ext cx="9504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gemma-4-12B-it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35c5d594-c183-5b70-889c-4920228d2cc5/scratchpad/slide/badge_google.png" id="1064" name="Google Shape;1064;p6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67406" y="4266641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63"/>
          <p:cNvSpPr txBox="1"/>
          <p:nvPr/>
        </p:nvSpPr>
        <p:spPr>
          <a:xfrm>
            <a:off x="2787857" y="4232400"/>
            <a:ext cx="11088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medgemma-27b-it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3"/>
          <p:cNvSpPr txBox="1"/>
          <p:nvPr/>
        </p:nvSpPr>
        <p:spPr>
          <a:xfrm>
            <a:off x="2773678" y="3287975"/>
            <a:ext cx="11088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Deepseek-v4-flash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7" name="Google Shape;1067;p63" title="deepseek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80033" y="3331684"/>
            <a:ext cx="227250" cy="227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35c5d594-c183-5b70-889c-4920228d2cc5/scratchpad/slide/badge_meta.png" id="1068" name="Google Shape;1068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67384" y="3644968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63"/>
          <p:cNvSpPr txBox="1"/>
          <p:nvPr/>
        </p:nvSpPr>
        <p:spPr>
          <a:xfrm>
            <a:off x="2787833" y="3610725"/>
            <a:ext cx="16962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Llama-3.3-70B-Instruct-FP8</a:t>
            </a:r>
            <a:endParaRPr b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63"/>
          <p:cNvSpPr txBox="1"/>
          <p:nvPr/>
        </p:nvSpPr>
        <p:spPr>
          <a:xfrm>
            <a:off x="2782773" y="2043525"/>
            <a:ext cx="6417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Sabia-4 </a:t>
            </a:r>
            <a:r>
              <a:rPr b="1"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🇧🇷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1" name="Google Shape;1071;p63" title="sabia v2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71800" y="2087259"/>
            <a:ext cx="227250" cy="22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35c5d594-c183-5b70-889c-4920228d2cc5/scratchpad/slide/badge_qwen.png" id="1072" name="Google Shape;1072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88542" y="2698969"/>
            <a:ext cx="246202" cy="24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63"/>
          <p:cNvSpPr txBox="1"/>
          <p:nvPr/>
        </p:nvSpPr>
        <p:spPr>
          <a:xfrm>
            <a:off x="5110377" y="2664725"/>
            <a:ext cx="8607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Qwen-3.8-max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3"/>
          <p:cNvSpPr txBox="1"/>
          <p:nvPr/>
        </p:nvSpPr>
        <p:spPr>
          <a:xfrm>
            <a:off x="5110377" y="2350125"/>
            <a:ext cx="10137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Deepseek-v4-pro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5" name="Google Shape;1075;p63" title="deepseek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98009" y="2393839"/>
            <a:ext cx="227250" cy="2272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63"/>
          <p:cNvSpPr txBox="1"/>
          <p:nvPr/>
        </p:nvSpPr>
        <p:spPr>
          <a:xfrm>
            <a:off x="5110375" y="2043525"/>
            <a:ext cx="1163700" cy="3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Sabia-4-Thinking </a:t>
            </a:r>
            <a:r>
              <a:rPr b="1"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🇧🇷</a:t>
            </a:r>
            <a:endParaRPr b="1" sz="9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7" name="Google Shape;1077;p63" title="sabia v2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95386" y="2087259"/>
            <a:ext cx="227250" cy="227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8" name="Google Shape;1078;p63"/>
          <p:cNvGrpSpPr/>
          <p:nvPr/>
        </p:nvGrpSpPr>
        <p:grpSpPr>
          <a:xfrm>
            <a:off x="7395056" y="599705"/>
            <a:ext cx="2806053" cy="393583"/>
            <a:chOff x="2705204" y="3426054"/>
            <a:chExt cx="4969983" cy="697100"/>
          </a:xfrm>
        </p:grpSpPr>
        <p:pic>
          <p:nvPicPr>
            <p:cNvPr id="1079" name="Google Shape;1079;p63" title="AI Hub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0" name="Google Shape;1080;p63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64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4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8" name="Google Shape;1088;p64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64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64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1" name="Google Shape;1091;p64"/>
          <p:cNvGrpSpPr/>
          <p:nvPr/>
        </p:nvGrpSpPr>
        <p:grpSpPr>
          <a:xfrm>
            <a:off x="7395056" y="599705"/>
            <a:ext cx="2806053" cy="393583"/>
            <a:chOff x="2705204" y="3426054"/>
            <a:chExt cx="4969983" cy="697100"/>
          </a:xfrm>
        </p:grpSpPr>
        <p:pic>
          <p:nvPicPr>
            <p:cNvPr id="1092" name="Google Shape;1092;p64" title="AI Hu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64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94" name="Google Shape;1094;p64"/>
          <p:cNvSpPr/>
          <p:nvPr/>
        </p:nvSpPr>
        <p:spPr>
          <a:xfrm>
            <a:off x="502990" y="1890188"/>
            <a:ext cx="411600" cy="411600"/>
          </a:xfrm>
          <a:prstGeom prst="ellipse">
            <a:avLst/>
          </a:prstGeom>
          <a:solidFill>
            <a:srgbClr val="0288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64"/>
          <p:cNvSpPr/>
          <p:nvPr/>
        </p:nvSpPr>
        <p:spPr>
          <a:xfrm>
            <a:off x="502990" y="189018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6" name="Google Shape;1096;p64"/>
          <p:cNvSpPr/>
          <p:nvPr/>
        </p:nvSpPr>
        <p:spPr>
          <a:xfrm>
            <a:off x="1005899" y="193815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Redução de Custos</a:t>
            </a:r>
            <a:endParaRPr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7" name="Google Shape;1097;p64"/>
          <p:cNvSpPr/>
          <p:nvPr/>
        </p:nvSpPr>
        <p:spPr>
          <a:xfrm>
            <a:off x="503000" y="2377875"/>
            <a:ext cx="2514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Automatize tarefas repetitivas e reduza necessidade de mão de obra operacional em até 40%.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8" name="Google Shape;1098;p64"/>
          <p:cNvSpPr txBox="1"/>
          <p:nvPr>
            <p:ph idx="12" type="sldNum"/>
          </p:nvPr>
        </p:nvSpPr>
        <p:spPr>
          <a:xfrm>
            <a:off x="83940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sp>
        <p:nvSpPr>
          <p:cNvPr id="1099" name="Google Shape;1099;p64"/>
          <p:cNvSpPr/>
          <p:nvPr/>
        </p:nvSpPr>
        <p:spPr>
          <a:xfrm>
            <a:off x="400350" y="17661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0" name="Google Shape;1100;p64"/>
          <p:cNvSpPr/>
          <p:nvPr/>
        </p:nvSpPr>
        <p:spPr>
          <a:xfrm>
            <a:off x="3235100" y="17661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1" name="Google Shape;1101;p64"/>
          <p:cNvSpPr/>
          <p:nvPr/>
        </p:nvSpPr>
        <p:spPr>
          <a:xfrm>
            <a:off x="6069850" y="17661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64"/>
          <p:cNvSpPr/>
          <p:nvPr/>
        </p:nvSpPr>
        <p:spPr>
          <a:xfrm>
            <a:off x="400350" y="32139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3235100" y="32139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64"/>
          <p:cNvSpPr/>
          <p:nvPr/>
        </p:nvSpPr>
        <p:spPr>
          <a:xfrm>
            <a:off x="6069850" y="3213900"/>
            <a:ext cx="2680200" cy="12963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64"/>
          <p:cNvSpPr/>
          <p:nvPr/>
        </p:nvSpPr>
        <p:spPr>
          <a:xfrm>
            <a:off x="493850" y="591920"/>
            <a:ext cx="6471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Você SAB </a:t>
            </a:r>
            <a:r>
              <a:rPr b="1" lang="pt-BR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IA</a:t>
            </a: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493850" y="1032750"/>
            <a:ext cx="8256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2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Por que sua empresa deveria usar LLMs?</a:t>
            </a:r>
            <a:endParaRPr b="1" sz="28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64"/>
          <p:cNvSpPr/>
          <p:nvPr/>
        </p:nvSpPr>
        <p:spPr>
          <a:xfrm>
            <a:off x="3350935" y="1890188"/>
            <a:ext cx="411600" cy="4116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64"/>
          <p:cNvSpPr/>
          <p:nvPr/>
        </p:nvSpPr>
        <p:spPr>
          <a:xfrm>
            <a:off x="3350935" y="189018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64"/>
          <p:cNvSpPr/>
          <p:nvPr/>
        </p:nvSpPr>
        <p:spPr>
          <a:xfrm>
            <a:off x="3853855" y="1937289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Velocidade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64"/>
          <p:cNvSpPr/>
          <p:nvPr/>
        </p:nvSpPr>
        <p:spPr>
          <a:xfrm>
            <a:off x="3350924" y="2377873"/>
            <a:ext cx="2514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Respostas em segundos vs. horas. Acelere processos de análise, criação e atendimento.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64"/>
          <p:cNvSpPr/>
          <p:nvPr/>
        </p:nvSpPr>
        <p:spPr>
          <a:xfrm>
            <a:off x="6198855" y="1890188"/>
            <a:ext cx="411600" cy="4116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64"/>
          <p:cNvSpPr/>
          <p:nvPr/>
        </p:nvSpPr>
        <p:spPr>
          <a:xfrm>
            <a:off x="6198855" y="189018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64"/>
          <p:cNvSpPr/>
          <p:nvPr/>
        </p:nvSpPr>
        <p:spPr>
          <a:xfrm>
            <a:off x="6701775" y="1937289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Escala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64"/>
          <p:cNvSpPr/>
          <p:nvPr/>
        </p:nvSpPr>
        <p:spPr>
          <a:xfrm>
            <a:off x="6198850" y="2377873"/>
            <a:ext cx="2457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Atenda milhares de clientes simultaneamente com qualidade consistente.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64"/>
          <p:cNvSpPr/>
          <p:nvPr/>
        </p:nvSpPr>
        <p:spPr>
          <a:xfrm>
            <a:off x="493840" y="3347178"/>
            <a:ext cx="411600" cy="411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64"/>
          <p:cNvSpPr/>
          <p:nvPr/>
        </p:nvSpPr>
        <p:spPr>
          <a:xfrm>
            <a:off x="493840" y="334717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64"/>
          <p:cNvSpPr/>
          <p:nvPr/>
        </p:nvSpPr>
        <p:spPr>
          <a:xfrm>
            <a:off x="996760" y="3394279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Precisão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8" name="Google Shape;1118;p64"/>
          <p:cNvSpPr/>
          <p:nvPr/>
        </p:nvSpPr>
        <p:spPr>
          <a:xfrm>
            <a:off x="493851" y="3834852"/>
            <a:ext cx="2457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Reduza erros humanos em tarefas de processamento de dados e documentos.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9" name="Google Shape;1119;p64"/>
          <p:cNvSpPr/>
          <p:nvPr/>
        </p:nvSpPr>
        <p:spPr>
          <a:xfrm>
            <a:off x="3378748" y="3347178"/>
            <a:ext cx="411600" cy="41160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0" name="Google Shape;1120;p64"/>
          <p:cNvSpPr/>
          <p:nvPr/>
        </p:nvSpPr>
        <p:spPr>
          <a:xfrm>
            <a:off x="3378748" y="334717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64"/>
          <p:cNvSpPr/>
          <p:nvPr/>
        </p:nvSpPr>
        <p:spPr>
          <a:xfrm>
            <a:off x="3881668" y="3394279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Inovação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2" name="Google Shape;1122;p64"/>
          <p:cNvSpPr/>
          <p:nvPr/>
        </p:nvSpPr>
        <p:spPr>
          <a:xfrm>
            <a:off x="3378750" y="3834850"/>
            <a:ext cx="2457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Crie novos produtos e serviços baseados em IA que antes eram inviáveis.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3" name="Google Shape;1123;p64"/>
          <p:cNvSpPr/>
          <p:nvPr/>
        </p:nvSpPr>
        <p:spPr>
          <a:xfrm>
            <a:off x="6198855" y="3347178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64"/>
          <p:cNvSpPr/>
          <p:nvPr/>
        </p:nvSpPr>
        <p:spPr>
          <a:xfrm>
            <a:off x="6198855" y="334717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5" name="Google Shape;1125;p64"/>
          <p:cNvSpPr/>
          <p:nvPr/>
        </p:nvSpPr>
        <p:spPr>
          <a:xfrm>
            <a:off x="6701775" y="3394279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Competitividade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6" name="Google Shape;1126;p64"/>
          <p:cNvSpPr/>
          <p:nvPr/>
        </p:nvSpPr>
        <p:spPr>
          <a:xfrm>
            <a:off x="6198850" y="3834852"/>
            <a:ext cx="2514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Empresas que adotam IA generativa ganham vantagem estratégica no mercado.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7" name="Google Shape;1127;p64"/>
          <p:cNvSpPr/>
          <p:nvPr/>
        </p:nvSpPr>
        <p:spPr>
          <a:xfrm>
            <a:off x="528515" y="1903263"/>
            <a:ext cx="411600" cy="411600"/>
          </a:xfrm>
          <a:prstGeom prst="ellipse">
            <a:avLst/>
          </a:prstGeom>
          <a:solidFill>
            <a:srgbClr val="0288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8" name="Google Shape;1128;p64"/>
          <p:cNvSpPr/>
          <p:nvPr/>
        </p:nvSpPr>
        <p:spPr>
          <a:xfrm>
            <a:off x="528515" y="1903263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9" name="Google Shape;1129;p64"/>
          <p:cNvSpPr/>
          <p:nvPr/>
        </p:nvSpPr>
        <p:spPr>
          <a:xfrm>
            <a:off x="1031423" y="1950377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5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Redução de Custos</a:t>
            </a:r>
            <a:endParaRPr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0" name="Google Shape;1130;p64"/>
          <p:cNvSpPr/>
          <p:nvPr/>
        </p:nvSpPr>
        <p:spPr>
          <a:xfrm>
            <a:off x="528526" y="2390948"/>
            <a:ext cx="2457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607D8B"/>
                </a:solidFill>
                <a:latin typeface="Montserrat"/>
                <a:ea typeface="Montserrat"/>
                <a:cs typeface="Montserrat"/>
                <a:sym typeface="Montserrat"/>
              </a:rPr>
              <a:t>Automatize tarefas repetitivas e reduza necessidade de mão de obra operacional em até 40%.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65"/>
          <p:cNvSpPr/>
          <p:nvPr/>
        </p:nvSpPr>
        <p:spPr>
          <a:xfrm>
            <a:off x="6076325" y="3186400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6" name="Google Shape;1136;p65"/>
          <p:cNvSpPr/>
          <p:nvPr/>
        </p:nvSpPr>
        <p:spPr>
          <a:xfrm>
            <a:off x="6076325" y="1260225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7" name="Google Shape;1137;p65"/>
          <p:cNvSpPr/>
          <p:nvPr/>
        </p:nvSpPr>
        <p:spPr>
          <a:xfrm>
            <a:off x="3256925" y="3186400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65"/>
          <p:cNvSpPr/>
          <p:nvPr/>
        </p:nvSpPr>
        <p:spPr>
          <a:xfrm>
            <a:off x="3256925" y="1260225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9" name="Google Shape;1139;p65"/>
          <p:cNvSpPr/>
          <p:nvPr/>
        </p:nvSpPr>
        <p:spPr>
          <a:xfrm>
            <a:off x="437525" y="3186400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65"/>
          <p:cNvSpPr/>
          <p:nvPr/>
        </p:nvSpPr>
        <p:spPr>
          <a:xfrm>
            <a:off x="437525" y="1260225"/>
            <a:ext cx="2606100" cy="1692600"/>
          </a:xfrm>
          <a:prstGeom prst="roundRect">
            <a:avLst>
              <a:gd fmla="val 5263" name="adj"/>
            </a:avLst>
          </a:prstGeom>
          <a:solidFill>
            <a:srgbClr val="F8FAFC"/>
          </a:solidFill>
          <a:ln cap="flat" cmpd="sng" w="9525">
            <a:solidFill>
              <a:srgbClr val="E2E8F0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1" name="Google Shape;114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65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65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4" name="Google Shape;1144;p65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65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65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47" name="Google Shape;1147;p65"/>
          <p:cNvGrpSpPr/>
          <p:nvPr/>
        </p:nvGrpSpPr>
        <p:grpSpPr>
          <a:xfrm>
            <a:off x="7395056" y="599705"/>
            <a:ext cx="2806053" cy="393583"/>
            <a:chOff x="2705204" y="3426054"/>
            <a:chExt cx="4969983" cy="697100"/>
          </a:xfrm>
        </p:grpSpPr>
        <p:pic>
          <p:nvPicPr>
            <p:cNvPr id="1148" name="Google Shape;1148;p65" title="AI Hu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65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0" name="Google Shape;1150;p65"/>
          <p:cNvSpPr/>
          <p:nvPr/>
        </p:nvSpPr>
        <p:spPr>
          <a:xfrm>
            <a:off x="594430" y="532850"/>
            <a:ext cx="4937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Você SAB </a:t>
            </a:r>
            <a:r>
              <a:rPr b="1" lang="pt-BR" sz="28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IA</a:t>
            </a: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65"/>
          <p:cNvSpPr/>
          <p:nvPr/>
        </p:nvSpPr>
        <p:spPr>
          <a:xfrm>
            <a:off x="574672" y="134249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Ambev</a:t>
            </a:r>
            <a:endParaRPr i="0" sz="1600" u="none" cap="none" strike="noStrike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65"/>
          <p:cNvSpPr/>
          <p:nvPr/>
        </p:nvSpPr>
        <p:spPr>
          <a:xfrm>
            <a:off x="574672" y="161681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Bebidas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3" name="Google Shape;1153;p65"/>
          <p:cNvSpPr/>
          <p:nvPr/>
        </p:nvSpPr>
        <p:spPr>
          <a:xfrm>
            <a:off x="574672" y="189113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Chatbot 'Virtual Bebidas' para 500k+ clientes, processando pedidos via WhatsApp com LLM.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65"/>
          <p:cNvSpPr/>
          <p:nvPr/>
        </p:nvSpPr>
        <p:spPr>
          <a:xfrm>
            <a:off x="3409313" y="134249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Nubank</a:t>
            </a:r>
            <a:endParaRPr i="0" sz="1600" u="none" cap="none" strike="noStrike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5" name="Google Shape;1155;p65"/>
          <p:cNvSpPr/>
          <p:nvPr/>
        </p:nvSpPr>
        <p:spPr>
          <a:xfrm>
            <a:off x="3409313" y="161681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Financeiro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6" name="Google Shape;1156;p65"/>
          <p:cNvSpPr/>
          <p:nvPr/>
        </p:nvSpPr>
        <p:spPr>
          <a:xfrm>
            <a:off x="3409313" y="189113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Assistente IA que resolve 70% dos atendimentos sem intervenção humana, interpretando reclamações complexas.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7" name="Google Shape;1157;p65"/>
          <p:cNvSpPr/>
          <p:nvPr/>
        </p:nvSpPr>
        <p:spPr>
          <a:xfrm>
            <a:off x="6243952" y="134249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726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iFood</a:t>
            </a:r>
            <a:endParaRPr i="0" sz="16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8" name="Google Shape;1158;p65"/>
          <p:cNvSpPr/>
          <p:nvPr/>
        </p:nvSpPr>
        <p:spPr>
          <a:xfrm>
            <a:off x="6243952" y="161681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65"/>
          <p:cNvSpPr/>
          <p:nvPr/>
        </p:nvSpPr>
        <p:spPr>
          <a:xfrm>
            <a:off x="6243952" y="189113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LLM para classificar e responder avaliações de restaurantes, identificando problemas e sugestões automaticamente.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0" name="Google Shape;1160;p65"/>
          <p:cNvSpPr/>
          <p:nvPr/>
        </p:nvSpPr>
        <p:spPr>
          <a:xfrm>
            <a:off x="574672" y="330845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134F5C"/>
                </a:solidFill>
                <a:latin typeface="Montserrat"/>
                <a:ea typeface="Montserrat"/>
                <a:cs typeface="Montserrat"/>
                <a:sym typeface="Montserrat"/>
              </a:rPr>
              <a:t>TOTVS</a:t>
            </a:r>
            <a:endParaRPr i="0" sz="1600" u="none" cap="none" strike="noStrike">
              <a:solidFill>
                <a:srgbClr val="134F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65"/>
          <p:cNvSpPr/>
          <p:nvPr/>
        </p:nvSpPr>
        <p:spPr>
          <a:xfrm>
            <a:off x="574672" y="358277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TI/ERP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2" name="Google Shape;1162;p65"/>
          <p:cNvSpPr/>
          <p:nvPr/>
        </p:nvSpPr>
        <p:spPr>
          <a:xfrm>
            <a:off x="574672" y="385709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Copilot integrado aos sistemas ERP, gerando relatórios e respondendo dúvidas dos usuários sobre funcionalidades.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3" name="Google Shape;1163;p65"/>
          <p:cNvSpPr/>
          <p:nvPr/>
        </p:nvSpPr>
        <p:spPr>
          <a:xfrm>
            <a:off x="3409313" y="330845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0086FF"/>
                </a:solidFill>
                <a:latin typeface="Montserrat"/>
                <a:ea typeface="Montserrat"/>
                <a:cs typeface="Montserrat"/>
                <a:sym typeface="Montserrat"/>
              </a:rPr>
              <a:t>Magazine Luiza</a:t>
            </a:r>
            <a:endParaRPr i="0" sz="1600" u="none" cap="none" strike="noStrike">
              <a:solidFill>
                <a:srgbClr val="0086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4" name="Google Shape;1164;p65"/>
          <p:cNvSpPr/>
          <p:nvPr/>
        </p:nvSpPr>
        <p:spPr>
          <a:xfrm>
            <a:off x="3409313" y="358277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Varejo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65"/>
          <p:cNvSpPr/>
          <p:nvPr/>
        </p:nvSpPr>
        <p:spPr>
          <a:xfrm>
            <a:off x="3409313" y="385709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IA generativa para descrições de produtos, reduzindo tempo de cadastro em 80% e melhorando SEO.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6" name="Google Shape;1166;p65"/>
          <p:cNvSpPr/>
          <p:nvPr/>
        </p:nvSpPr>
        <p:spPr>
          <a:xfrm>
            <a:off x="6243952" y="330845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pt-BR" sz="16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BTG Pactual</a:t>
            </a:r>
            <a:endParaRPr i="0" sz="1600" u="none" cap="none" strike="noStrike">
              <a:solidFill>
                <a:srgbClr val="1E27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7" name="Google Shape;1167;p65"/>
          <p:cNvSpPr/>
          <p:nvPr/>
        </p:nvSpPr>
        <p:spPr>
          <a:xfrm>
            <a:off x="6243952" y="3582773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i="0" lang="pt-BR" sz="1100" u="none" cap="none" strike="noStrike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rPr>
              <a:t>Banco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65"/>
          <p:cNvSpPr/>
          <p:nvPr/>
        </p:nvSpPr>
        <p:spPr>
          <a:xfrm>
            <a:off x="6243952" y="3857093"/>
            <a:ext cx="233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Análise automatizada de contratos financeiros, extraindo cláusulas-chave e comparando termos.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65"/>
          <p:cNvSpPr txBox="1"/>
          <p:nvPr>
            <p:ph idx="12" type="sldNum"/>
          </p:nvPr>
        </p:nvSpPr>
        <p:spPr>
          <a:xfrm>
            <a:off x="83940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" y="5027294"/>
            <a:ext cx="9144001" cy="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66" title="Slide 3.png"/>
          <p:cNvPicPr preferRelativeResize="0"/>
          <p:nvPr/>
        </p:nvPicPr>
        <p:blipFill rotWithShape="1">
          <a:blip r:embed="rId4">
            <a:alphaModFix/>
          </a:blip>
          <a:srcRect b="83689" l="0" r="0" t="0"/>
          <a:stretch/>
        </p:blipFill>
        <p:spPr>
          <a:xfrm>
            <a:off x="0" y="0"/>
            <a:ext cx="9144003" cy="49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66"/>
          <p:cNvSpPr/>
          <p:nvPr/>
        </p:nvSpPr>
        <p:spPr>
          <a:xfrm>
            <a:off x="300" y="150"/>
            <a:ext cx="9143400" cy="492300"/>
          </a:xfrm>
          <a:prstGeom prst="rect">
            <a:avLst/>
          </a:prstGeom>
          <a:solidFill>
            <a:srgbClr val="070B18">
              <a:alpha val="60840"/>
            </a:srgbClr>
          </a:solidFill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7" name="Google Shape;1177;p66" title="Logo-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683" y="91295"/>
            <a:ext cx="1163684" cy="31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66" title="saopaulo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620" y="91295"/>
            <a:ext cx="1108649" cy="3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66"/>
          <p:cNvSpPr txBox="1"/>
          <p:nvPr/>
        </p:nvSpPr>
        <p:spPr>
          <a:xfrm>
            <a:off x="432574" y="0"/>
            <a:ext cx="6107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Workshop</a:t>
            </a:r>
            <a:b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Teoria à Prática: Construindo sua Primeira Solução na Magalu Cloud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66"/>
          <p:cNvSpPr txBox="1"/>
          <p:nvPr>
            <p:ph idx="12" type="sldNum"/>
          </p:nvPr>
        </p:nvSpPr>
        <p:spPr>
          <a:xfrm>
            <a:off x="8394023" y="4663225"/>
            <a:ext cx="70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de 55</a:t>
            </a:r>
            <a:endParaRPr/>
          </a:p>
        </p:txBody>
      </p:sp>
      <p:sp>
        <p:nvSpPr>
          <p:cNvPr id="1181" name="Google Shape;1181;p66"/>
          <p:cNvSpPr/>
          <p:nvPr/>
        </p:nvSpPr>
        <p:spPr>
          <a:xfrm>
            <a:off x="1384555" y="1445495"/>
            <a:ext cx="3291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EXPERIMENTE</a:t>
            </a:r>
            <a:endParaRPr sz="800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66"/>
          <p:cNvSpPr/>
          <p:nvPr/>
        </p:nvSpPr>
        <p:spPr>
          <a:xfrm>
            <a:off x="1384577" y="1713050"/>
            <a:ext cx="3091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QUER USAR O</a:t>
            </a:r>
            <a:endParaRPr sz="2800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66"/>
          <p:cNvSpPr/>
          <p:nvPr/>
        </p:nvSpPr>
        <p:spPr>
          <a:xfrm>
            <a:off x="1384571" y="2179325"/>
            <a:ext cx="3846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MGC AI HUB?</a:t>
            </a:r>
            <a:endParaRPr sz="2500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66"/>
          <p:cNvSpPr/>
          <p:nvPr/>
        </p:nvSpPr>
        <p:spPr>
          <a:xfrm>
            <a:off x="1398325" y="2783038"/>
            <a:ext cx="3474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Escaneie o </a:t>
            </a:r>
            <a:r>
              <a:rPr b="1"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QR Code</a:t>
            </a:r>
            <a: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para conversar com especialistas e ver uma Demo do MGC AI HUB</a:t>
            </a:r>
            <a:b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 solicitar o acesso </a:t>
            </a:r>
            <a:r>
              <a:rPr lang="pt-B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à plataforma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5" name="Google Shape;1185;p66" title="LP_AI_HUB_-_APRESENTA_O_CF_20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0451" y="1780500"/>
            <a:ext cx="2179502" cy="2179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6" name="Google Shape;1186;p66"/>
          <p:cNvGrpSpPr/>
          <p:nvPr/>
        </p:nvGrpSpPr>
        <p:grpSpPr>
          <a:xfrm>
            <a:off x="6025981" y="1445505"/>
            <a:ext cx="2806053" cy="393583"/>
            <a:chOff x="2705204" y="3426054"/>
            <a:chExt cx="4969983" cy="697100"/>
          </a:xfrm>
        </p:grpSpPr>
        <p:pic>
          <p:nvPicPr>
            <p:cNvPr id="1187" name="Google Shape;1187;p66" title="AI Hub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705204" y="3426054"/>
              <a:ext cx="697100" cy="69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66"/>
            <p:cNvSpPr/>
            <p:nvPr/>
          </p:nvSpPr>
          <p:spPr>
            <a:xfrm>
              <a:off x="3560688" y="3552275"/>
              <a:ext cx="4114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55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MGC AI Hub</a:t>
              </a:r>
              <a:endParaRPr sz="1355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3" name="Google Shape;1193;p67" title="bg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67"/>
          <p:cNvSpPr txBox="1"/>
          <p:nvPr/>
        </p:nvSpPr>
        <p:spPr>
          <a:xfrm>
            <a:off x="3881750" y="2154825"/>
            <a:ext cx="4856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Dúvidas?</a:t>
            </a:r>
            <a:endParaRPr b="1" sz="7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195" name="Google Shape;1195;p67"/>
          <p:cNvCxnSpPr/>
          <p:nvPr/>
        </p:nvCxnSpPr>
        <p:spPr>
          <a:xfrm>
            <a:off x="3787200" y="2471575"/>
            <a:ext cx="0" cy="1804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67"/>
          <p:cNvSpPr txBox="1"/>
          <p:nvPr/>
        </p:nvSpPr>
        <p:spPr>
          <a:xfrm>
            <a:off x="3948425" y="3676667"/>
            <a:ext cx="431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Fáceis, por favor :)</a:t>
            </a:r>
            <a:endParaRPr b="1" sz="38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97" name="Google Shape;119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200" y="190460"/>
            <a:ext cx="1456100" cy="248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68" title="bg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68"/>
          <p:cNvSpPr txBox="1"/>
          <p:nvPr/>
        </p:nvSpPr>
        <p:spPr>
          <a:xfrm>
            <a:off x="312375" y="539050"/>
            <a:ext cx="538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Obrigado!</a:t>
            </a:r>
            <a:endParaRPr b="1" sz="6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4" name="Google Shape;1204;p68" title="Logo-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56" y="2594240"/>
            <a:ext cx="2576699" cy="6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68" title="saopaul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474" y="3578104"/>
            <a:ext cx="2218699" cy="620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6" name="Google Shape;1206;p68"/>
          <p:cNvCxnSpPr/>
          <p:nvPr/>
        </p:nvCxnSpPr>
        <p:spPr>
          <a:xfrm>
            <a:off x="244075" y="819600"/>
            <a:ext cx="2400" cy="3469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