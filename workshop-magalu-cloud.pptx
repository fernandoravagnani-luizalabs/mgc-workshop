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</p:sldIdLst>
  <p:sldSz cy="5143500" cx="9144000"/>
  <p:notesSz cx="6858000" cy="9144000"/>
  <p:embeddedFontLst>
    <p:embeddedFont>
      <p:font typeface="Nunito"/>
      <p:regular r:id="rId58"/>
      <p:bold r:id="rId59"/>
      <p:italic r:id="rId60"/>
      <p:boldItalic r:id="rId61"/>
    </p:embeddedFont>
    <p:embeddedFont>
      <p:font typeface="Montserrat"/>
      <p:regular r:id="rId62"/>
      <p:bold r:id="rId63"/>
      <p:italic r:id="rId64"/>
      <p:boldItalic r:id="rId65"/>
    </p:embeddedFont>
    <p:embeddedFont>
      <p:font typeface="Montserrat Light"/>
      <p:regular r:id="rId66"/>
      <p:bold r:id="rId67"/>
      <p:italic r:id="rId68"/>
      <p:boldItalic r:id="rId69"/>
    </p:embeddedFont>
    <p:embeddedFont>
      <p:font typeface="Rubik"/>
      <p:regular r:id="rId70"/>
      <p:bold r:id="rId71"/>
      <p:italic r:id="rId72"/>
      <p:boldItalic r:id="rId7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73" Type="http://schemas.openxmlformats.org/officeDocument/2006/relationships/font" Target="fonts/Rubik-boldItalic.fntdata"/><Relationship Id="rId72" Type="http://schemas.openxmlformats.org/officeDocument/2006/relationships/font" Target="fonts/Rubik-italic.fntdata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71" Type="http://schemas.openxmlformats.org/officeDocument/2006/relationships/font" Target="fonts/Rubik-bold.fntdata"/><Relationship Id="rId70" Type="http://schemas.openxmlformats.org/officeDocument/2006/relationships/font" Target="fonts/Rubik-regular.fntdata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2" Type="http://schemas.openxmlformats.org/officeDocument/2006/relationships/font" Target="fonts/Montserrat-regular.fntdata"/><Relationship Id="rId61" Type="http://schemas.openxmlformats.org/officeDocument/2006/relationships/font" Target="fonts/Nunito-boldItalic.fntdata"/><Relationship Id="rId20" Type="http://schemas.openxmlformats.org/officeDocument/2006/relationships/slide" Target="slides/slide15.xml"/><Relationship Id="rId64" Type="http://schemas.openxmlformats.org/officeDocument/2006/relationships/font" Target="fonts/Montserrat-italic.fntdata"/><Relationship Id="rId63" Type="http://schemas.openxmlformats.org/officeDocument/2006/relationships/font" Target="fonts/Montserrat-bold.fntdata"/><Relationship Id="rId22" Type="http://schemas.openxmlformats.org/officeDocument/2006/relationships/slide" Target="slides/slide17.xml"/><Relationship Id="rId66" Type="http://schemas.openxmlformats.org/officeDocument/2006/relationships/font" Target="fonts/MontserratLight-regular.fntdata"/><Relationship Id="rId21" Type="http://schemas.openxmlformats.org/officeDocument/2006/relationships/slide" Target="slides/slide16.xml"/><Relationship Id="rId65" Type="http://schemas.openxmlformats.org/officeDocument/2006/relationships/font" Target="fonts/Montserrat-boldItalic.fntdata"/><Relationship Id="rId24" Type="http://schemas.openxmlformats.org/officeDocument/2006/relationships/slide" Target="slides/slide19.xml"/><Relationship Id="rId68" Type="http://schemas.openxmlformats.org/officeDocument/2006/relationships/font" Target="fonts/MontserratLight-italic.fntdata"/><Relationship Id="rId23" Type="http://schemas.openxmlformats.org/officeDocument/2006/relationships/slide" Target="slides/slide18.xml"/><Relationship Id="rId67" Type="http://schemas.openxmlformats.org/officeDocument/2006/relationships/font" Target="fonts/MontserratLight-bold.fntdata"/><Relationship Id="rId60" Type="http://schemas.openxmlformats.org/officeDocument/2006/relationships/font" Target="fonts/Nunito-italic.fntdata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69" Type="http://schemas.openxmlformats.org/officeDocument/2006/relationships/font" Target="fonts/MontserratLight-boldItalic.fntdata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schemas.openxmlformats.org/officeDocument/2006/relationships/font" Target="fonts/Nunito-bold.fntdata"/><Relationship Id="rId14" Type="http://schemas.openxmlformats.org/officeDocument/2006/relationships/slide" Target="slides/slide9.xml"/><Relationship Id="rId58" Type="http://schemas.openxmlformats.org/officeDocument/2006/relationships/font" Target="fonts/Nunito-regular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://dev.to" TargetMode="Externa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932edbcc1a_0_5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3932edbcc1a_0_5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fbaf019197_3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fbaf019197_3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631354ec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631354ec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95afad4ee4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95afad4ee4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95afad4ee4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95afad4ee4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db011c0f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ddb011c0f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c6137b7ec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c6137b7ec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Pensar em um titulo ou frase para destacar que estamos pensando no brasil</a:t>
            </a:r>
            <a:br>
              <a:rPr lang="pt-BR"/>
            </a:br>
            <a:br>
              <a:rPr lang="pt-BR"/>
            </a:br>
            <a:r>
              <a:rPr lang="pt-BR"/>
              <a:t>pensar modernizar o slide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cc45f8bf4f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cc45f8bf4f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t-BR"/>
            </a:br>
            <a:br>
              <a:rPr lang="pt-BR"/>
            </a:br>
            <a:r>
              <a:rPr lang="pt-BR"/>
              <a:t>Fazer um menu com link para cada slide de produto</a:t>
            </a:r>
            <a:br>
              <a:rPr lang="pt-BR"/>
            </a:br>
            <a:br>
              <a:rPr lang="pt-BR"/>
            </a:br>
            <a:r>
              <a:rPr lang="pt-BR"/>
              <a:t>“você deve perguntar: quais produtos vc consume hoje?”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95afad4ee4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95afad4ee4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t-BR"/>
            </a:br>
            <a:br>
              <a:rPr lang="pt-BR"/>
            </a:br>
            <a:r>
              <a:rPr lang="pt-BR"/>
              <a:t>Fazer um menu com link para cada slide de produto</a:t>
            </a:r>
            <a:br>
              <a:rPr lang="pt-BR"/>
            </a:br>
            <a:br>
              <a:rPr lang="pt-BR"/>
            </a:br>
            <a:r>
              <a:rPr lang="pt-BR"/>
              <a:t>“você deve perguntar: quais produtos vc consume hoje?”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c6111485a4_0_1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c6111485a4_0_1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34cbd3ad85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34cbd3ad85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u="sng">
                <a:solidFill>
                  <a:schemeClr val="hlink"/>
                </a:solidFill>
                <a:hlinkClick r:id="rId2"/>
              </a:rPr>
              <a:t>Dev.to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Atualizar link discord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fbaf019197_3_4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g3fbaf019197_3_438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fbaf019197_3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g3fbaf019197_3_103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fbaf019197_3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g3fbaf019197_3_115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fbaf019197_3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g3fbaf019197_3_126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fbaf019197_3_1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g3fbaf019197_3_150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fbaf019197_3_4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g3fbaf019197_3_499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3fbaf019197_3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g3fbaf019197_3_518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fbaf019197_3_5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g3fbaf019197_3_539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3fbaf019197_3_1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g3fbaf019197_3_172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3fbaf019197_3_6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g3fbaf019197_3_625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3fbaf019197_3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g3fbaf019197_3_161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3fbaf019197_3_1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g3fbaf019197_3_196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3fbaf019197_3_2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9" name="Google Shape;529;g3fbaf019197_3_207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3fbaf019197_3_2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g3fbaf019197_3_218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g3fbaf019197_3_5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g3fbaf019197_3_599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3fbaf019197_3_6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0" name="Google Shape;580;g3fbaf019197_3_661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3fbaf019197_3_6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7" name="Google Shape;597;g3fbaf019197_3_680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3fbaf019197_3_7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7" name="Google Shape;617;g3fbaf019197_3_702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g3fbaf019197_3_6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g3fbaf019197_3_649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fbaf019197_3_2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9" name="Google Shape;649;g3fbaf019197_3_229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g3fbaf019197_3_7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g3fbaf019197_3_723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9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g3fbaf019197_3_2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Google Shape;681;g3fbaf019197_3_240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g3fbaf019197_3_2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7" name="Google Shape;697;g3fbaf019197_3_249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g3fbaf019197_3_7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3" name="Google Shape;713;g3fbaf019197_3_760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3fbaf019197_3_7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1" name="Google Shape;731;g3fbaf019197_3_774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g3fbaf019197_3_8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9" name="Google Shape;749;g3fbaf019197_3_801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0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g3fbaf019197_3_2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2" name="Google Shape;762;g3fbaf019197_3_258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7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g3fbaf019197_3_1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9" name="Google Shape;779;g3fbaf019197_3_1100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6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Google Shape;797;g3fbaf019197_3_2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8" name="Google Shape;798;g3fbaf019197_3_269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5" name="Shape 8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Google Shape;816;g3fbaf019197_3_10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7" name="Google Shape;817;g3fbaf019197_3_1083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4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g3fbaf019197_3_1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6" name="Google Shape;836;g3fbaf019197_3_1128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4" name="Shape 8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Google Shape;855;g3fbaf019197_3_11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6" name="Google Shape;856;g3fbaf019197_3_1154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7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g3fbaf019197_3_3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9" name="Google Shape;869;g3fbaf019197_3_326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g3fbaf019197_3_3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6" name="Google Shape;886;g3fbaf019197_3_337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3fbaf019197_3_1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9" name="Google Shape;899;g3fbaf019197_3_1171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6" name="Shape 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Google Shape;917;g3fbaf019197_3_12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8" name="Google Shape;918;g3fbaf019197_3_1238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3" name="Shape 9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Google Shape;954;g3fbaf019197_3_12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5" name="Google Shape;955;g3fbaf019197_3_1299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0" name="Shape 9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Google Shape;981;g3fbaf019197_3_14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2" name="Google Shape;982;g3fbaf019197_3_1452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5" name="Shape 1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Google Shape;1036;g3fbaf019197_3_15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7" name="Google Shape;1037;g3fbaf019197_3_1573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3" name="Shape 1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Google Shape;1054;g3fbaf019197_3_16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5" name="Google Shape;1055;g3fbaf019197_3_16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2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Google Shape;1063;g3932edbcc1a_0_6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4" name="Google Shape;1064;g3932edbcc1a_0_6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rpo 1">
  <p:cSld name="TITLE_AND_BODY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9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3.png"/><Relationship Id="rId4" Type="http://schemas.openxmlformats.org/officeDocument/2006/relationships/image" Target="../media/image5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9.png"/><Relationship Id="rId8" Type="http://schemas.openxmlformats.org/officeDocument/2006/relationships/image" Target="../media/image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9.png"/></Relationships>
</file>

<file path=ppt/slides/_rels/slide4.xml.rels><?xml version="1.0" encoding="UTF-8" standalone="yes"?><Relationships xmlns="http://schemas.openxmlformats.org/package/2006/relationships"><Relationship Id="rId10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0.png"/><Relationship Id="rId4" Type="http://schemas.openxmlformats.org/officeDocument/2006/relationships/image" Target="../media/image13.png"/><Relationship Id="rId9" Type="http://schemas.openxmlformats.org/officeDocument/2006/relationships/image" Target="../media/image15.png"/><Relationship Id="rId5" Type="http://schemas.openxmlformats.org/officeDocument/2006/relationships/image" Target="../media/image3.png"/><Relationship Id="rId6" Type="http://schemas.openxmlformats.org/officeDocument/2006/relationships/image" Target="../media/image2.png"/><Relationship Id="rId7" Type="http://schemas.openxmlformats.org/officeDocument/2006/relationships/image" Target="../media/image10.png"/><Relationship Id="rId8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hyperlink" Target="https://magalu.cloud/termos-legais/politica-de-privacidade/" TargetMode="External"/><Relationship Id="rId10" Type="http://schemas.openxmlformats.org/officeDocument/2006/relationships/hyperlink" Target="https://magalu.cloud/termos-legais/politica-de-privacidade/" TargetMode="External"/><Relationship Id="rId13" Type="http://schemas.openxmlformats.org/officeDocument/2006/relationships/hyperlink" Target="https://magalu.cloud/termos-legais/politica-de-sgsi/" TargetMode="External"/><Relationship Id="rId12" Type="http://schemas.openxmlformats.org/officeDocument/2006/relationships/hyperlink" Target="https://magalu.cloud/termos-legais/politica-de-sgsi/" TargetMode="External"/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6.png"/><Relationship Id="rId5" Type="http://schemas.openxmlformats.org/officeDocument/2006/relationships/image" Target="../media/image12.png"/><Relationship Id="rId6" Type="http://schemas.openxmlformats.org/officeDocument/2006/relationships/image" Target="../media/image21.png"/><Relationship Id="rId7" Type="http://schemas.openxmlformats.org/officeDocument/2006/relationships/image" Target="../media/image23.png"/><Relationship Id="rId8" Type="http://schemas.openxmlformats.org/officeDocument/2006/relationships/image" Target="../media/image1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8.png"/><Relationship Id="rId4" Type="http://schemas.openxmlformats.org/officeDocument/2006/relationships/image" Target="../media/image13.png"/></Relationships>
</file>

<file path=ppt/slides/_rels/slide8.xml.rels><?xml version="1.0" encoding="UTF-8" standalone="yes"?><Relationships xmlns="http://schemas.openxmlformats.org/package/2006/relationships"><Relationship Id="rId11" Type="http://schemas.openxmlformats.org/officeDocument/2006/relationships/hyperlink" Target="https://magalu.cloud/termos-legais/politica-de-privacidade/" TargetMode="External"/><Relationship Id="rId10" Type="http://schemas.openxmlformats.org/officeDocument/2006/relationships/image" Target="../media/image41.png"/><Relationship Id="rId13" Type="http://schemas.openxmlformats.org/officeDocument/2006/relationships/hyperlink" Target="https://magalu.cloud/termos-legais/politica-de-sgsi/" TargetMode="External"/><Relationship Id="rId12" Type="http://schemas.openxmlformats.org/officeDocument/2006/relationships/hyperlink" Target="https://magalu.cloud/termos-legais/politica-de-privacidade/" TargetMode="Externa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0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5" Type="http://schemas.openxmlformats.org/officeDocument/2006/relationships/image" Target="../media/image16.png"/><Relationship Id="rId14" Type="http://schemas.openxmlformats.org/officeDocument/2006/relationships/hyperlink" Target="https://magalu.cloud/termos-legais/politica-de-sgsi/" TargetMode="External"/><Relationship Id="rId5" Type="http://schemas.openxmlformats.org/officeDocument/2006/relationships/image" Target="../media/image24.png"/><Relationship Id="rId6" Type="http://schemas.openxmlformats.org/officeDocument/2006/relationships/image" Target="../media/image13.png"/><Relationship Id="rId7" Type="http://schemas.openxmlformats.org/officeDocument/2006/relationships/image" Target="../media/image34.png"/><Relationship Id="rId8" Type="http://schemas.openxmlformats.org/officeDocument/2006/relationships/image" Target="../media/image2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0.png"/><Relationship Id="rId4" Type="http://schemas.openxmlformats.org/officeDocument/2006/relationships/image" Target="../media/image13.png"/></Relationships>
</file>

<file path=ppt/slides/_rels/slide10.xml.rels><?xml version="1.0" encoding="UTF-8" standalone="yes"?><Relationships xmlns="http://schemas.openxmlformats.org/package/2006/relationships"><Relationship Id="rId40" Type="http://schemas.openxmlformats.org/officeDocument/2006/relationships/image" Target="../media/image64.png"/><Relationship Id="rId20" Type="http://schemas.openxmlformats.org/officeDocument/2006/relationships/image" Target="../media/image72.png"/><Relationship Id="rId42" Type="http://schemas.openxmlformats.org/officeDocument/2006/relationships/image" Target="../media/image93.png"/><Relationship Id="rId41" Type="http://schemas.openxmlformats.org/officeDocument/2006/relationships/image" Target="../media/image134.png"/><Relationship Id="rId22" Type="http://schemas.openxmlformats.org/officeDocument/2006/relationships/image" Target="../media/image60.png"/><Relationship Id="rId44" Type="http://schemas.openxmlformats.org/officeDocument/2006/relationships/image" Target="../media/image67.png"/><Relationship Id="rId21" Type="http://schemas.openxmlformats.org/officeDocument/2006/relationships/image" Target="../media/image51.png"/><Relationship Id="rId43" Type="http://schemas.openxmlformats.org/officeDocument/2006/relationships/image" Target="../media/image71.png"/><Relationship Id="rId24" Type="http://schemas.openxmlformats.org/officeDocument/2006/relationships/image" Target="../media/image54.png"/><Relationship Id="rId46" Type="http://schemas.openxmlformats.org/officeDocument/2006/relationships/image" Target="../media/image85.png"/><Relationship Id="rId23" Type="http://schemas.openxmlformats.org/officeDocument/2006/relationships/image" Target="../media/image52.png"/><Relationship Id="rId45" Type="http://schemas.openxmlformats.org/officeDocument/2006/relationships/image" Target="../media/image83.png"/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0.png"/><Relationship Id="rId4" Type="http://schemas.openxmlformats.org/officeDocument/2006/relationships/image" Target="../media/image5.png"/><Relationship Id="rId9" Type="http://schemas.openxmlformats.org/officeDocument/2006/relationships/image" Target="../media/image40.png"/><Relationship Id="rId26" Type="http://schemas.openxmlformats.org/officeDocument/2006/relationships/image" Target="../media/image68.png"/><Relationship Id="rId25" Type="http://schemas.openxmlformats.org/officeDocument/2006/relationships/image" Target="../media/image61.png"/><Relationship Id="rId47" Type="http://schemas.openxmlformats.org/officeDocument/2006/relationships/image" Target="../media/image13.png"/><Relationship Id="rId28" Type="http://schemas.openxmlformats.org/officeDocument/2006/relationships/image" Target="../media/image58.png"/><Relationship Id="rId27" Type="http://schemas.openxmlformats.org/officeDocument/2006/relationships/image" Target="../media/image55.png"/><Relationship Id="rId5" Type="http://schemas.openxmlformats.org/officeDocument/2006/relationships/image" Target="../media/image43.png"/><Relationship Id="rId6" Type="http://schemas.openxmlformats.org/officeDocument/2006/relationships/image" Target="../media/image33.png"/><Relationship Id="rId29" Type="http://schemas.openxmlformats.org/officeDocument/2006/relationships/image" Target="../media/image89.png"/><Relationship Id="rId7" Type="http://schemas.openxmlformats.org/officeDocument/2006/relationships/image" Target="../media/image32.png"/><Relationship Id="rId8" Type="http://schemas.openxmlformats.org/officeDocument/2006/relationships/image" Target="../media/image37.png"/><Relationship Id="rId31" Type="http://schemas.openxmlformats.org/officeDocument/2006/relationships/image" Target="../media/image62.png"/><Relationship Id="rId30" Type="http://schemas.openxmlformats.org/officeDocument/2006/relationships/image" Target="../media/image56.png"/><Relationship Id="rId11" Type="http://schemas.openxmlformats.org/officeDocument/2006/relationships/image" Target="../media/image46.png"/><Relationship Id="rId33" Type="http://schemas.openxmlformats.org/officeDocument/2006/relationships/image" Target="../media/image135.png"/><Relationship Id="rId10" Type="http://schemas.openxmlformats.org/officeDocument/2006/relationships/image" Target="../media/image50.png"/><Relationship Id="rId32" Type="http://schemas.openxmlformats.org/officeDocument/2006/relationships/image" Target="../media/image100.png"/><Relationship Id="rId13" Type="http://schemas.openxmlformats.org/officeDocument/2006/relationships/image" Target="../media/image45.png"/><Relationship Id="rId35" Type="http://schemas.openxmlformats.org/officeDocument/2006/relationships/image" Target="../media/image127.png"/><Relationship Id="rId12" Type="http://schemas.openxmlformats.org/officeDocument/2006/relationships/image" Target="../media/image39.png"/><Relationship Id="rId34" Type="http://schemas.openxmlformats.org/officeDocument/2006/relationships/image" Target="../media/image59.png"/><Relationship Id="rId15" Type="http://schemas.openxmlformats.org/officeDocument/2006/relationships/image" Target="../media/image69.png"/><Relationship Id="rId37" Type="http://schemas.openxmlformats.org/officeDocument/2006/relationships/image" Target="../media/image91.png"/><Relationship Id="rId14" Type="http://schemas.openxmlformats.org/officeDocument/2006/relationships/image" Target="../media/image47.png"/><Relationship Id="rId36" Type="http://schemas.openxmlformats.org/officeDocument/2006/relationships/image" Target="../media/image66.png"/><Relationship Id="rId17" Type="http://schemas.openxmlformats.org/officeDocument/2006/relationships/image" Target="../media/image42.png"/><Relationship Id="rId39" Type="http://schemas.openxmlformats.org/officeDocument/2006/relationships/image" Target="../media/image57.png"/><Relationship Id="rId16" Type="http://schemas.openxmlformats.org/officeDocument/2006/relationships/image" Target="../media/image74.png"/><Relationship Id="rId38" Type="http://schemas.openxmlformats.org/officeDocument/2006/relationships/image" Target="../media/image96.png"/><Relationship Id="rId19" Type="http://schemas.openxmlformats.org/officeDocument/2006/relationships/image" Target="../media/image49.png"/><Relationship Id="rId18" Type="http://schemas.openxmlformats.org/officeDocument/2006/relationships/image" Target="../media/image5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Relationship Id="rId4" Type="http://schemas.openxmlformats.org/officeDocument/2006/relationships/image" Target="../media/image13.png"/><Relationship Id="rId9" Type="http://schemas.openxmlformats.org/officeDocument/2006/relationships/image" Target="../media/image76.png"/><Relationship Id="rId5" Type="http://schemas.openxmlformats.org/officeDocument/2006/relationships/image" Target="../media/image73.png"/><Relationship Id="rId6" Type="http://schemas.openxmlformats.org/officeDocument/2006/relationships/image" Target="../media/image84.png"/><Relationship Id="rId7" Type="http://schemas.openxmlformats.org/officeDocument/2006/relationships/image" Target="../media/image70.png"/><Relationship Id="rId8" Type="http://schemas.openxmlformats.org/officeDocument/2006/relationships/image" Target="../media/image82.png"/><Relationship Id="rId11" Type="http://schemas.openxmlformats.org/officeDocument/2006/relationships/image" Target="../media/image80.png"/><Relationship Id="rId10" Type="http://schemas.openxmlformats.org/officeDocument/2006/relationships/image" Target="../media/image81.png"/><Relationship Id="rId13" Type="http://schemas.openxmlformats.org/officeDocument/2006/relationships/image" Target="../media/image78.png"/><Relationship Id="rId12" Type="http://schemas.openxmlformats.org/officeDocument/2006/relationships/image" Target="../media/image75.png"/><Relationship Id="rId14" Type="http://schemas.openxmlformats.org/officeDocument/2006/relationships/image" Target="../media/image8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3.png"/><Relationship Id="rId9" Type="http://schemas.openxmlformats.org/officeDocument/2006/relationships/image" Target="../media/image88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image" Target="../media/image90.png"/><Relationship Id="rId8" Type="http://schemas.openxmlformats.org/officeDocument/2006/relationships/image" Target="../media/image97.png"/><Relationship Id="rId11" Type="http://schemas.openxmlformats.org/officeDocument/2006/relationships/image" Target="../media/image95.png"/><Relationship Id="rId10" Type="http://schemas.openxmlformats.org/officeDocument/2006/relationships/image" Target="../media/image92.png"/><Relationship Id="rId12" Type="http://schemas.openxmlformats.org/officeDocument/2006/relationships/image" Target="../media/image9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Relationship Id="rId4" Type="http://schemas.openxmlformats.org/officeDocument/2006/relationships/image" Target="../media/image63.png"/><Relationship Id="rId5" Type="http://schemas.openxmlformats.org/officeDocument/2006/relationships/image" Target="../media/image4.png"/><Relationship Id="rId6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Relationship Id="rId4" Type="http://schemas.openxmlformats.org/officeDocument/2006/relationships/image" Target="../media/image63.png"/><Relationship Id="rId5" Type="http://schemas.openxmlformats.org/officeDocument/2006/relationships/image" Target="../media/image4.png"/><Relationship Id="rId6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Relationship Id="rId4" Type="http://schemas.openxmlformats.org/officeDocument/2006/relationships/image" Target="../media/image63.png"/><Relationship Id="rId5" Type="http://schemas.openxmlformats.org/officeDocument/2006/relationships/image" Target="../media/image4.png"/><Relationship Id="rId6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agalu.cloud" TargetMode="External"/><Relationship Id="rId4" Type="http://schemas.openxmlformats.org/officeDocument/2006/relationships/hyperlink" Target="https://docs.magalu.cloud/docs/onboarding/create-account" TargetMode="External"/><Relationship Id="rId9" Type="http://schemas.openxmlformats.org/officeDocument/2006/relationships/image" Target="../media/image115.png"/><Relationship Id="rId5" Type="http://schemas.openxmlformats.org/officeDocument/2006/relationships/image" Target="../media/image5.png"/><Relationship Id="rId6" Type="http://schemas.openxmlformats.org/officeDocument/2006/relationships/image" Target="../media/image63.png"/><Relationship Id="rId7" Type="http://schemas.openxmlformats.org/officeDocument/2006/relationships/image" Target="../media/image4.png"/><Relationship Id="rId8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console.magalu.cloud" TargetMode="External"/><Relationship Id="rId4" Type="http://schemas.openxmlformats.org/officeDocument/2006/relationships/image" Target="../media/image5.png"/><Relationship Id="rId5" Type="http://schemas.openxmlformats.org/officeDocument/2006/relationships/image" Target="../media/image63.png"/><Relationship Id="rId6" Type="http://schemas.openxmlformats.org/officeDocument/2006/relationships/image" Target="../media/image4.png"/><Relationship Id="rId7" Type="http://schemas.openxmlformats.org/officeDocument/2006/relationships/image" Target="../media/image1.png"/><Relationship Id="rId8" Type="http://schemas.openxmlformats.org/officeDocument/2006/relationships/image" Target="../media/image10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chat.whatsapp.com/DjXNR87YBcb94669Hlbg8P" TargetMode="External"/><Relationship Id="rId4" Type="http://schemas.openxmlformats.org/officeDocument/2006/relationships/hyperlink" Target="https://forms.gle/ocvRupRunz5yXexd7" TargetMode="External"/><Relationship Id="rId9" Type="http://schemas.openxmlformats.org/officeDocument/2006/relationships/image" Target="../media/image104.png"/><Relationship Id="rId5" Type="http://schemas.openxmlformats.org/officeDocument/2006/relationships/image" Target="../media/image5.png"/><Relationship Id="rId6" Type="http://schemas.openxmlformats.org/officeDocument/2006/relationships/image" Target="../media/image63.png"/><Relationship Id="rId7" Type="http://schemas.openxmlformats.org/officeDocument/2006/relationships/image" Target="../media/image4.png"/><Relationship Id="rId8" Type="http://schemas.openxmlformats.org/officeDocument/2006/relationships/image" Target="../media/image1.png"/><Relationship Id="rId10" Type="http://schemas.openxmlformats.org/officeDocument/2006/relationships/image" Target="../media/image10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github.com/fernandoravagnani-luizalabs/mgc-workshop/" TargetMode="External"/><Relationship Id="rId4" Type="http://schemas.openxmlformats.org/officeDocument/2006/relationships/image" Target="../media/image5.png"/><Relationship Id="rId5" Type="http://schemas.openxmlformats.org/officeDocument/2006/relationships/image" Target="../media/image63.png"/><Relationship Id="rId6" Type="http://schemas.openxmlformats.org/officeDocument/2006/relationships/image" Target="../media/image4.png"/><Relationship Id="rId7" Type="http://schemas.openxmlformats.org/officeDocument/2006/relationships/image" Target="../media/image1.png"/><Relationship Id="rId8" Type="http://schemas.openxmlformats.org/officeDocument/2006/relationships/image" Target="../media/image9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Relationship Id="rId4" Type="http://schemas.openxmlformats.org/officeDocument/2006/relationships/image" Target="../media/image63.png"/><Relationship Id="rId5" Type="http://schemas.openxmlformats.org/officeDocument/2006/relationships/image" Target="../media/image4.png"/><Relationship Id="rId6" Type="http://schemas.openxmlformats.org/officeDocument/2006/relationships/image" Target="../media/image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Relationship Id="rId4" Type="http://schemas.openxmlformats.org/officeDocument/2006/relationships/image" Target="../media/image63.png"/><Relationship Id="rId5" Type="http://schemas.openxmlformats.org/officeDocument/2006/relationships/image" Target="../media/image4.png"/><Relationship Id="rId6" Type="http://schemas.openxmlformats.org/officeDocument/2006/relationships/image" Target="../media/image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docs.magalu.cloud/docs/computing/virtual-machine/how-to/create-instances/set-ssh-key-instance" TargetMode="External"/><Relationship Id="rId4" Type="http://schemas.openxmlformats.org/officeDocument/2006/relationships/image" Target="../media/image5.png"/><Relationship Id="rId5" Type="http://schemas.openxmlformats.org/officeDocument/2006/relationships/image" Target="../media/image63.png"/><Relationship Id="rId6" Type="http://schemas.openxmlformats.org/officeDocument/2006/relationships/image" Target="../media/image4.png"/><Relationship Id="rId7" Type="http://schemas.openxmlformats.org/officeDocument/2006/relationships/image" Target="../media/image1.png"/><Relationship Id="rId8" Type="http://schemas.openxmlformats.org/officeDocument/2006/relationships/image" Target="../media/image10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docs.magalu.cloud/docs/computing/virtual-machine/how-to/create-instances/create-instance" TargetMode="External"/><Relationship Id="rId4" Type="http://schemas.openxmlformats.org/officeDocument/2006/relationships/image" Target="../media/image5.png"/><Relationship Id="rId5" Type="http://schemas.openxmlformats.org/officeDocument/2006/relationships/image" Target="../media/image63.png"/><Relationship Id="rId6" Type="http://schemas.openxmlformats.org/officeDocument/2006/relationships/image" Target="../media/image4.png"/><Relationship Id="rId7" Type="http://schemas.openxmlformats.org/officeDocument/2006/relationships/image" Target="../media/image1.png"/><Relationship Id="rId8" Type="http://schemas.openxmlformats.org/officeDocument/2006/relationships/image" Target="../media/image1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br-se1.magaluobjects.com" TargetMode="External"/><Relationship Id="rId4" Type="http://schemas.openxmlformats.org/officeDocument/2006/relationships/hyperlink" Target="https://docs.magalu.cloud/docs/storage/object-storage/quickstart" TargetMode="External"/><Relationship Id="rId9" Type="http://schemas.openxmlformats.org/officeDocument/2006/relationships/image" Target="../media/image119.png"/><Relationship Id="rId5" Type="http://schemas.openxmlformats.org/officeDocument/2006/relationships/image" Target="../media/image5.png"/><Relationship Id="rId6" Type="http://schemas.openxmlformats.org/officeDocument/2006/relationships/image" Target="../media/image63.png"/><Relationship Id="rId7" Type="http://schemas.openxmlformats.org/officeDocument/2006/relationships/image" Target="../media/image4.png"/><Relationship Id="rId8" Type="http://schemas.openxmlformats.org/officeDocument/2006/relationships/image" Target="../media/image1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.png"/><Relationship Id="rId4" Type="http://schemas.openxmlformats.org/officeDocument/2006/relationships/image" Target="../media/image63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image" Target="../media/image102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5.png"/><Relationship Id="rId4" Type="http://schemas.openxmlformats.org/officeDocument/2006/relationships/image" Target="../media/image63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image" Target="../media/image103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Relationship Id="rId4" Type="http://schemas.openxmlformats.org/officeDocument/2006/relationships/image" Target="../media/image63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hyperlink" Target="http://200.x.x.x" TargetMode="External"/><Relationship Id="rId8" Type="http://schemas.openxmlformats.org/officeDocument/2006/relationships/image" Target="../media/image12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Relationship Id="rId4" Type="http://schemas.openxmlformats.org/officeDocument/2006/relationships/image" Target="../media/image63.png"/><Relationship Id="rId9" Type="http://schemas.openxmlformats.org/officeDocument/2006/relationships/image" Target="../media/image108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hyperlink" Target="https://docs.magalu.cloud/docs/computing/virtual-machine/how-to/manage-instances/delete-instance" TargetMode="External"/><Relationship Id="rId8" Type="http://schemas.openxmlformats.org/officeDocument/2006/relationships/image" Target="../media/image10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5.png"/><Relationship Id="rId4" Type="http://schemas.openxmlformats.org/officeDocument/2006/relationships/image" Target="../media/image63.png"/><Relationship Id="rId9" Type="http://schemas.openxmlformats.org/officeDocument/2006/relationships/image" Target="../media/image112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hyperlink" Target="https://docs.magalu.cloud/docs/storage/object-storage/how-to/buckets/create-list-delete-bucket#apagar-bucket" TargetMode="External"/><Relationship Id="rId8" Type="http://schemas.openxmlformats.org/officeDocument/2006/relationships/image" Target="../media/image106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5.png"/><Relationship Id="rId4" Type="http://schemas.openxmlformats.org/officeDocument/2006/relationships/image" Target="../media/image63.png"/><Relationship Id="rId5" Type="http://schemas.openxmlformats.org/officeDocument/2006/relationships/image" Target="../media/image4.png"/><Relationship Id="rId6" Type="http://schemas.openxmlformats.org/officeDocument/2006/relationships/image" Target="../media/image1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agalu.cloud/docs/storage/object-storage/compatible-tools/mgc-cli-compatibility" TargetMode="External"/><Relationship Id="rId4" Type="http://schemas.openxmlformats.org/officeDocument/2006/relationships/image" Target="../media/image5.png"/><Relationship Id="rId5" Type="http://schemas.openxmlformats.org/officeDocument/2006/relationships/image" Target="../media/image63.png"/><Relationship Id="rId6" Type="http://schemas.openxmlformats.org/officeDocument/2006/relationships/image" Target="../media/image4.png"/><Relationship Id="rId7" Type="http://schemas.openxmlformats.org/officeDocument/2006/relationships/image" Target="../media/image1.png"/><Relationship Id="rId8" Type="http://schemas.openxmlformats.org/officeDocument/2006/relationships/image" Target="../media/image110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docs.magalu.cloud/docs/computing/ssh-keys/how-to/create" TargetMode="External"/><Relationship Id="rId4" Type="http://schemas.openxmlformats.org/officeDocument/2006/relationships/image" Target="../media/image5.png"/><Relationship Id="rId5" Type="http://schemas.openxmlformats.org/officeDocument/2006/relationships/image" Target="../media/image63.png"/><Relationship Id="rId6" Type="http://schemas.openxmlformats.org/officeDocument/2006/relationships/image" Target="../media/image4.png"/><Relationship Id="rId7" Type="http://schemas.openxmlformats.org/officeDocument/2006/relationships/image" Target="../media/image1.png"/><Relationship Id="rId8" Type="http://schemas.openxmlformats.org/officeDocument/2006/relationships/image" Target="../media/image114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docs.magalu.cloud/docs/computing/virtual-machine/how-to/create-instances/create-instance" TargetMode="External"/><Relationship Id="rId4" Type="http://schemas.openxmlformats.org/officeDocument/2006/relationships/image" Target="../media/image5.png"/><Relationship Id="rId5" Type="http://schemas.openxmlformats.org/officeDocument/2006/relationships/image" Target="../media/image63.png"/><Relationship Id="rId6" Type="http://schemas.openxmlformats.org/officeDocument/2006/relationships/image" Target="../media/image4.png"/><Relationship Id="rId7" Type="http://schemas.openxmlformats.org/officeDocument/2006/relationships/image" Target="../media/image1.png"/><Relationship Id="rId8" Type="http://schemas.openxmlformats.org/officeDocument/2006/relationships/image" Target="../media/image121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5.png"/><Relationship Id="rId4" Type="http://schemas.openxmlformats.org/officeDocument/2006/relationships/image" Target="../media/image63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hyperlink" Target="https://docs.magalu.cloud/docs/storage/object-storage/how-to/buckets/create-list-delete-bucket" TargetMode="External"/><Relationship Id="rId8" Type="http://schemas.openxmlformats.org/officeDocument/2006/relationships/image" Target="../media/image109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docs.magalu.cloud/docs/computing/virtual-machine/how-to/create-instances/create-instance" TargetMode="External"/><Relationship Id="rId4" Type="http://schemas.openxmlformats.org/officeDocument/2006/relationships/image" Target="../media/image5.png"/><Relationship Id="rId5" Type="http://schemas.openxmlformats.org/officeDocument/2006/relationships/image" Target="../media/image63.png"/><Relationship Id="rId6" Type="http://schemas.openxmlformats.org/officeDocument/2006/relationships/image" Target="../media/image4.png"/><Relationship Id="rId7" Type="http://schemas.openxmlformats.org/officeDocument/2006/relationships/image" Target="../media/image1.png"/><Relationship Id="rId8" Type="http://schemas.openxmlformats.org/officeDocument/2006/relationships/image" Target="../media/image122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5.png"/><Relationship Id="rId4" Type="http://schemas.openxmlformats.org/officeDocument/2006/relationships/image" Target="../media/image63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hyperlink" Target="https://docs.magalu.cloud/docs/storage/object-storage/how-to/buckets/create-list-delete-bucket" TargetMode="External"/><Relationship Id="rId8" Type="http://schemas.openxmlformats.org/officeDocument/2006/relationships/image" Target="../media/image118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63.png"/><Relationship Id="rId5" Type="http://schemas.openxmlformats.org/officeDocument/2006/relationships/image" Target="../media/image4.png"/><Relationship Id="rId6" Type="http://schemas.openxmlformats.org/officeDocument/2006/relationships/image" Target="../media/image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docs.magalu.cloud/docs/storage/object-storage/compatible-tools/terraform-configuration" TargetMode="External"/><Relationship Id="rId4" Type="http://schemas.openxmlformats.org/officeDocument/2006/relationships/image" Target="../media/image5.png"/><Relationship Id="rId5" Type="http://schemas.openxmlformats.org/officeDocument/2006/relationships/image" Target="../media/image63.png"/><Relationship Id="rId6" Type="http://schemas.openxmlformats.org/officeDocument/2006/relationships/image" Target="../media/image4.png"/><Relationship Id="rId7" Type="http://schemas.openxmlformats.org/officeDocument/2006/relationships/image" Target="../media/image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docs.magalu.cloud/docs/devops-tools/api-keys/how-to/other-products/create-api-key" TargetMode="External"/><Relationship Id="rId4" Type="http://schemas.openxmlformats.org/officeDocument/2006/relationships/image" Target="../media/image5.png"/><Relationship Id="rId9" Type="http://schemas.openxmlformats.org/officeDocument/2006/relationships/image" Target="../media/image123.png"/><Relationship Id="rId5" Type="http://schemas.openxmlformats.org/officeDocument/2006/relationships/image" Target="../media/image63.png"/><Relationship Id="rId6" Type="http://schemas.openxmlformats.org/officeDocument/2006/relationships/image" Target="../media/image4.png"/><Relationship Id="rId7" Type="http://schemas.openxmlformats.org/officeDocument/2006/relationships/image" Target="../media/image1.png"/><Relationship Id="rId8" Type="http://schemas.openxmlformats.org/officeDocument/2006/relationships/image" Target="../media/image124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5.png"/><Relationship Id="rId4" Type="http://schemas.openxmlformats.org/officeDocument/2006/relationships/image" Target="../media/image63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image" Target="../media/image131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5.png"/><Relationship Id="rId4" Type="http://schemas.openxmlformats.org/officeDocument/2006/relationships/image" Target="../media/image63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image" Target="../media/image126.png"/><Relationship Id="rId8" Type="http://schemas.openxmlformats.org/officeDocument/2006/relationships/image" Target="../media/image130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5.png"/><Relationship Id="rId4" Type="http://schemas.openxmlformats.org/officeDocument/2006/relationships/image" Target="../media/image63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image" Target="../media/image111.png"/><Relationship Id="rId8" Type="http://schemas.openxmlformats.org/officeDocument/2006/relationships/image" Target="../media/image133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5.png"/><Relationship Id="rId4" Type="http://schemas.openxmlformats.org/officeDocument/2006/relationships/image" Target="../media/image63.png"/><Relationship Id="rId5" Type="http://schemas.openxmlformats.org/officeDocument/2006/relationships/image" Target="../media/image4.png"/><Relationship Id="rId6" Type="http://schemas.openxmlformats.org/officeDocument/2006/relationships/image" Target="../media/image1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5.png"/><Relationship Id="rId4" Type="http://schemas.openxmlformats.org/officeDocument/2006/relationships/image" Target="../media/image63.png"/><Relationship Id="rId5" Type="http://schemas.openxmlformats.org/officeDocument/2006/relationships/image" Target="../media/image4.png"/><Relationship Id="rId6" Type="http://schemas.openxmlformats.org/officeDocument/2006/relationships/image" Target="../media/image1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5.xml"/><Relationship Id="rId3" Type="http://schemas.openxmlformats.org/officeDocument/2006/relationships/hyperlink" Target="https://magalu.cloud/" TargetMode="External"/><Relationship Id="rId4" Type="http://schemas.openxmlformats.org/officeDocument/2006/relationships/hyperlink" Target="https://docs.magalu.cloud/" TargetMode="External"/><Relationship Id="rId9" Type="http://schemas.openxmlformats.org/officeDocument/2006/relationships/hyperlink" Target="https://registry.terraform.io/providers/MagaluCloud/mgc/latest/docs" TargetMode="External"/><Relationship Id="rId5" Type="http://schemas.openxmlformats.org/officeDocument/2006/relationships/hyperlink" Target="https://docs.magalu.cloud/docs/onboarding/create-account" TargetMode="External"/><Relationship Id="rId6" Type="http://schemas.openxmlformats.org/officeDocument/2006/relationships/hyperlink" Target="https://docs.magalu.cloud/docs/devops-tools/cli-mgc/overview" TargetMode="External"/><Relationship Id="rId7" Type="http://schemas.openxmlformats.org/officeDocument/2006/relationships/hyperlink" Target="https://docs.magalu.cloud/docs/computing/virtual-machine/overview" TargetMode="External"/><Relationship Id="rId8" Type="http://schemas.openxmlformats.org/officeDocument/2006/relationships/hyperlink" Target="https://docs.magalu.cloud/docs/storage/object-storage/overview" TargetMode="External"/><Relationship Id="rId11" Type="http://schemas.openxmlformats.org/officeDocument/2006/relationships/image" Target="../media/image5.png"/><Relationship Id="rId10" Type="http://schemas.openxmlformats.org/officeDocument/2006/relationships/hyperlink" Target="https://github.com/fernandoravagnani-luizalabs/mgc-workshop" TargetMode="External"/><Relationship Id="rId13" Type="http://schemas.openxmlformats.org/officeDocument/2006/relationships/image" Target="../media/image4.png"/><Relationship Id="rId12" Type="http://schemas.openxmlformats.org/officeDocument/2006/relationships/image" Target="../media/image63.png"/><Relationship Id="rId14" Type="http://schemas.openxmlformats.org/officeDocument/2006/relationships/image" Target="../media/image1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5.png"/><Relationship Id="rId4" Type="http://schemas.openxmlformats.org/officeDocument/2006/relationships/image" Target="../media/image63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image" Target="../media/image129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5.png"/><Relationship Id="rId4" Type="http://schemas.openxmlformats.org/officeDocument/2006/relationships/image" Target="../media/image63.png"/><Relationship Id="rId5" Type="http://schemas.openxmlformats.org/officeDocument/2006/relationships/image" Target="../media/image4.png"/><Relationship Id="rId6" Type="http://schemas.openxmlformats.org/officeDocument/2006/relationships/image" Target="../media/image1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5.png"/><Relationship Id="rId4" Type="http://schemas.openxmlformats.org/officeDocument/2006/relationships/image" Target="../media/image63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hyperlink" Target="http://drive.google.com/file/d/1lqDcSpc0nVU3ShnZZEsFjw3skYCLIQyM/view" TargetMode="External"/><Relationship Id="rId8" Type="http://schemas.openxmlformats.org/officeDocument/2006/relationships/image" Target="../media/image113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5.png"/><Relationship Id="rId4" Type="http://schemas.openxmlformats.org/officeDocument/2006/relationships/image" Target="../media/image63.png"/><Relationship Id="rId5" Type="http://schemas.openxmlformats.org/officeDocument/2006/relationships/image" Target="../media/image4.png"/><Relationship Id="rId6" Type="http://schemas.openxmlformats.org/officeDocument/2006/relationships/image" Target="../media/image1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5.png"/><Relationship Id="rId4" Type="http://schemas.openxmlformats.org/officeDocument/2006/relationships/image" Target="../media/image63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image" Target="../media/image120.png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25.png"/><Relationship Id="rId4" Type="http://schemas.openxmlformats.org/officeDocument/2006/relationships/image" Target="../media/image13.png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132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14" title="bg2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4"/>
            <a:ext cx="914403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14"/>
          <p:cNvSpPr txBox="1"/>
          <p:nvPr/>
        </p:nvSpPr>
        <p:spPr>
          <a:xfrm>
            <a:off x="771800" y="1557113"/>
            <a:ext cx="3886500" cy="241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900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Da Teoria à Prática: </a:t>
            </a:r>
            <a:endParaRPr sz="2900"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900"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900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Construindo sua Primeira Solução na Magalu Cloud</a:t>
            </a:r>
            <a:endParaRPr sz="2900"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60" name="Google Shape;60;p14"/>
          <p:cNvSpPr txBox="1"/>
          <p:nvPr/>
        </p:nvSpPr>
        <p:spPr>
          <a:xfrm>
            <a:off x="771800" y="1142238"/>
            <a:ext cx="39813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endParaRPr b="1" sz="15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1" name="Google Shape;61;p14" title="Logo-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59631" y="1710565"/>
            <a:ext cx="2576699" cy="686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14" title="saopaulo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59624" y="2812516"/>
            <a:ext cx="2218699" cy="620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15" title="Slide 3.png"/>
          <p:cNvPicPr preferRelativeResize="0"/>
          <p:nvPr/>
        </p:nvPicPr>
        <p:blipFill rotWithShape="1">
          <a:blip r:embed="rId3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9" name="Google Shape;69;p15"/>
          <p:cNvSpPr txBox="1"/>
          <p:nvPr/>
        </p:nvSpPr>
        <p:spPr>
          <a:xfrm>
            <a:off x="294750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pt-BR" sz="2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Quem Somos</a:t>
            </a:r>
            <a:endParaRPr b="1" sz="2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2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0" name="Google Shape;70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750" y="5026225"/>
            <a:ext cx="8978525" cy="44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71;p15"/>
          <p:cNvPicPr preferRelativeResize="0"/>
          <p:nvPr/>
        </p:nvPicPr>
        <p:blipFill rotWithShape="1">
          <a:blip r:embed="rId5">
            <a:alphaModFix/>
          </a:blip>
          <a:srcRect b="9083" l="0" r="0" t="0"/>
          <a:stretch/>
        </p:blipFill>
        <p:spPr>
          <a:xfrm>
            <a:off x="152400" y="991650"/>
            <a:ext cx="4246251" cy="234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5"/>
          <p:cNvPicPr preferRelativeResize="0"/>
          <p:nvPr/>
        </p:nvPicPr>
        <p:blipFill rotWithShape="1">
          <a:blip r:embed="rId6">
            <a:alphaModFix/>
          </a:blip>
          <a:srcRect b="12450" l="0" r="0" t="0"/>
          <a:stretch/>
        </p:blipFill>
        <p:spPr>
          <a:xfrm>
            <a:off x="4551050" y="991650"/>
            <a:ext cx="4440549" cy="2375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932825" y="3217425"/>
            <a:ext cx="1425450" cy="1425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438450" y="3210152"/>
            <a:ext cx="1425450" cy="14400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5146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77200" y="190460"/>
            <a:ext cx="1456100" cy="248161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2025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34748" y="2887651"/>
            <a:ext cx="986113" cy="297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7" title="202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963247" y="567401"/>
            <a:ext cx="946225" cy="278774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7" title="2023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458000" y="2908525"/>
            <a:ext cx="919524" cy="27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7" title="2020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876532" y="261723"/>
            <a:ext cx="946225" cy="27641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9" name="Google Shape;89;p17"/>
          <p:cNvCxnSpPr/>
          <p:nvPr/>
        </p:nvCxnSpPr>
        <p:spPr>
          <a:xfrm>
            <a:off x="8300" y="2569425"/>
            <a:ext cx="8910000" cy="0"/>
          </a:xfrm>
          <a:prstGeom prst="straightConnector1">
            <a:avLst/>
          </a:prstGeom>
          <a:noFill/>
          <a:ln cap="flat" cmpd="sng" w="19050">
            <a:solidFill>
              <a:srgbClr val="00D2FF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90" name="Google Shape;90;p17" title="sphere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28263" y="2220879"/>
            <a:ext cx="697100" cy="69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7" title="2010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03699" y="2887648"/>
            <a:ext cx="946217" cy="297287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7"/>
          <p:cNvSpPr txBox="1"/>
          <p:nvPr/>
        </p:nvSpPr>
        <p:spPr>
          <a:xfrm>
            <a:off x="300475" y="3528231"/>
            <a:ext cx="18999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O Magalu foi a primeira empresa varejista no Brasil a migrar para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uma nuvem pública.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3" name="Google Shape;93;p17"/>
          <p:cNvSpPr txBox="1"/>
          <p:nvPr/>
        </p:nvSpPr>
        <p:spPr>
          <a:xfrm>
            <a:off x="315100" y="3173856"/>
            <a:ext cx="1693500" cy="4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Pioneirismo</a:t>
            </a:r>
            <a:endParaRPr b="1" sz="1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4" name="Google Shape;94;p17"/>
          <p:cNvSpPr txBox="1"/>
          <p:nvPr/>
        </p:nvSpPr>
        <p:spPr>
          <a:xfrm>
            <a:off x="1734900" y="881438"/>
            <a:ext cx="2131500" cy="13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Surge a ideia inicial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de criar uma nuvem acessível e com um propósito claro: impulsionar a competitividade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do Brasil através da tecnologia.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5" name="Google Shape;95;p17"/>
          <p:cNvSpPr txBox="1"/>
          <p:nvPr/>
        </p:nvSpPr>
        <p:spPr>
          <a:xfrm>
            <a:off x="1749513" y="527056"/>
            <a:ext cx="1693500" cy="4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Idealização</a:t>
            </a:r>
            <a:endParaRPr b="1" sz="1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6" name="Google Shape;96;p17" title="sphere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982600" y="2220879"/>
            <a:ext cx="697100" cy="6971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7"/>
          <p:cNvSpPr txBox="1"/>
          <p:nvPr/>
        </p:nvSpPr>
        <p:spPr>
          <a:xfrm>
            <a:off x="3316350" y="3528231"/>
            <a:ext cx="18999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Nasce a Magalu Cloud para democratizar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o acesso à nuvem nos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negócios brasileiros, de forma personalizável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 fácil de gerenciar.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8" name="Google Shape;98;p17"/>
          <p:cNvSpPr txBox="1"/>
          <p:nvPr/>
        </p:nvSpPr>
        <p:spPr>
          <a:xfrm>
            <a:off x="3330975" y="3173856"/>
            <a:ext cx="1693500" cy="4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Inovação</a:t>
            </a:r>
            <a:endParaRPr b="1" sz="1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9" name="Google Shape;99;p17" title="sphere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582563" y="2220879"/>
            <a:ext cx="697100" cy="6971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7"/>
          <p:cNvSpPr txBox="1"/>
          <p:nvPr/>
        </p:nvSpPr>
        <p:spPr>
          <a:xfrm>
            <a:off x="4821600" y="1189481"/>
            <a:ext cx="16935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Novas parcerias,</a:t>
            </a: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ampliação de casos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de uso, portfólio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 categorias de produtos.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1" name="Google Shape;101;p17"/>
          <p:cNvSpPr txBox="1"/>
          <p:nvPr/>
        </p:nvSpPr>
        <p:spPr>
          <a:xfrm>
            <a:off x="4836225" y="835106"/>
            <a:ext cx="1899900" cy="4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Consolidação</a:t>
            </a:r>
            <a:endParaRPr b="1" sz="1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2" name="Google Shape;102;p17" title="sphere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087813" y="2220879"/>
            <a:ext cx="697100" cy="6971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7"/>
          <p:cNvSpPr txBox="1"/>
          <p:nvPr/>
        </p:nvSpPr>
        <p:spPr>
          <a:xfrm>
            <a:off x="6332225" y="3511988"/>
            <a:ext cx="2511300" cy="13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Acelerar o crescimento do ecossistema de inovação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 varejo nacional, ao oferecer uma infraestrutura de nuvem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robusta, acessível e adaptada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às necessidade do mercado brasileiro.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4" name="Google Shape;104;p17"/>
          <p:cNvSpPr txBox="1"/>
          <p:nvPr/>
        </p:nvSpPr>
        <p:spPr>
          <a:xfrm>
            <a:off x="6346850" y="3157606"/>
            <a:ext cx="1899900" cy="4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Ecossistema</a:t>
            </a:r>
            <a:endParaRPr b="1" sz="1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5" name="Google Shape;105;p17" title="sphere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598438" y="2204629"/>
            <a:ext cx="697100" cy="697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/>
        </p:nvSpPr>
        <p:spPr>
          <a:xfrm>
            <a:off x="699500" y="2735463"/>
            <a:ext cx="3080400" cy="16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Impulsionar</a:t>
            </a:r>
            <a:endParaRPr b="1" sz="24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a competitividade</a:t>
            </a:r>
            <a:endParaRPr sz="2400"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do </a:t>
            </a:r>
            <a:r>
              <a:rPr b="1" lang="pt-BR" sz="2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Brasil</a:t>
            </a:r>
            <a:r>
              <a:rPr lang="pt-BR" sz="2400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 através</a:t>
            </a:r>
            <a:endParaRPr sz="2400"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da</a:t>
            </a:r>
            <a:r>
              <a:rPr b="1" lang="pt-BR" sz="2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tecnologia.</a:t>
            </a:r>
            <a:endParaRPr b="1" sz="24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1" name="Google Shape;111;p18"/>
          <p:cNvSpPr txBox="1"/>
          <p:nvPr/>
        </p:nvSpPr>
        <p:spPr>
          <a:xfrm>
            <a:off x="699500" y="2212263"/>
            <a:ext cx="1707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200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rPr>
              <a:t>Propósito:</a:t>
            </a:r>
            <a:endParaRPr b="1" sz="2200">
              <a:solidFill>
                <a:srgbClr val="00D2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2" name="Google Shape;112;p18"/>
          <p:cNvSpPr txBox="1"/>
          <p:nvPr/>
        </p:nvSpPr>
        <p:spPr>
          <a:xfrm>
            <a:off x="4236700" y="2735463"/>
            <a:ext cx="17640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Ser alicerce da transformação</a:t>
            </a:r>
            <a:endParaRPr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e criadores de valor global</a:t>
            </a:r>
            <a:endParaRPr b="1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3" name="Google Shape;113;p18"/>
          <p:cNvSpPr txBox="1"/>
          <p:nvPr/>
        </p:nvSpPr>
        <p:spPr>
          <a:xfrm>
            <a:off x="4236700" y="2212263"/>
            <a:ext cx="1707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rgbClr val="00D2FF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Missão:</a:t>
            </a:r>
            <a:endParaRPr sz="2200">
              <a:solidFill>
                <a:srgbClr val="00D2FF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114" name="Google Shape;114;p18"/>
          <p:cNvSpPr txBox="1"/>
          <p:nvPr/>
        </p:nvSpPr>
        <p:spPr>
          <a:xfrm>
            <a:off x="6309400" y="2735463"/>
            <a:ext cx="21351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Empoderarmos</a:t>
            </a:r>
            <a:r>
              <a:rPr lang="pt-BR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 para transformar, ao lado dos nossos clientes, acreditando que o impossível é apenas um ponto de vista.</a:t>
            </a:r>
            <a:endParaRPr b="1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5" name="Google Shape;115;p18"/>
          <p:cNvSpPr txBox="1"/>
          <p:nvPr/>
        </p:nvSpPr>
        <p:spPr>
          <a:xfrm>
            <a:off x="6309400" y="2212263"/>
            <a:ext cx="1707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rgbClr val="00D2FF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Valores</a:t>
            </a:r>
            <a:r>
              <a:rPr lang="pt-BR" sz="2200">
                <a:solidFill>
                  <a:srgbClr val="00D2FF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:</a:t>
            </a:r>
            <a:endParaRPr sz="2200">
              <a:solidFill>
                <a:srgbClr val="00D2FF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116" name="Google Shape;116;p18"/>
          <p:cNvSpPr txBox="1"/>
          <p:nvPr/>
        </p:nvSpPr>
        <p:spPr>
          <a:xfrm>
            <a:off x="699500" y="1199663"/>
            <a:ext cx="6158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Magalu Cloud é, age e comunica de dentro para fora.</a:t>
            </a:r>
            <a:endParaRPr sz="1800"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pic>
        <p:nvPicPr>
          <p:cNvPr id="117" name="Google Shape;117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3823" y="745737"/>
            <a:ext cx="2447000" cy="417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2587200" y="153750"/>
            <a:ext cx="3969600" cy="47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Pilares de </a:t>
            </a:r>
            <a:r>
              <a:rPr b="1" lang="pt-BR" sz="2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diferenciação</a:t>
            </a:r>
            <a:endParaRPr b="1" sz="27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3" name="Google Shape;123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77200" y="190460"/>
            <a:ext cx="1456100" cy="2481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9" title="Ativo 1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05074" y="1119272"/>
            <a:ext cx="852060" cy="618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9" title="Ativo 2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131461" y="1116255"/>
            <a:ext cx="852040" cy="513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9" title="Ativo 3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221704" y="1093824"/>
            <a:ext cx="714340" cy="6660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9" title="Ativo 6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48059" y="1093832"/>
            <a:ext cx="714340" cy="72309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9"/>
          <p:cNvSpPr txBox="1"/>
          <p:nvPr/>
        </p:nvSpPr>
        <p:spPr>
          <a:xfrm>
            <a:off x="876800" y="1878750"/>
            <a:ext cx="13086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Mais</a:t>
            </a:r>
            <a:endParaRPr b="1" sz="1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Economia</a:t>
            </a:r>
            <a:endParaRPr b="1" sz="1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9" name="Google Shape;129;p19"/>
          <p:cNvSpPr txBox="1"/>
          <p:nvPr/>
        </p:nvSpPr>
        <p:spPr>
          <a:xfrm>
            <a:off x="4745163" y="1878750"/>
            <a:ext cx="1667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7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Mais Proximidade </a:t>
            </a:r>
            <a:endParaRPr b="1" sz="17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0" name="Google Shape;130;p19"/>
          <p:cNvSpPr txBox="1"/>
          <p:nvPr/>
        </p:nvSpPr>
        <p:spPr>
          <a:xfrm>
            <a:off x="2829375" y="1878750"/>
            <a:ext cx="1456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7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Mais</a:t>
            </a:r>
            <a:endParaRPr b="1" sz="17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7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Velocidade</a:t>
            </a:r>
            <a:endParaRPr b="1" sz="17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1" name="Google Shape;131;p19"/>
          <p:cNvSpPr txBox="1"/>
          <p:nvPr/>
        </p:nvSpPr>
        <p:spPr>
          <a:xfrm>
            <a:off x="6877113" y="1878750"/>
            <a:ext cx="1456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Mais</a:t>
            </a:r>
            <a:endParaRPr b="1" sz="1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Escala</a:t>
            </a:r>
            <a:endParaRPr b="1" sz="16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2" name="Google Shape;132;p19"/>
          <p:cNvSpPr txBox="1"/>
          <p:nvPr/>
        </p:nvSpPr>
        <p:spPr>
          <a:xfrm>
            <a:off x="710450" y="2419650"/>
            <a:ext cx="16674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Cloud com o melhor custo-benefício</a:t>
            </a:r>
            <a:endParaRPr sz="1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 precificação em Real, gerando previsibilidade</a:t>
            </a:r>
            <a:endParaRPr sz="1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 potencial economia</a:t>
            </a:r>
            <a:endParaRPr sz="1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de até 75%.</a:t>
            </a:r>
            <a:endParaRPr sz="1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3" name="Google Shape;133;p19"/>
          <p:cNvSpPr txBox="1"/>
          <p:nvPr/>
        </p:nvSpPr>
        <p:spPr>
          <a:xfrm>
            <a:off x="4686875" y="2419650"/>
            <a:ext cx="1725600" cy="107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Atendimento humanizado, em português, e que entende o negócio de cada cliente, promovendo</a:t>
            </a:r>
            <a:endParaRPr sz="1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otimizações desde </a:t>
            </a:r>
            <a:endParaRPr sz="1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 migração.</a:t>
            </a:r>
            <a:endParaRPr sz="1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4" name="Google Shape;134;p19"/>
          <p:cNvSpPr txBox="1"/>
          <p:nvPr/>
        </p:nvSpPr>
        <p:spPr>
          <a:xfrm>
            <a:off x="2734425" y="2419650"/>
            <a:ext cx="1667400" cy="107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Data Centers no Brasil, com infraestrutura moderna e de alta performance, garantindo menor latência e mais velocidade no processamento.</a:t>
            </a:r>
            <a:endParaRPr sz="1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5" name="Google Shape;135;p19"/>
          <p:cNvSpPr txBox="1"/>
          <p:nvPr/>
        </p:nvSpPr>
        <p:spPr>
          <a:xfrm>
            <a:off x="6789825" y="2419650"/>
            <a:ext cx="1630800" cy="107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Arquitetura</a:t>
            </a:r>
            <a:endParaRPr sz="1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preparada para escalar, acompanhando</a:t>
            </a:r>
            <a:endParaRPr sz="1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 expansão das aplicações, demanda</a:t>
            </a:r>
            <a:endParaRPr sz="1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 workloads com estabilidade e eficiência.</a:t>
            </a:r>
            <a:endParaRPr sz="1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6" name="Google Shape;136;p19" title="Asset 2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926700" y="3938125"/>
            <a:ext cx="1344475" cy="838864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9"/>
          <p:cNvSpPr txBox="1"/>
          <p:nvPr/>
        </p:nvSpPr>
        <p:spPr>
          <a:xfrm>
            <a:off x="2498994" y="3960116"/>
            <a:ext cx="5718300" cy="42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25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Garantimos soberania de dados, conformidade total com a LGPD e processos alinhados às normas ISO de segurança da informação. </a:t>
            </a:r>
            <a:endParaRPr sz="1125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8" name="Google Shape;138;p19">
            <a:hlinkClick r:id="rId10"/>
          </p:cNvPr>
          <p:cNvSpPr/>
          <p:nvPr/>
        </p:nvSpPr>
        <p:spPr>
          <a:xfrm>
            <a:off x="2498994" y="4467515"/>
            <a:ext cx="1691700" cy="223200"/>
          </a:xfrm>
          <a:prstGeom prst="roundRect">
            <a:avLst>
              <a:gd fmla="val 16667" name="adj"/>
            </a:avLst>
          </a:prstGeom>
          <a:noFill/>
          <a:ln cap="flat" cmpd="sng" w="11900">
            <a:solidFill>
              <a:srgbClr val="00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4300" lIns="114300" spcFirstLastPara="1" rIns="114300" wrap="square" tIns="11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000">
                <a:solidFill>
                  <a:schemeClr val="lt1"/>
                </a:solidFill>
                <a:uFill>
                  <a:noFill/>
                </a:uFill>
                <a:latin typeface="Nunito"/>
                <a:ea typeface="Nunito"/>
                <a:cs typeface="Nunito"/>
                <a:sym typeface="Nunito"/>
                <a:hlinkClick r:id="rId11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Política de Privacidade</a:t>
            </a:r>
            <a:endParaRPr b="1" sz="10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39" name="Google Shape;139;p19">
            <a:hlinkClick r:id="rId12"/>
          </p:cNvPr>
          <p:cNvSpPr/>
          <p:nvPr/>
        </p:nvSpPr>
        <p:spPr>
          <a:xfrm>
            <a:off x="4362613" y="4467515"/>
            <a:ext cx="1344600" cy="223200"/>
          </a:xfrm>
          <a:prstGeom prst="roundRect">
            <a:avLst>
              <a:gd fmla="val 16667" name="adj"/>
            </a:avLst>
          </a:prstGeom>
          <a:noFill/>
          <a:ln cap="flat" cmpd="sng" w="11900">
            <a:solidFill>
              <a:srgbClr val="00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4300" lIns="114300" spcFirstLastPara="1" rIns="114300" wrap="square" tIns="11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000">
                <a:solidFill>
                  <a:schemeClr val="lt1"/>
                </a:solidFill>
                <a:uFill>
                  <a:noFill/>
                </a:uFill>
                <a:latin typeface="Nunito"/>
                <a:ea typeface="Nunito"/>
                <a:cs typeface="Nunito"/>
                <a:sym typeface="Nunito"/>
                <a:hlinkClick r:id="rId1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Política de SGSI</a:t>
            </a:r>
            <a:endParaRPr b="1" sz="10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20" title="bg38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5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0"/>
          <p:cNvSpPr txBox="1"/>
          <p:nvPr/>
        </p:nvSpPr>
        <p:spPr>
          <a:xfrm>
            <a:off x="474325" y="1258475"/>
            <a:ext cx="22287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O </a:t>
            </a:r>
            <a:r>
              <a:rPr b="1" lang="pt-BR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futuro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da nuvem</a:t>
            </a:r>
            <a:endParaRPr sz="2800"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é </a:t>
            </a:r>
            <a:r>
              <a:rPr b="1" lang="pt-BR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brasileiro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6" name="Google Shape;146;p20"/>
          <p:cNvSpPr txBox="1"/>
          <p:nvPr/>
        </p:nvSpPr>
        <p:spPr>
          <a:xfrm>
            <a:off x="474325" y="2856313"/>
            <a:ext cx="2102100" cy="13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Regiões:</a:t>
            </a:r>
            <a:endParaRPr b="1"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br-ne1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br-se1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AZs (Availability Zones)</a:t>
            </a:r>
            <a:endParaRPr b="1"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br-ne1</a:t>
            </a: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= 2 zonas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br-se1</a:t>
            </a: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= 3 zonas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47" name="Google Shape;147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1625" y="387323"/>
            <a:ext cx="1456100" cy="248161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0"/>
          <p:cNvSpPr txBox="1"/>
          <p:nvPr/>
        </p:nvSpPr>
        <p:spPr>
          <a:xfrm>
            <a:off x="5974925" y="635475"/>
            <a:ext cx="9636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9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br-ne1</a:t>
            </a:r>
            <a:endParaRPr b="1" sz="19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9" name="Google Shape;149;p20"/>
          <p:cNvSpPr txBox="1"/>
          <p:nvPr/>
        </p:nvSpPr>
        <p:spPr>
          <a:xfrm>
            <a:off x="5082875" y="3816250"/>
            <a:ext cx="9636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9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br-se1</a:t>
            </a:r>
            <a:endParaRPr b="1" sz="19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0" name="Google Shape;150;p20"/>
          <p:cNvSpPr txBox="1"/>
          <p:nvPr/>
        </p:nvSpPr>
        <p:spPr>
          <a:xfrm>
            <a:off x="4600200" y="2315350"/>
            <a:ext cx="963600" cy="6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10 Gbps</a:t>
            </a:r>
            <a:endParaRPr b="1" sz="15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&gt; 6</a:t>
            </a:r>
            <a:r>
              <a:rPr lang="pt-BR"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ms</a:t>
            </a:r>
            <a:endParaRPr b="1" sz="15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1" name="Google Shape;151;p20"/>
          <p:cNvSpPr txBox="1"/>
          <p:nvPr/>
        </p:nvSpPr>
        <p:spPr>
          <a:xfrm>
            <a:off x="7513675" y="3605950"/>
            <a:ext cx="10047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Internet</a:t>
            </a:r>
            <a:endParaRPr b="1" sz="15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1" title="icon 1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0625" y="3537463"/>
            <a:ext cx="361775" cy="359153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1"/>
          <p:cNvSpPr txBox="1"/>
          <p:nvPr/>
        </p:nvSpPr>
        <p:spPr>
          <a:xfrm>
            <a:off x="360401" y="718125"/>
            <a:ext cx="7078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A transformação do seu negócio começa aqui:</a:t>
            </a:r>
            <a:endParaRPr b="1" sz="2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58" name="Google Shape;158;p21" title="latencia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543500" y="10"/>
            <a:ext cx="1456089" cy="13919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46875" y="403250"/>
            <a:ext cx="1710899" cy="2915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1"/>
          <p:cNvSpPr txBox="1"/>
          <p:nvPr/>
        </p:nvSpPr>
        <p:spPr>
          <a:xfrm>
            <a:off x="7851332" y="559714"/>
            <a:ext cx="962700" cy="2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62025" lIns="62025" spcFirstLastPara="1" rIns="62025" wrap="square" tIns="620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746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LATÊNCIA MÉDIA</a:t>
            </a:r>
            <a:endParaRPr sz="746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1" name="Google Shape;161;p21"/>
          <p:cNvSpPr txBox="1"/>
          <p:nvPr/>
        </p:nvSpPr>
        <p:spPr>
          <a:xfrm>
            <a:off x="7886013" y="656936"/>
            <a:ext cx="235200" cy="428100"/>
          </a:xfrm>
          <a:prstGeom prst="rect">
            <a:avLst/>
          </a:prstGeom>
          <a:noFill/>
          <a:ln>
            <a:noFill/>
          </a:ln>
        </p:spPr>
        <p:txBody>
          <a:bodyPr anchorCtr="0" anchor="t" bIns="62025" lIns="62025" spcFirstLastPara="1" rIns="62025" wrap="square" tIns="620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968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≤</a:t>
            </a:r>
            <a:endParaRPr b="1" sz="1968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2" name="Google Shape;162;p21"/>
          <p:cNvSpPr txBox="1"/>
          <p:nvPr/>
        </p:nvSpPr>
        <p:spPr>
          <a:xfrm>
            <a:off x="8087146" y="656936"/>
            <a:ext cx="692100" cy="428100"/>
          </a:xfrm>
          <a:prstGeom prst="rect">
            <a:avLst/>
          </a:prstGeom>
          <a:noFill/>
          <a:ln>
            <a:noFill/>
          </a:ln>
        </p:spPr>
        <p:txBody>
          <a:bodyPr anchorCtr="0" anchor="t" bIns="62025" lIns="62025" spcFirstLastPara="1" rIns="62025" wrap="square" tIns="620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968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6ms</a:t>
            </a:r>
            <a:endParaRPr b="1" sz="1968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63" name="Google Shape;163;p21" title="icon 7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52968" y="1675320"/>
            <a:ext cx="361790" cy="435188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21"/>
          <p:cNvSpPr txBox="1"/>
          <p:nvPr/>
        </p:nvSpPr>
        <p:spPr>
          <a:xfrm>
            <a:off x="838612" y="1601500"/>
            <a:ext cx="1710900" cy="4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69025" lIns="69025" spcFirstLastPara="1" rIns="69025" wrap="square" tIns="690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812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Computação</a:t>
            </a:r>
            <a:endParaRPr b="1" sz="1812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5" name="Google Shape;165;p21"/>
          <p:cNvSpPr txBox="1"/>
          <p:nvPr/>
        </p:nvSpPr>
        <p:spPr>
          <a:xfrm>
            <a:off x="838612" y="1897427"/>
            <a:ext cx="1710900" cy="2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69025" lIns="69025" spcFirstLastPara="1" rIns="69025" wrap="square" tIns="690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831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rPr>
              <a:t>Alto desempenho</a:t>
            </a:r>
            <a:endParaRPr b="1" sz="831">
              <a:solidFill>
                <a:srgbClr val="00D2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6" name="Google Shape;166;p21"/>
          <p:cNvSpPr txBox="1"/>
          <p:nvPr/>
        </p:nvSpPr>
        <p:spPr>
          <a:xfrm>
            <a:off x="386018" y="2164816"/>
            <a:ext cx="2019300" cy="889200"/>
          </a:xfrm>
          <a:prstGeom prst="rect">
            <a:avLst/>
          </a:prstGeom>
          <a:noFill/>
          <a:ln>
            <a:noFill/>
          </a:ln>
        </p:spPr>
        <p:txBody>
          <a:bodyPr anchorCtr="0" anchor="t" bIns="112400" lIns="112400" spcFirstLastPara="1" rIns="112400" wrap="square" tIns="1124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61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Virtual Machines</a:t>
            </a:r>
            <a:endParaRPr sz="861"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61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Kubernetes gerenciados </a:t>
            </a:r>
            <a:r>
              <a:rPr b="1" lang="pt-BR" sz="861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rPr>
              <a:t>*NOVO*</a:t>
            </a:r>
            <a:endParaRPr sz="861">
              <a:solidFill>
                <a:srgbClr val="00D2FF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61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Container Registry</a:t>
            </a:r>
            <a:endParaRPr sz="861"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861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GPU’S</a:t>
            </a:r>
            <a:endParaRPr sz="861"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861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Linux / Windows</a:t>
            </a:r>
            <a:endParaRPr sz="861"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167" name="Google Shape;167;p21"/>
          <p:cNvSpPr/>
          <p:nvPr/>
        </p:nvSpPr>
        <p:spPr>
          <a:xfrm>
            <a:off x="400598" y="2335018"/>
            <a:ext cx="40200" cy="40200"/>
          </a:xfrm>
          <a:prstGeom prst="ellipse">
            <a:avLst/>
          </a:prstGeom>
          <a:solidFill>
            <a:srgbClr val="00FFFF"/>
          </a:solidFill>
          <a:ln>
            <a:noFill/>
          </a:ln>
        </p:spPr>
        <p:txBody>
          <a:bodyPr anchorCtr="0" anchor="ctr" bIns="112400" lIns="112400" spcFirstLastPara="1" rIns="112400" wrap="square" tIns="112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21"/>
          </a:p>
        </p:txBody>
      </p:sp>
      <p:sp>
        <p:nvSpPr>
          <p:cNvPr id="168" name="Google Shape;168;p21"/>
          <p:cNvSpPr/>
          <p:nvPr/>
        </p:nvSpPr>
        <p:spPr>
          <a:xfrm>
            <a:off x="400598" y="2463362"/>
            <a:ext cx="40200" cy="40200"/>
          </a:xfrm>
          <a:prstGeom prst="ellipse">
            <a:avLst/>
          </a:prstGeom>
          <a:solidFill>
            <a:srgbClr val="00FFFF"/>
          </a:solidFill>
          <a:ln>
            <a:noFill/>
          </a:ln>
        </p:spPr>
        <p:txBody>
          <a:bodyPr anchorCtr="0" anchor="ctr" bIns="112400" lIns="112400" spcFirstLastPara="1" rIns="112400" wrap="square" tIns="112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21"/>
          </a:p>
        </p:txBody>
      </p:sp>
      <p:sp>
        <p:nvSpPr>
          <p:cNvPr id="169" name="Google Shape;169;p21"/>
          <p:cNvSpPr/>
          <p:nvPr/>
        </p:nvSpPr>
        <p:spPr>
          <a:xfrm>
            <a:off x="400598" y="2591690"/>
            <a:ext cx="40200" cy="40200"/>
          </a:xfrm>
          <a:prstGeom prst="ellipse">
            <a:avLst/>
          </a:prstGeom>
          <a:solidFill>
            <a:srgbClr val="00FFFF"/>
          </a:solidFill>
          <a:ln>
            <a:noFill/>
          </a:ln>
        </p:spPr>
        <p:txBody>
          <a:bodyPr anchorCtr="0" anchor="ctr" bIns="112400" lIns="112400" spcFirstLastPara="1" rIns="112400" wrap="square" tIns="112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21"/>
          </a:p>
        </p:txBody>
      </p:sp>
      <p:sp>
        <p:nvSpPr>
          <p:cNvPr id="170" name="Google Shape;170;p21"/>
          <p:cNvSpPr/>
          <p:nvPr/>
        </p:nvSpPr>
        <p:spPr>
          <a:xfrm>
            <a:off x="400598" y="2720049"/>
            <a:ext cx="40200" cy="40200"/>
          </a:xfrm>
          <a:prstGeom prst="ellipse">
            <a:avLst/>
          </a:prstGeom>
          <a:solidFill>
            <a:srgbClr val="00FFFF"/>
          </a:solidFill>
          <a:ln>
            <a:noFill/>
          </a:ln>
        </p:spPr>
        <p:txBody>
          <a:bodyPr anchorCtr="0" anchor="ctr" bIns="112400" lIns="112400" spcFirstLastPara="1" rIns="112400" wrap="square" tIns="112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21"/>
          </a:p>
        </p:txBody>
      </p:sp>
      <p:sp>
        <p:nvSpPr>
          <p:cNvPr id="171" name="Google Shape;171;p21"/>
          <p:cNvSpPr/>
          <p:nvPr/>
        </p:nvSpPr>
        <p:spPr>
          <a:xfrm>
            <a:off x="400598" y="2848392"/>
            <a:ext cx="40200" cy="40200"/>
          </a:xfrm>
          <a:prstGeom prst="ellipse">
            <a:avLst/>
          </a:prstGeom>
          <a:solidFill>
            <a:srgbClr val="00FFFF"/>
          </a:solidFill>
          <a:ln>
            <a:noFill/>
          </a:ln>
        </p:spPr>
        <p:txBody>
          <a:bodyPr anchorCtr="0" anchor="ctr" bIns="112400" lIns="112400" spcFirstLastPara="1" rIns="112400" wrap="square" tIns="112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21"/>
          </a:p>
        </p:txBody>
      </p:sp>
      <p:sp>
        <p:nvSpPr>
          <p:cNvPr id="172" name="Google Shape;172;p21"/>
          <p:cNvSpPr txBox="1"/>
          <p:nvPr/>
        </p:nvSpPr>
        <p:spPr>
          <a:xfrm>
            <a:off x="6466117" y="1601500"/>
            <a:ext cx="2227500" cy="4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69025" lIns="69025" spcFirstLastPara="1" rIns="69025" wrap="square" tIns="690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812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Armazenamento</a:t>
            </a:r>
            <a:endParaRPr b="1" sz="1812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3" name="Google Shape;173;p21"/>
          <p:cNvSpPr txBox="1"/>
          <p:nvPr/>
        </p:nvSpPr>
        <p:spPr>
          <a:xfrm>
            <a:off x="6466124" y="1897415"/>
            <a:ext cx="1710900" cy="2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69025" lIns="69025" spcFirstLastPara="1" rIns="69025" wrap="square" tIns="690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831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rPr>
              <a:t>Eficiência</a:t>
            </a:r>
            <a:endParaRPr b="1" sz="831">
              <a:solidFill>
                <a:srgbClr val="00D2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4" name="Google Shape;174;p21"/>
          <p:cNvSpPr txBox="1"/>
          <p:nvPr/>
        </p:nvSpPr>
        <p:spPr>
          <a:xfrm>
            <a:off x="6013531" y="2164803"/>
            <a:ext cx="2019300" cy="624300"/>
          </a:xfrm>
          <a:prstGeom prst="rect">
            <a:avLst/>
          </a:prstGeom>
          <a:noFill/>
          <a:ln>
            <a:noFill/>
          </a:ln>
        </p:spPr>
        <p:txBody>
          <a:bodyPr anchorCtr="0" anchor="t" bIns="112400" lIns="112400" spcFirstLastPara="1" rIns="112400" wrap="square" tIns="1124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861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Block Storage</a:t>
            </a:r>
            <a:endParaRPr sz="861"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861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Object Storage</a:t>
            </a:r>
            <a:endParaRPr sz="861"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61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Snapshot</a:t>
            </a:r>
            <a:endParaRPr sz="861"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175" name="Google Shape;175;p21"/>
          <p:cNvSpPr/>
          <p:nvPr/>
        </p:nvSpPr>
        <p:spPr>
          <a:xfrm>
            <a:off x="6028110" y="2335006"/>
            <a:ext cx="40200" cy="40200"/>
          </a:xfrm>
          <a:prstGeom prst="ellipse">
            <a:avLst/>
          </a:prstGeom>
          <a:solidFill>
            <a:srgbClr val="00FFFF"/>
          </a:solidFill>
          <a:ln>
            <a:noFill/>
          </a:ln>
        </p:spPr>
        <p:txBody>
          <a:bodyPr anchorCtr="0" anchor="ctr" bIns="112400" lIns="112400" spcFirstLastPara="1" rIns="112400" wrap="square" tIns="112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21"/>
          </a:p>
        </p:txBody>
      </p:sp>
      <p:sp>
        <p:nvSpPr>
          <p:cNvPr id="176" name="Google Shape;176;p21"/>
          <p:cNvSpPr/>
          <p:nvPr/>
        </p:nvSpPr>
        <p:spPr>
          <a:xfrm>
            <a:off x="6028110" y="2463349"/>
            <a:ext cx="40200" cy="40200"/>
          </a:xfrm>
          <a:prstGeom prst="ellipse">
            <a:avLst/>
          </a:prstGeom>
          <a:solidFill>
            <a:srgbClr val="00FFFF"/>
          </a:solidFill>
          <a:ln>
            <a:noFill/>
          </a:ln>
        </p:spPr>
        <p:txBody>
          <a:bodyPr anchorCtr="0" anchor="ctr" bIns="112400" lIns="112400" spcFirstLastPara="1" rIns="112400" wrap="square" tIns="112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21"/>
          </a:p>
        </p:txBody>
      </p:sp>
      <p:sp>
        <p:nvSpPr>
          <p:cNvPr id="177" name="Google Shape;177;p21"/>
          <p:cNvSpPr/>
          <p:nvPr/>
        </p:nvSpPr>
        <p:spPr>
          <a:xfrm>
            <a:off x="6028110" y="2591678"/>
            <a:ext cx="40200" cy="40200"/>
          </a:xfrm>
          <a:prstGeom prst="ellipse">
            <a:avLst/>
          </a:prstGeom>
          <a:solidFill>
            <a:srgbClr val="00FFFF"/>
          </a:solidFill>
          <a:ln>
            <a:noFill/>
          </a:ln>
        </p:spPr>
        <p:txBody>
          <a:bodyPr anchorCtr="0" anchor="ctr" bIns="112400" lIns="112400" spcFirstLastPara="1" rIns="112400" wrap="square" tIns="112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21"/>
          </a:p>
        </p:txBody>
      </p:sp>
      <p:pic>
        <p:nvPicPr>
          <p:cNvPr id="178" name="Google Shape;178;p21" title="icon 4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080500" y="1731375"/>
            <a:ext cx="361775" cy="3407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21"/>
          <p:cNvSpPr txBox="1"/>
          <p:nvPr/>
        </p:nvSpPr>
        <p:spPr>
          <a:xfrm>
            <a:off x="3535383" y="1601500"/>
            <a:ext cx="2227500" cy="4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69025" lIns="69025" spcFirstLastPara="1" rIns="69025" wrap="square" tIns="690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812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Redes Virtuais</a:t>
            </a:r>
            <a:endParaRPr b="1" sz="1812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0" name="Google Shape;180;p21"/>
          <p:cNvSpPr txBox="1"/>
          <p:nvPr/>
        </p:nvSpPr>
        <p:spPr>
          <a:xfrm>
            <a:off x="3535390" y="1897415"/>
            <a:ext cx="1710900" cy="2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69025" lIns="69025" spcFirstLastPara="1" rIns="69025" wrap="square" tIns="690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831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rPr>
              <a:t>Conectividade Inteligente</a:t>
            </a:r>
            <a:endParaRPr b="1" sz="831">
              <a:solidFill>
                <a:srgbClr val="00D2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1" name="Google Shape;181;p21"/>
          <p:cNvSpPr txBox="1"/>
          <p:nvPr/>
        </p:nvSpPr>
        <p:spPr>
          <a:xfrm>
            <a:off x="3095668" y="2164803"/>
            <a:ext cx="2019300" cy="624300"/>
          </a:xfrm>
          <a:prstGeom prst="rect">
            <a:avLst/>
          </a:prstGeom>
          <a:noFill/>
          <a:ln>
            <a:noFill/>
          </a:ln>
        </p:spPr>
        <p:txBody>
          <a:bodyPr anchorCtr="0" anchor="t" bIns="112400" lIns="112400" spcFirstLastPara="1" rIns="112400" wrap="square" tIns="1124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861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VPC</a:t>
            </a:r>
            <a:endParaRPr sz="861"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861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IP</a:t>
            </a:r>
            <a:endParaRPr sz="861"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61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Load Balancer</a:t>
            </a:r>
            <a:endParaRPr sz="861"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182" name="Google Shape;182;p21"/>
          <p:cNvSpPr/>
          <p:nvPr/>
        </p:nvSpPr>
        <p:spPr>
          <a:xfrm>
            <a:off x="3110248" y="2335006"/>
            <a:ext cx="40200" cy="40200"/>
          </a:xfrm>
          <a:prstGeom prst="ellipse">
            <a:avLst/>
          </a:prstGeom>
          <a:solidFill>
            <a:srgbClr val="00FFFF"/>
          </a:solidFill>
          <a:ln>
            <a:noFill/>
          </a:ln>
        </p:spPr>
        <p:txBody>
          <a:bodyPr anchorCtr="0" anchor="ctr" bIns="112400" lIns="112400" spcFirstLastPara="1" rIns="112400" wrap="square" tIns="112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21"/>
          </a:p>
        </p:txBody>
      </p:sp>
      <p:sp>
        <p:nvSpPr>
          <p:cNvPr id="183" name="Google Shape;183;p21"/>
          <p:cNvSpPr/>
          <p:nvPr/>
        </p:nvSpPr>
        <p:spPr>
          <a:xfrm>
            <a:off x="3110248" y="2463349"/>
            <a:ext cx="40200" cy="40200"/>
          </a:xfrm>
          <a:prstGeom prst="ellipse">
            <a:avLst/>
          </a:prstGeom>
          <a:solidFill>
            <a:srgbClr val="00FFFF"/>
          </a:solidFill>
          <a:ln>
            <a:noFill/>
          </a:ln>
        </p:spPr>
        <p:txBody>
          <a:bodyPr anchorCtr="0" anchor="ctr" bIns="112400" lIns="112400" spcFirstLastPara="1" rIns="112400" wrap="square" tIns="112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21"/>
          </a:p>
        </p:txBody>
      </p:sp>
      <p:sp>
        <p:nvSpPr>
          <p:cNvPr id="184" name="Google Shape;184;p21"/>
          <p:cNvSpPr/>
          <p:nvPr/>
        </p:nvSpPr>
        <p:spPr>
          <a:xfrm>
            <a:off x="3110248" y="2591678"/>
            <a:ext cx="40200" cy="40200"/>
          </a:xfrm>
          <a:prstGeom prst="ellipse">
            <a:avLst/>
          </a:prstGeom>
          <a:solidFill>
            <a:srgbClr val="00FFFF"/>
          </a:solidFill>
          <a:ln>
            <a:noFill/>
          </a:ln>
        </p:spPr>
        <p:txBody>
          <a:bodyPr anchorCtr="0" anchor="ctr" bIns="112400" lIns="112400" spcFirstLastPara="1" rIns="112400" wrap="square" tIns="112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21"/>
          </a:p>
        </p:txBody>
      </p:sp>
      <p:pic>
        <p:nvPicPr>
          <p:cNvPr id="185" name="Google Shape;185;p21" title="icon 8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150453" y="1670225"/>
            <a:ext cx="361775" cy="388022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1"/>
          <p:cNvSpPr txBox="1"/>
          <p:nvPr/>
        </p:nvSpPr>
        <p:spPr>
          <a:xfrm>
            <a:off x="774421" y="3502075"/>
            <a:ext cx="2227500" cy="4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69025" lIns="69025" spcFirstLastPara="1" rIns="69025" wrap="square" tIns="690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812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Banco de Dados</a:t>
            </a:r>
            <a:endParaRPr b="1" sz="1812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7" name="Google Shape;187;p21"/>
          <p:cNvSpPr txBox="1"/>
          <p:nvPr/>
        </p:nvSpPr>
        <p:spPr>
          <a:xfrm>
            <a:off x="774428" y="3797990"/>
            <a:ext cx="1710900" cy="2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69025" lIns="69025" spcFirstLastPara="1" rIns="69025" wrap="square" tIns="690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831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rPr>
              <a:t>Gestão Simplificada</a:t>
            </a:r>
            <a:endParaRPr b="1" sz="831">
              <a:solidFill>
                <a:srgbClr val="00D2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8" name="Google Shape;188;p21"/>
          <p:cNvSpPr txBox="1"/>
          <p:nvPr/>
        </p:nvSpPr>
        <p:spPr>
          <a:xfrm>
            <a:off x="386200" y="4065376"/>
            <a:ext cx="2019300" cy="4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112400" lIns="112400" spcFirstLastPara="1" rIns="112400" wrap="square" tIns="1124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861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PostgreSQL </a:t>
            </a:r>
            <a:r>
              <a:rPr lang="pt-BR" sz="861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 </a:t>
            </a:r>
            <a:r>
              <a:rPr b="1" lang="pt-BR" sz="861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rPr>
              <a:t>*NOVO*</a:t>
            </a:r>
            <a:endParaRPr sz="861"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61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MySQL</a:t>
            </a:r>
            <a:endParaRPr sz="861"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189" name="Google Shape;189;p21"/>
          <p:cNvSpPr/>
          <p:nvPr/>
        </p:nvSpPr>
        <p:spPr>
          <a:xfrm>
            <a:off x="400773" y="4232081"/>
            <a:ext cx="40200" cy="40200"/>
          </a:xfrm>
          <a:prstGeom prst="ellipse">
            <a:avLst/>
          </a:prstGeom>
          <a:solidFill>
            <a:srgbClr val="00FFFF"/>
          </a:solidFill>
          <a:ln>
            <a:noFill/>
          </a:ln>
        </p:spPr>
        <p:txBody>
          <a:bodyPr anchorCtr="0" anchor="ctr" bIns="112400" lIns="112400" spcFirstLastPara="1" rIns="112400" wrap="square" tIns="112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21"/>
          </a:p>
        </p:txBody>
      </p:sp>
      <p:sp>
        <p:nvSpPr>
          <p:cNvPr id="190" name="Google Shape;190;p21"/>
          <p:cNvSpPr/>
          <p:nvPr/>
        </p:nvSpPr>
        <p:spPr>
          <a:xfrm>
            <a:off x="400773" y="4360424"/>
            <a:ext cx="40200" cy="40200"/>
          </a:xfrm>
          <a:prstGeom prst="ellipse">
            <a:avLst/>
          </a:prstGeom>
          <a:solidFill>
            <a:srgbClr val="00FFFF"/>
          </a:solidFill>
          <a:ln>
            <a:noFill/>
          </a:ln>
        </p:spPr>
        <p:txBody>
          <a:bodyPr anchorCtr="0" anchor="ctr" bIns="112400" lIns="112400" spcFirstLastPara="1" rIns="112400" wrap="square" tIns="112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21"/>
          </a:p>
        </p:txBody>
      </p:sp>
      <p:pic>
        <p:nvPicPr>
          <p:cNvPr id="191" name="Google Shape;191;p21" title="icon 6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00775" y="3584750"/>
            <a:ext cx="361775" cy="435163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21"/>
          <p:cNvSpPr txBox="1"/>
          <p:nvPr/>
        </p:nvSpPr>
        <p:spPr>
          <a:xfrm>
            <a:off x="3535570" y="3435925"/>
            <a:ext cx="2227500" cy="4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69025" lIns="69025" spcFirstLastPara="1" rIns="69025" wrap="square" tIns="690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812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Identidade</a:t>
            </a:r>
            <a:endParaRPr b="1" sz="1812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3" name="Google Shape;193;p21"/>
          <p:cNvSpPr txBox="1"/>
          <p:nvPr/>
        </p:nvSpPr>
        <p:spPr>
          <a:xfrm>
            <a:off x="3535577" y="3731840"/>
            <a:ext cx="1710900" cy="2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69025" lIns="69025" spcFirstLastPara="1" rIns="69025" wrap="square" tIns="690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831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rPr>
              <a:t>Governança</a:t>
            </a:r>
            <a:endParaRPr b="1" sz="831">
              <a:solidFill>
                <a:srgbClr val="00D2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4" name="Google Shape;194;p21"/>
          <p:cNvSpPr txBox="1"/>
          <p:nvPr/>
        </p:nvSpPr>
        <p:spPr>
          <a:xfrm>
            <a:off x="3095850" y="3999225"/>
            <a:ext cx="2400300" cy="756900"/>
          </a:xfrm>
          <a:prstGeom prst="rect">
            <a:avLst/>
          </a:prstGeom>
          <a:noFill/>
          <a:ln>
            <a:noFill/>
          </a:ln>
        </p:spPr>
        <p:txBody>
          <a:bodyPr anchorCtr="0" anchor="t" bIns="112400" lIns="112400" spcFirstLastPara="1" rIns="112400" wrap="square" tIns="1124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861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Single Sign-On</a:t>
            </a:r>
            <a:endParaRPr sz="861"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61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Gestão de identidade</a:t>
            </a:r>
            <a:endParaRPr sz="861"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61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Portal único e simplificado para controle</a:t>
            </a:r>
            <a:endParaRPr sz="861"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61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de acessos a todos os sistemas</a:t>
            </a:r>
            <a:endParaRPr sz="861"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195" name="Google Shape;195;p21"/>
          <p:cNvSpPr/>
          <p:nvPr/>
        </p:nvSpPr>
        <p:spPr>
          <a:xfrm>
            <a:off x="3110435" y="4169431"/>
            <a:ext cx="40200" cy="40200"/>
          </a:xfrm>
          <a:prstGeom prst="ellipse">
            <a:avLst/>
          </a:prstGeom>
          <a:solidFill>
            <a:srgbClr val="00FFFF"/>
          </a:solidFill>
          <a:ln>
            <a:noFill/>
          </a:ln>
        </p:spPr>
        <p:txBody>
          <a:bodyPr anchorCtr="0" anchor="ctr" bIns="112400" lIns="112400" spcFirstLastPara="1" rIns="112400" wrap="square" tIns="112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21"/>
          </a:p>
        </p:txBody>
      </p:sp>
      <p:sp>
        <p:nvSpPr>
          <p:cNvPr id="196" name="Google Shape;196;p21"/>
          <p:cNvSpPr/>
          <p:nvPr/>
        </p:nvSpPr>
        <p:spPr>
          <a:xfrm>
            <a:off x="3110435" y="4297774"/>
            <a:ext cx="40200" cy="40200"/>
          </a:xfrm>
          <a:prstGeom prst="ellipse">
            <a:avLst/>
          </a:prstGeom>
          <a:solidFill>
            <a:srgbClr val="00FFFF"/>
          </a:solidFill>
          <a:ln>
            <a:noFill/>
          </a:ln>
        </p:spPr>
        <p:txBody>
          <a:bodyPr anchorCtr="0" anchor="ctr" bIns="112400" lIns="112400" spcFirstLastPara="1" rIns="112400" wrap="square" tIns="112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21"/>
          </a:p>
        </p:txBody>
      </p:sp>
      <p:sp>
        <p:nvSpPr>
          <p:cNvPr id="197" name="Google Shape;197;p21"/>
          <p:cNvSpPr/>
          <p:nvPr/>
        </p:nvSpPr>
        <p:spPr>
          <a:xfrm>
            <a:off x="3110435" y="4426103"/>
            <a:ext cx="40200" cy="40200"/>
          </a:xfrm>
          <a:prstGeom prst="ellipse">
            <a:avLst/>
          </a:prstGeom>
          <a:solidFill>
            <a:srgbClr val="00FFFF"/>
          </a:solidFill>
          <a:ln>
            <a:noFill/>
          </a:ln>
        </p:spPr>
        <p:txBody>
          <a:bodyPr anchorCtr="0" anchor="ctr" bIns="112400" lIns="112400" spcFirstLastPara="1" rIns="112400" wrap="square" tIns="112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21"/>
          </a:p>
        </p:txBody>
      </p:sp>
      <p:sp>
        <p:nvSpPr>
          <p:cNvPr id="198" name="Google Shape;198;p21">
            <a:hlinkClick r:id="rId11"/>
          </p:cNvPr>
          <p:cNvSpPr/>
          <p:nvPr/>
        </p:nvSpPr>
        <p:spPr>
          <a:xfrm>
            <a:off x="6085850" y="4307400"/>
            <a:ext cx="1353300" cy="1785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rgbClr val="00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800">
                <a:solidFill>
                  <a:schemeClr val="lt1"/>
                </a:solidFill>
                <a:uFill>
                  <a:noFill/>
                </a:uFill>
                <a:latin typeface="Nunito"/>
                <a:ea typeface="Nunito"/>
                <a:cs typeface="Nunito"/>
                <a:sym typeface="Nunito"/>
                <a:hlinkClick r:id="rId1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Política de Privacidade</a:t>
            </a:r>
            <a:endParaRPr b="1" sz="8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99" name="Google Shape;199;p21">
            <a:hlinkClick r:id="rId13"/>
          </p:cNvPr>
          <p:cNvSpPr/>
          <p:nvPr/>
        </p:nvSpPr>
        <p:spPr>
          <a:xfrm>
            <a:off x="7606675" y="4307400"/>
            <a:ext cx="1075500" cy="1785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rgbClr val="00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800">
                <a:solidFill>
                  <a:schemeClr val="lt1"/>
                </a:solidFill>
                <a:uFill>
                  <a:noFill/>
                </a:uFill>
                <a:latin typeface="Nunito"/>
                <a:ea typeface="Nunito"/>
                <a:cs typeface="Nunito"/>
                <a:sym typeface="Nunito"/>
                <a:hlinkClick r:id="rId1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Política de SGSI</a:t>
            </a:r>
            <a:endParaRPr b="1" sz="8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00" name="Google Shape;200;p21"/>
          <p:cNvSpPr txBox="1"/>
          <p:nvPr/>
        </p:nvSpPr>
        <p:spPr>
          <a:xfrm>
            <a:off x="6015867" y="3377388"/>
            <a:ext cx="1184100" cy="3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56150" lIns="56150" spcFirstLastPara="1" rIns="56150" wrap="square" tIns="5615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474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Segurança</a:t>
            </a:r>
            <a:endParaRPr b="1" sz="1474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201" name="Google Shape;201;p21"/>
          <p:cNvCxnSpPr/>
          <p:nvPr/>
        </p:nvCxnSpPr>
        <p:spPr>
          <a:xfrm rot="10800000">
            <a:off x="6085838" y="3684488"/>
            <a:ext cx="1243500" cy="0"/>
          </a:xfrm>
          <a:prstGeom prst="straightConnector1">
            <a:avLst/>
          </a:prstGeom>
          <a:noFill/>
          <a:ln cap="flat" cmpd="sng" w="9525">
            <a:solidFill>
              <a:srgbClr val="00FFFF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2" name="Google Shape;202;p21"/>
          <p:cNvSpPr txBox="1"/>
          <p:nvPr/>
        </p:nvSpPr>
        <p:spPr>
          <a:xfrm>
            <a:off x="6015863" y="3709713"/>
            <a:ext cx="1391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Estratégica e em multicamadas Auditoria contínua e alerta em tempo real.</a:t>
            </a:r>
            <a:endParaRPr sz="600"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pic>
        <p:nvPicPr>
          <p:cNvPr id="203" name="Google Shape;203;p21" title="Asset 2.png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543501" y="3377400"/>
            <a:ext cx="1184100" cy="7388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4" name="Google Shape;204;p21"/>
          <p:cNvCxnSpPr/>
          <p:nvPr/>
        </p:nvCxnSpPr>
        <p:spPr>
          <a:xfrm>
            <a:off x="360400" y="3133000"/>
            <a:ext cx="8199000" cy="0"/>
          </a:xfrm>
          <a:prstGeom prst="straightConnector1">
            <a:avLst/>
          </a:prstGeom>
          <a:noFill/>
          <a:ln cap="flat" cmpd="sng" w="19050">
            <a:solidFill>
              <a:srgbClr val="00D2FF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2"/>
          <p:cNvSpPr txBox="1"/>
          <p:nvPr/>
        </p:nvSpPr>
        <p:spPr>
          <a:xfrm>
            <a:off x="4364963" y="1634050"/>
            <a:ext cx="21873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Empresas no segmento:</a:t>
            </a:r>
            <a:endParaRPr sz="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0" name="Google Shape;210;p22"/>
          <p:cNvSpPr txBox="1"/>
          <p:nvPr/>
        </p:nvSpPr>
        <p:spPr>
          <a:xfrm>
            <a:off x="2591738" y="1439550"/>
            <a:ext cx="18558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6000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rPr>
              <a:t>42%</a:t>
            </a:r>
            <a:endParaRPr b="1" sz="6000">
              <a:solidFill>
                <a:srgbClr val="00D2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1" name="Google Shape;211;p22"/>
          <p:cNvSpPr txBox="1"/>
          <p:nvPr/>
        </p:nvSpPr>
        <p:spPr>
          <a:xfrm>
            <a:off x="4406963" y="1830025"/>
            <a:ext cx="21453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Software e TI</a:t>
            </a:r>
            <a:endParaRPr sz="17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2" name="Google Shape;212;p22"/>
          <p:cNvSpPr txBox="1"/>
          <p:nvPr/>
        </p:nvSpPr>
        <p:spPr>
          <a:xfrm>
            <a:off x="2132850" y="3039450"/>
            <a:ext cx="21873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Empresas no segmento:</a:t>
            </a:r>
            <a:endParaRPr sz="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3" name="Google Shape;213;p22"/>
          <p:cNvSpPr txBox="1"/>
          <p:nvPr/>
        </p:nvSpPr>
        <p:spPr>
          <a:xfrm>
            <a:off x="564325" y="2875850"/>
            <a:ext cx="1629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6000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rPr>
              <a:t>15</a:t>
            </a:r>
            <a:r>
              <a:rPr b="1" lang="pt-BR" sz="6000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rPr>
              <a:t>%</a:t>
            </a:r>
            <a:endParaRPr b="1" sz="6000">
              <a:solidFill>
                <a:srgbClr val="00D2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4" name="Google Shape;214;p22"/>
          <p:cNvSpPr txBox="1"/>
          <p:nvPr/>
        </p:nvSpPr>
        <p:spPr>
          <a:xfrm>
            <a:off x="2132850" y="3235438"/>
            <a:ext cx="21873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Consultoria &amp; Serviços empresariais</a:t>
            </a:r>
            <a:endParaRPr b="1" sz="2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5" name="Google Shape;215;p22"/>
          <p:cNvSpPr txBox="1"/>
          <p:nvPr/>
        </p:nvSpPr>
        <p:spPr>
          <a:xfrm>
            <a:off x="6392375" y="3139500"/>
            <a:ext cx="21873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Empresas no segmento:</a:t>
            </a:r>
            <a:endParaRPr sz="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6" name="Google Shape;216;p22"/>
          <p:cNvSpPr txBox="1"/>
          <p:nvPr/>
        </p:nvSpPr>
        <p:spPr>
          <a:xfrm>
            <a:off x="4823850" y="2875850"/>
            <a:ext cx="1629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6000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rPr>
              <a:t>12%</a:t>
            </a:r>
            <a:endParaRPr b="1" sz="6000">
              <a:solidFill>
                <a:srgbClr val="00D2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7" name="Google Shape;217;p22"/>
          <p:cNvSpPr txBox="1"/>
          <p:nvPr/>
        </p:nvSpPr>
        <p:spPr>
          <a:xfrm>
            <a:off x="6392375" y="3335488"/>
            <a:ext cx="21873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Saúde e Educação</a:t>
            </a:r>
            <a:endParaRPr b="1" sz="2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8" name="Google Shape;218;p22"/>
          <p:cNvSpPr txBox="1"/>
          <p:nvPr/>
        </p:nvSpPr>
        <p:spPr>
          <a:xfrm>
            <a:off x="2132850" y="4247700"/>
            <a:ext cx="21873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Empresas no segmento:</a:t>
            </a:r>
            <a:endParaRPr sz="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9" name="Google Shape;219;p22"/>
          <p:cNvSpPr txBox="1"/>
          <p:nvPr/>
        </p:nvSpPr>
        <p:spPr>
          <a:xfrm>
            <a:off x="564325" y="3984050"/>
            <a:ext cx="13608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6000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rPr>
              <a:t>6</a:t>
            </a:r>
            <a:r>
              <a:rPr b="1" lang="pt-BR" sz="6000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rPr>
              <a:t>%</a:t>
            </a:r>
            <a:endParaRPr b="1" sz="6000">
              <a:solidFill>
                <a:srgbClr val="00D2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0" name="Google Shape;220;p22"/>
          <p:cNvSpPr txBox="1"/>
          <p:nvPr/>
        </p:nvSpPr>
        <p:spPr>
          <a:xfrm>
            <a:off x="2132850" y="4443688"/>
            <a:ext cx="21873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Varejo</a:t>
            </a:r>
            <a:endParaRPr b="1" sz="2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1" name="Google Shape;221;p22"/>
          <p:cNvSpPr txBox="1"/>
          <p:nvPr/>
        </p:nvSpPr>
        <p:spPr>
          <a:xfrm>
            <a:off x="6453450" y="4247700"/>
            <a:ext cx="21873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Empresas no segmento:</a:t>
            </a:r>
            <a:endParaRPr sz="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2" name="Google Shape;222;p22"/>
          <p:cNvSpPr txBox="1"/>
          <p:nvPr/>
        </p:nvSpPr>
        <p:spPr>
          <a:xfrm>
            <a:off x="4823850" y="3984050"/>
            <a:ext cx="13608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6000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r>
              <a:rPr b="1" lang="pt-BR" sz="6000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rPr>
              <a:t>%</a:t>
            </a:r>
            <a:endParaRPr b="1" sz="6000">
              <a:solidFill>
                <a:srgbClr val="00D2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3" name="Google Shape;223;p22"/>
          <p:cNvSpPr txBox="1"/>
          <p:nvPr/>
        </p:nvSpPr>
        <p:spPr>
          <a:xfrm>
            <a:off x="6453450" y="4443688"/>
            <a:ext cx="21873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Financeiro</a:t>
            </a:r>
            <a:endParaRPr b="1" sz="2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224" name="Google Shape;224;p22"/>
          <p:cNvCxnSpPr/>
          <p:nvPr/>
        </p:nvCxnSpPr>
        <p:spPr>
          <a:xfrm>
            <a:off x="472500" y="2570025"/>
            <a:ext cx="8199000" cy="0"/>
          </a:xfrm>
          <a:prstGeom prst="straightConnector1">
            <a:avLst/>
          </a:prstGeom>
          <a:noFill/>
          <a:ln cap="flat" cmpd="sng" w="19050">
            <a:solidFill>
              <a:srgbClr val="00D2FF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25" name="Google Shape;225;p22"/>
          <p:cNvCxnSpPr/>
          <p:nvPr/>
        </p:nvCxnSpPr>
        <p:spPr>
          <a:xfrm>
            <a:off x="472500" y="1417275"/>
            <a:ext cx="8199000" cy="0"/>
          </a:xfrm>
          <a:prstGeom prst="straightConnector1">
            <a:avLst/>
          </a:prstGeom>
          <a:noFill/>
          <a:ln cap="flat" cmpd="sng" w="19050">
            <a:solidFill>
              <a:srgbClr val="00D2FF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6" name="Google Shape;226;p22"/>
          <p:cNvSpPr txBox="1"/>
          <p:nvPr/>
        </p:nvSpPr>
        <p:spPr>
          <a:xfrm>
            <a:off x="472498" y="1417275"/>
            <a:ext cx="1721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000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rPr>
              <a:t>PRINCIPAL SEGMENTO</a:t>
            </a:r>
            <a:endParaRPr sz="500">
              <a:solidFill>
                <a:srgbClr val="00D2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7" name="Google Shape;227;p22"/>
          <p:cNvSpPr txBox="1"/>
          <p:nvPr/>
        </p:nvSpPr>
        <p:spPr>
          <a:xfrm>
            <a:off x="472498" y="2547188"/>
            <a:ext cx="1721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000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rPr>
              <a:t>OUTROS </a:t>
            </a:r>
            <a:r>
              <a:rPr b="1" lang="pt-BR" sz="1000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rPr>
              <a:t>SEGMENTOS</a:t>
            </a:r>
            <a:endParaRPr sz="500">
              <a:solidFill>
                <a:srgbClr val="00D2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28" name="Google Shape;228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16550" y="264200"/>
            <a:ext cx="1710899" cy="291573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22"/>
          <p:cNvSpPr txBox="1"/>
          <p:nvPr/>
        </p:nvSpPr>
        <p:spPr>
          <a:xfrm>
            <a:off x="360400" y="559775"/>
            <a:ext cx="83112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+2000 Clientes</a:t>
            </a:r>
            <a:endParaRPr b="1" sz="2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Atuação em segmentos diversos:</a:t>
            </a:r>
            <a:endParaRPr b="1" sz="2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750" y="5026225"/>
            <a:ext cx="8978525" cy="44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23" title="logo magalu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190275" y="746420"/>
            <a:ext cx="1196501" cy="35869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23" title="globo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101985" y="655763"/>
            <a:ext cx="1196525" cy="34526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3" title="Camada 22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008423" y="1543588"/>
            <a:ext cx="1159928" cy="15781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38" name="Google Shape;238;p23"/>
          <p:cNvCxnSpPr/>
          <p:nvPr/>
        </p:nvCxnSpPr>
        <p:spPr>
          <a:xfrm>
            <a:off x="1158875" y="1319825"/>
            <a:ext cx="6712800" cy="0"/>
          </a:xfrm>
          <a:prstGeom prst="straightConnector1">
            <a:avLst/>
          </a:prstGeom>
          <a:noFill/>
          <a:ln cap="flat" cmpd="sng" w="9525">
            <a:solidFill>
              <a:srgbClr val="FFFFFF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239" name="Google Shape;239;p23" title="Group 1.png"/>
          <p:cNvPicPr preferRelativeResize="0"/>
          <p:nvPr/>
        </p:nvPicPr>
        <p:blipFill rotWithShape="1">
          <a:blip r:embed="rId8">
            <a:alphaModFix/>
          </a:blip>
          <a:srcRect b="85062" l="24311" r="60488" t="3744"/>
          <a:stretch/>
        </p:blipFill>
        <p:spPr>
          <a:xfrm>
            <a:off x="2166748" y="1461355"/>
            <a:ext cx="786324" cy="257569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23" title="Group 1.png"/>
          <p:cNvPicPr preferRelativeResize="0"/>
          <p:nvPr/>
        </p:nvPicPr>
        <p:blipFill rotWithShape="1">
          <a:blip r:embed="rId8">
            <a:alphaModFix/>
          </a:blip>
          <a:srcRect b="79676" l="47884" r="44479" t="0"/>
          <a:stretch/>
        </p:blipFill>
        <p:spPr>
          <a:xfrm>
            <a:off x="3940652" y="3137888"/>
            <a:ext cx="333878" cy="395238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23" title="Group 1.png"/>
          <p:cNvPicPr preferRelativeResize="0"/>
          <p:nvPr/>
        </p:nvPicPr>
        <p:blipFill rotWithShape="1">
          <a:blip r:embed="rId8">
            <a:alphaModFix/>
          </a:blip>
          <a:srcRect b="82640" l="66762" r="25075" t="0"/>
          <a:stretch/>
        </p:blipFill>
        <p:spPr>
          <a:xfrm>
            <a:off x="1560116" y="3184936"/>
            <a:ext cx="356897" cy="3375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3" title="Group 1.png"/>
          <p:cNvPicPr preferRelativeResize="0"/>
          <p:nvPr/>
        </p:nvPicPr>
        <p:blipFill rotWithShape="1">
          <a:blip r:embed="rId8">
            <a:alphaModFix/>
          </a:blip>
          <a:srcRect b="81056" l="81023" r="0" t="0"/>
          <a:stretch/>
        </p:blipFill>
        <p:spPr>
          <a:xfrm>
            <a:off x="3065959" y="1428789"/>
            <a:ext cx="829602" cy="368398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3" title="Group 1.png"/>
          <p:cNvPicPr preferRelativeResize="0"/>
          <p:nvPr/>
        </p:nvPicPr>
        <p:blipFill rotWithShape="1">
          <a:blip r:embed="rId8">
            <a:alphaModFix/>
          </a:blip>
          <a:srcRect b="65166" l="0" r="83538" t="20275"/>
          <a:stretch/>
        </p:blipFill>
        <p:spPr>
          <a:xfrm>
            <a:off x="1663353" y="2024366"/>
            <a:ext cx="719688" cy="2831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3" title="Group 1.png"/>
          <p:cNvPicPr preferRelativeResize="0"/>
          <p:nvPr/>
        </p:nvPicPr>
        <p:blipFill rotWithShape="1">
          <a:blip r:embed="rId8">
            <a:alphaModFix/>
          </a:blip>
          <a:srcRect b="65916" l="21961" r="58639" t="23822"/>
          <a:stretch/>
        </p:blipFill>
        <p:spPr>
          <a:xfrm>
            <a:off x="5283038" y="1533383"/>
            <a:ext cx="792456" cy="1864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3" title="Group 1.png"/>
          <p:cNvPicPr preferRelativeResize="0"/>
          <p:nvPr/>
        </p:nvPicPr>
        <p:blipFill rotWithShape="1">
          <a:blip r:embed="rId8">
            <a:alphaModFix/>
          </a:blip>
          <a:srcRect b="66498" l="44431" r="40909" t="26648"/>
          <a:stretch/>
        </p:blipFill>
        <p:spPr>
          <a:xfrm>
            <a:off x="2479371" y="2115622"/>
            <a:ext cx="687743" cy="14301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23" title="Group 1.png"/>
          <p:cNvPicPr preferRelativeResize="0"/>
          <p:nvPr/>
        </p:nvPicPr>
        <p:blipFill rotWithShape="1">
          <a:blip r:embed="rId8">
            <a:alphaModFix/>
          </a:blip>
          <a:srcRect b="61958" l="66905" r="25457" t="22649"/>
          <a:stretch/>
        </p:blipFill>
        <p:spPr>
          <a:xfrm>
            <a:off x="3318718" y="2026531"/>
            <a:ext cx="358294" cy="3211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23" title="Group 1.png"/>
          <p:cNvPicPr preferRelativeResize="0"/>
          <p:nvPr/>
        </p:nvPicPr>
        <p:blipFill rotWithShape="1">
          <a:blip r:embed="rId8">
            <a:alphaModFix/>
          </a:blip>
          <a:srcRect b="63095" l="81023" r="0" t="26643"/>
          <a:stretch/>
        </p:blipFill>
        <p:spPr>
          <a:xfrm>
            <a:off x="6581243" y="2087803"/>
            <a:ext cx="831845" cy="200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23" title="Group 1.png"/>
          <p:cNvPicPr preferRelativeResize="0"/>
          <p:nvPr/>
        </p:nvPicPr>
        <p:blipFill rotWithShape="1">
          <a:blip r:embed="rId8">
            <a:alphaModFix/>
          </a:blip>
          <a:srcRect b="46697" l="0" r="81419" t="43971"/>
          <a:stretch/>
        </p:blipFill>
        <p:spPr>
          <a:xfrm>
            <a:off x="3828609" y="2085910"/>
            <a:ext cx="871705" cy="194719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23" title="Group 1.png"/>
          <p:cNvPicPr preferRelativeResize="0"/>
          <p:nvPr/>
        </p:nvPicPr>
        <p:blipFill rotWithShape="1">
          <a:blip r:embed="rId8">
            <a:alphaModFix/>
          </a:blip>
          <a:srcRect b="47048" l="22167" r="59252" t="41759"/>
          <a:stretch/>
        </p:blipFill>
        <p:spPr>
          <a:xfrm>
            <a:off x="4799561" y="2049166"/>
            <a:ext cx="871690" cy="2335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23" title="Group 1.png"/>
          <p:cNvPicPr preferRelativeResize="0"/>
          <p:nvPr/>
        </p:nvPicPr>
        <p:blipFill rotWithShape="1">
          <a:blip r:embed="rId8">
            <a:alphaModFix/>
          </a:blip>
          <a:srcRect b="47415" l="44261" r="41080" t="44690"/>
          <a:stretch/>
        </p:blipFill>
        <p:spPr>
          <a:xfrm>
            <a:off x="5770466" y="2098653"/>
            <a:ext cx="687743" cy="1647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p23" title="Group 1.png"/>
          <p:cNvPicPr preferRelativeResize="0"/>
          <p:nvPr/>
        </p:nvPicPr>
        <p:blipFill rotWithShape="1">
          <a:blip r:embed="rId8">
            <a:alphaModFix/>
          </a:blip>
          <a:srcRect b="44999" l="81023" r="0" t="41514"/>
          <a:stretch/>
        </p:blipFill>
        <p:spPr>
          <a:xfrm>
            <a:off x="3417069" y="2427428"/>
            <a:ext cx="925469" cy="292579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23" title="Layer 27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687347" y="2407629"/>
            <a:ext cx="714917" cy="275808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3" title="Group 1.png"/>
          <p:cNvPicPr preferRelativeResize="0"/>
          <p:nvPr/>
        </p:nvPicPr>
        <p:blipFill rotWithShape="1">
          <a:blip r:embed="rId8">
            <a:alphaModFix/>
          </a:blip>
          <a:srcRect b="23630" l="0" r="83538" t="67039"/>
          <a:stretch/>
        </p:blipFill>
        <p:spPr>
          <a:xfrm>
            <a:off x="4448523" y="2472514"/>
            <a:ext cx="802829" cy="2024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3" title="Group 1.png"/>
          <p:cNvPicPr preferRelativeResize="0"/>
          <p:nvPr/>
        </p:nvPicPr>
        <p:blipFill rotWithShape="1">
          <a:blip r:embed="rId8">
            <a:alphaModFix/>
          </a:blip>
          <a:srcRect b="21426" l="21317" r="58054" t="65087"/>
          <a:stretch/>
        </p:blipFill>
        <p:spPr>
          <a:xfrm>
            <a:off x="5357352" y="2437879"/>
            <a:ext cx="1006035" cy="292579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23" title="Group 1.png"/>
          <p:cNvPicPr preferRelativeResize="0"/>
          <p:nvPr/>
        </p:nvPicPr>
        <p:blipFill rotWithShape="1">
          <a:blip r:embed="rId8">
            <a:alphaModFix/>
          </a:blip>
          <a:srcRect b="22685" l="42327" r="38697" t="66122"/>
          <a:stretch/>
        </p:blipFill>
        <p:spPr>
          <a:xfrm>
            <a:off x="6437593" y="2469557"/>
            <a:ext cx="925447" cy="242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23" title="mptec.png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2524021" y="2472735"/>
            <a:ext cx="738244" cy="1455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23" title="Group 1.png"/>
          <p:cNvPicPr preferRelativeResize="0"/>
          <p:nvPr/>
        </p:nvPicPr>
        <p:blipFill rotWithShape="1">
          <a:blip r:embed="rId8">
            <a:alphaModFix/>
          </a:blip>
          <a:srcRect b="21827" l="83220" r="0" t="65459"/>
          <a:stretch/>
        </p:blipFill>
        <p:spPr>
          <a:xfrm>
            <a:off x="1431787" y="2814204"/>
            <a:ext cx="801520" cy="27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3" title="Group 1.png"/>
          <p:cNvPicPr preferRelativeResize="0"/>
          <p:nvPr/>
        </p:nvPicPr>
        <p:blipFill rotWithShape="1">
          <a:blip r:embed="rId8">
            <a:alphaModFix/>
          </a:blip>
          <a:srcRect b="0" l="0" r="83538" t="87286"/>
          <a:stretch/>
        </p:blipFill>
        <p:spPr>
          <a:xfrm>
            <a:off x="2222118" y="2804688"/>
            <a:ext cx="786321" cy="27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3" title="Group 1.png"/>
          <p:cNvPicPr preferRelativeResize="0"/>
          <p:nvPr/>
        </p:nvPicPr>
        <p:blipFill rotWithShape="1">
          <a:blip r:embed="rId8">
            <a:alphaModFix/>
          </a:blip>
          <a:srcRect b="0" l="23902" r="60896" t="87018"/>
          <a:stretch/>
        </p:blipFill>
        <p:spPr>
          <a:xfrm>
            <a:off x="3872580" y="2811233"/>
            <a:ext cx="726108" cy="27581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23" title="Group 1.png"/>
          <p:cNvPicPr preferRelativeResize="0"/>
          <p:nvPr/>
        </p:nvPicPr>
        <p:blipFill rotWithShape="1">
          <a:blip r:embed="rId8">
            <a:alphaModFix/>
          </a:blip>
          <a:srcRect b="0" l="42300" r="38723" t="87018"/>
          <a:stretch/>
        </p:blipFill>
        <p:spPr>
          <a:xfrm>
            <a:off x="6142211" y="1493636"/>
            <a:ext cx="846920" cy="2577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23" title="Group 1.png"/>
          <p:cNvPicPr preferRelativeResize="0"/>
          <p:nvPr/>
        </p:nvPicPr>
        <p:blipFill rotWithShape="1">
          <a:blip r:embed="rId8">
            <a:alphaModFix/>
          </a:blip>
          <a:srcRect b="2158" l="64094" r="21753" t="88808"/>
          <a:stretch/>
        </p:blipFill>
        <p:spPr>
          <a:xfrm>
            <a:off x="4763413" y="2835803"/>
            <a:ext cx="871723" cy="247472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p23" title="inbra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3139201" y="2838808"/>
            <a:ext cx="568670" cy="218602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23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5712934" y="2895404"/>
            <a:ext cx="522528" cy="183392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23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6376108" y="2873740"/>
            <a:ext cx="783275" cy="201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23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7300034" y="2881593"/>
            <a:ext cx="318570" cy="202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23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2066320" y="3261184"/>
            <a:ext cx="475477" cy="192569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23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2691104" y="3241370"/>
            <a:ext cx="475480" cy="216121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23"/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3315871" y="3201904"/>
            <a:ext cx="475480" cy="321181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23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7055846" y="1550951"/>
            <a:ext cx="632254" cy="15131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23"/>
          <p:cNvPicPr preferRelativeResize="0"/>
          <p:nvPr/>
        </p:nvPicPr>
        <p:blipFill>
          <a:blip r:embed="rId19">
            <a:alphaModFix/>
          </a:blip>
          <a:stretch>
            <a:fillRect/>
          </a:stretch>
        </p:blipFill>
        <p:spPr>
          <a:xfrm>
            <a:off x="4423836" y="3200677"/>
            <a:ext cx="1003377" cy="270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23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5576515" y="3210458"/>
            <a:ext cx="390104" cy="241618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23"/>
          <p:cNvPicPr preferRelativeResize="0"/>
          <p:nvPr/>
        </p:nvPicPr>
        <p:blipFill>
          <a:blip r:embed="rId21">
            <a:alphaModFix/>
          </a:blip>
          <a:stretch>
            <a:fillRect/>
          </a:stretch>
        </p:blipFill>
        <p:spPr>
          <a:xfrm>
            <a:off x="6110784" y="3218693"/>
            <a:ext cx="840745" cy="222148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23"/>
          <p:cNvPicPr preferRelativeResize="0"/>
          <p:nvPr/>
        </p:nvPicPr>
        <p:blipFill>
          <a:blip r:embed="rId22">
            <a:alphaModFix/>
          </a:blip>
          <a:stretch>
            <a:fillRect/>
          </a:stretch>
        </p:blipFill>
        <p:spPr>
          <a:xfrm>
            <a:off x="7022506" y="3244894"/>
            <a:ext cx="747595" cy="2225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p23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1875864" y="3583768"/>
            <a:ext cx="456854" cy="2225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23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2525825" y="3607601"/>
            <a:ext cx="747596" cy="2383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23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466517" y="3637974"/>
            <a:ext cx="608406" cy="154767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23"/>
          <p:cNvPicPr preferRelativeResize="0"/>
          <p:nvPr/>
        </p:nvPicPr>
        <p:blipFill>
          <a:blip r:embed="rId26">
            <a:alphaModFix/>
          </a:blip>
          <a:stretch>
            <a:fillRect/>
          </a:stretch>
        </p:blipFill>
        <p:spPr>
          <a:xfrm>
            <a:off x="4302516" y="3655701"/>
            <a:ext cx="818421" cy="168919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23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5261383" y="3620806"/>
            <a:ext cx="943040" cy="22102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23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6275445" y="3613191"/>
            <a:ext cx="650802" cy="258227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23"/>
          <p:cNvPicPr preferRelativeResize="0"/>
          <p:nvPr/>
        </p:nvPicPr>
        <p:blipFill>
          <a:blip r:embed="rId29">
            <a:alphaModFix/>
          </a:blip>
          <a:stretch>
            <a:fillRect/>
          </a:stretch>
        </p:blipFill>
        <p:spPr>
          <a:xfrm>
            <a:off x="7031793" y="3585972"/>
            <a:ext cx="401324" cy="4013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23"/>
          <p:cNvPicPr preferRelativeResize="0"/>
          <p:nvPr/>
        </p:nvPicPr>
        <p:blipFill>
          <a:blip r:embed="rId30">
            <a:alphaModFix/>
          </a:blip>
          <a:stretch>
            <a:fillRect/>
          </a:stretch>
        </p:blipFill>
        <p:spPr>
          <a:xfrm>
            <a:off x="2120058" y="4028252"/>
            <a:ext cx="577473" cy="16559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23"/>
          <p:cNvPicPr preferRelativeResize="0"/>
          <p:nvPr/>
        </p:nvPicPr>
        <p:blipFill>
          <a:blip r:embed="rId31">
            <a:alphaModFix/>
          </a:blip>
          <a:stretch>
            <a:fillRect/>
          </a:stretch>
        </p:blipFill>
        <p:spPr>
          <a:xfrm>
            <a:off x="2871863" y="4024810"/>
            <a:ext cx="953884" cy="133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23"/>
          <p:cNvPicPr preferRelativeResize="0"/>
          <p:nvPr/>
        </p:nvPicPr>
        <p:blipFill>
          <a:blip r:embed="rId32">
            <a:alphaModFix/>
          </a:blip>
          <a:stretch>
            <a:fillRect/>
          </a:stretch>
        </p:blipFill>
        <p:spPr>
          <a:xfrm>
            <a:off x="3911928" y="3996790"/>
            <a:ext cx="677460" cy="219642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23"/>
          <p:cNvPicPr preferRelativeResize="0"/>
          <p:nvPr/>
        </p:nvPicPr>
        <p:blipFill rotWithShape="1">
          <a:blip r:embed="rId33">
            <a:alphaModFix/>
          </a:blip>
          <a:srcRect b="15233" l="0" r="0" t="0"/>
          <a:stretch/>
        </p:blipFill>
        <p:spPr>
          <a:xfrm>
            <a:off x="1881341" y="4236496"/>
            <a:ext cx="550477" cy="466642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23"/>
          <p:cNvPicPr preferRelativeResize="0"/>
          <p:nvPr/>
        </p:nvPicPr>
        <p:blipFill>
          <a:blip r:embed="rId34">
            <a:alphaModFix/>
          </a:blip>
          <a:stretch>
            <a:fillRect/>
          </a:stretch>
        </p:blipFill>
        <p:spPr>
          <a:xfrm>
            <a:off x="6671948" y="4372514"/>
            <a:ext cx="890134" cy="1649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23"/>
          <p:cNvPicPr preferRelativeResize="0"/>
          <p:nvPr/>
        </p:nvPicPr>
        <p:blipFill>
          <a:blip r:embed="rId35">
            <a:alphaModFix/>
          </a:blip>
          <a:stretch>
            <a:fillRect/>
          </a:stretch>
        </p:blipFill>
        <p:spPr>
          <a:xfrm>
            <a:off x="4600909" y="3990073"/>
            <a:ext cx="900359" cy="27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23"/>
          <p:cNvPicPr preferRelativeResize="0"/>
          <p:nvPr/>
        </p:nvPicPr>
        <p:blipFill>
          <a:blip r:embed="rId36">
            <a:alphaModFix/>
          </a:blip>
          <a:stretch>
            <a:fillRect/>
          </a:stretch>
        </p:blipFill>
        <p:spPr>
          <a:xfrm>
            <a:off x="5630310" y="4008389"/>
            <a:ext cx="714352" cy="1964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23"/>
          <p:cNvPicPr preferRelativeResize="0"/>
          <p:nvPr/>
        </p:nvPicPr>
        <p:blipFill>
          <a:blip r:embed="rId37">
            <a:alphaModFix/>
          </a:blip>
          <a:stretch>
            <a:fillRect/>
          </a:stretch>
        </p:blipFill>
        <p:spPr>
          <a:xfrm>
            <a:off x="6473722" y="4036151"/>
            <a:ext cx="651533" cy="22905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9" name="Google Shape;289;p23"/>
          <p:cNvPicPr preferRelativeResize="0"/>
          <p:nvPr/>
        </p:nvPicPr>
        <p:blipFill rotWithShape="1">
          <a:blip r:embed="rId38">
            <a:alphaModFix/>
          </a:blip>
          <a:srcRect b="23095" l="0" r="0" t="23294"/>
          <a:stretch/>
        </p:blipFill>
        <p:spPr>
          <a:xfrm>
            <a:off x="4148593" y="4370369"/>
            <a:ext cx="515982" cy="276632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23"/>
          <p:cNvPicPr preferRelativeResize="0"/>
          <p:nvPr/>
        </p:nvPicPr>
        <p:blipFill>
          <a:blip r:embed="rId39">
            <a:alphaModFix/>
          </a:blip>
          <a:stretch>
            <a:fillRect/>
          </a:stretch>
        </p:blipFill>
        <p:spPr>
          <a:xfrm>
            <a:off x="2498925" y="4444372"/>
            <a:ext cx="661523" cy="122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23"/>
          <p:cNvPicPr preferRelativeResize="0"/>
          <p:nvPr/>
        </p:nvPicPr>
        <p:blipFill>
          <a:blip r:embed="rId40">
            <a:alphaModFix/>
          </a:blip>
          <a:stretch>
            <a:fillRect/>
          </a:stretch>
        </p:blipFill>
        <p:spPr>
          <a:xfrm>
            <a:off x="3312526" y="4429765"/>
            <a:ext cx="726834" cy="151312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23"/>
          <p:cNvPicPr preferRelativeResize="0"/>
          <p:nvPr/>
        </p:nvPicPr>
        <p:blipFill>
          <a:blip r:embed="rId41">
            <a:alphaModFix/>
          </a:blip>
          <a:stretch>
            <a:fillRect/>
          </a:stretch>
        </p:blipFill>
        <p:spPr>
          <a:xfrm>
            <a:off x="4717396" y="4383872"/>
            <a:ext cx="808104" cy="183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p23"/>
          <p:cNvPicPr preferRelativeResize="0"/>
          <p:nvPr/>
        </p:nvPicPr>
        <p:blipFill>
          <a:blip r:embed="rId42">
            <a:alphaModFix/>
          </a:blip>
          <a:stretch>
            <a:fillRect/>
          </a:stretch>
        </p:blipFill>
        <p:spPr>
          <a:xfrm>
            <a:off x="5689398" y="4356575"/>
            <a:ext cx="254176" cy="29769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23"/>
          <p:cNvPicPr preferRelativeResize="0"/>
          <p:nvPr/>
        </p:nvPicPr>
        <p:blipFill>
          <a:blip r:embed="rId43">
            <a:alphaModFix/>
          </a:blip>
          <a:stretch>
            <a:fillRect/>
          </a:stretch>
        </p:blipFill>
        <p:spPr>
          <a:xfrm>
            <a:off x="6081503" y="4402098"/>
            <a:ext cx="499755" cy="15617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95" name="Google Shape;295;p23"/>
          <p:cNvCxnSpPr/>
          <p:nvPr/>
        </p:nvCxnSpPr>
        <p:spPr>
          <a:xfrm>
            <a:off x="1158875" y="1906150"/>
            <a:ext cx="6712800" cy="0"/>
          </a:xfrm>
          <a:prstGeom prst="straightConnector1">
            <a:avLst/>
          </a:prstGeom>
          <a:noFill/>
          <a:ln cap="flat" cmpd="sng" w="9525">
            <a:solidFill>
              <a:srgbClr val="FFFFFF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296" name="Google Shape;296;p23" title="Camada 3.png"/>
          <p:cNvPicPr preferRelativeResize="0"/>
          <p:nvPr/>
        </p:nvPicPr>
        <p:blipFill>
          <a:blip r:embed="rId44">
            <a:alphaModFix/>
          </a:blip>
          <a:stretch>
            <a:fillRect/>
          </a:stretch>
        </p:blipFill>
        <p:spPr>
          <a:xfrm>
            <a:off x="1373822" y="4024008"/>
            <a:ext cx="522526" cy="1537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23" title="conectala.png"/>
          <p:cNvPicPr preferRelativeResize="0"/>
          <p:nvPr/>
        </p:nvPicPr>
        <p:blipFill>
          <a:blip r:embed="rId45">
            <a:alphaModFix/>
          </a:blip>
          <a:stretch>
            <a:fillRect/>
          </a:stretch>
        </p:blipFill>
        <p:spPr>
          <a:xfrm>
            <a:off x="1283051" y="1506901"/>
            <a:ext cx="783275" cy="24943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23" title="SerasaExperian__BRANCO_RGB.png"/>
          <p:cNvPicPr preferRelativeResize="0"/>
          <p:nvPr/>
        </p:nvPicPr>
        <p:blipFill>
          <a:blip r:embed="rId46">
            <a:alphaModFix/>
          </a:blip>
          <a:stretch>
            <a:fillRect/>
          </a:stretch>
        </p:blipFill>
        <p:spPr>
          <a:xfrm>
            <a:off x="5806927" y="565196"/>
            <a:ext cx="1318326" cy="580792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p23"/>
          <p:cNvSpPr txBox="1"/>
          <p:nvPr/>
        </p:nvSpPr>
        <p:spPr>
          <a:xfrm>
            <a:off x="2277575" y="396300"/>
            <a:ext cx="10419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Cliente Interno</a:t>
            </a:r>
            <a:endParaRPr sz="4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00" name="Google Shape;300;p23"/>
          <p:cNvPicPr preferRelativeResize="0"/>
          <p:nvPr/>
        </p:nvPicPr>
        <p:blipFill>
          <a:blip r:embed="rId47">
            <a:alphaModFix/>
          </a:blip>
          <a:stretch>
            <a:fillRect/>
          </a:stretch>
        </p:blipFill>
        <p:spPr>
          <a:xfrm>
            <a:off x="7477200" y="190460"/>
            <a:ext cx="1456100" cy="2481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5" name="Google Shape;305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77200" y="190460"/>
            <a:ext cx="1456100" cy="248161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24"/>
          <p:cNvSpPr txBox="1"/>
          <p:nvPr/>
        </p:nvSpPr>
        <p:spPr>
          <a:xfrm>
            <a:off x="2652600" y="841425"/>
            <a:ext cx="38388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Acompanhe nossas</a:t>
            </a:r>
            <a:endParaRPr sz="2800"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mídias sociais:</a:t>
            </a:r>
            <a:endParaRPr sz="2800">
              <a:solidFill>
                <a:schemeClr val="l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pic>
        <p:nvPicPr>
          <p:cNvPr id="307" name="Google Shape;307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61901" y="2284113"/>
            <a:ext cx="493701" cy="35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" name="Google Shape;308;p2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323621" y="2251250"/>
            <a:ext cx="433062" cy="4330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09" name="Google Shape;309;p2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91636" y="2246400"/>
            <a:ext cx="423534" cy="4330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2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450125" y="2246638"/>
            <a:ext cx="433050" cy="432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1" name="Google Shape;311;p24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194563" y="2251487"/>
            <a:ext cx="565577" cy="432574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24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6922600" y="3192363"/>
            <a:ext cx="1109499" cy="1109499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24"/>
          <p:cNvSpPr txBox="1"/>
          <p:nvPr/>
        </p:nvSpPr>
        <p:spPr>
          <a:xfrm>
            <a:off x="6836250" y="2655463"/>
            <a:ext cx="12822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Discord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@magalucloud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14" name="Google Shape;314;p2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5454000" y="3192363"/>
            <a:ext cx="1109499" cy="1109499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24"/>
          <p:cNvSpPr txBox="1"/>
          <p:nvPr/>
        </p:nvSpPr>
        <p:spPr>
          <a:xfrm>
            <a:off x="5341550" y="2655463"/>
            <a:ext cx="13344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Youtube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@magalucloud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16" name="Google Shape;316;p24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3985400" y="3192363"/>
            <a:ext cx="1109499" cy="1109499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24"/>
          <p:cNvSpPr txBox="1"/>
          <p:nvPr/>
        </p:nvSpPr>
        <p:spPr>
          <a:xfrm>
            <a:off x="3899050" y="2655463"/>
            <a:ext cx="12822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Instagram</a:t>
            </a: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@magalucloud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18" name="Google Shape;318;p24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2548650" y="3192588"/>
            <a:ext cx="1109499" cy="1109499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24"/>
          <p:cNvSpPr txBox="1"/>
          <p:nvPr/>
        </p:nvSpPr>
        <p:spPr>
          <a:xfrm>
            <a:off x="2462300" y="2655688"/>
            <a:ext cx="12822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LinkedIn</a:t>
            </a:r>
            <a:endParaRPr b="1"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@magalucloud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20" name="Google Shape;320;p24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1111900" y="3192588"/>
            <a:ext cx="1109499" cy="1109499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24"/>
          <p:cNvSpPr txBox="1"/>
          <p:nvPr/>
        </p:nvSpPr>
        <p:spPr>
          <a:xfrm>
            <a:off x="1025550" y="2655688"/>
            <a:ext cx="12822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Website</a:t>
            </a:r>
            <a:endParaRPr b="1"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magalu.cloud</a:t>
            </a:r>
            <a:endParaRPr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6" name="Google Shape;32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" name="Google Shape;327;p25" title="Slide 3.png"/>
          <p:cNvPicPr preferRelativeResize="0"/>
          <p:nvPr/>
        </p:nvPicPr>
        <p:blipFill rotWithShape="1">
          <a:blip r:embed="rId4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25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29" name="Google Shape;329;p25" title="Logo-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0" name="Google Shape;330;p25" title="saopaulo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25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32" name="Google Shape;332;p25"/>
          <p:cNvPicPr preferRelativeResize="0"/>
          <p:nvPr/>
        </p:nvPicPr>
        <p:blipFill rotWithShape="1">
          <a:blip r:embed="rId7">
            <a:alphaModFix/>
          </a:blip>
          <a:srcRect b="28694" l="0" r="0" t="0"/>
          <a:stretch/>
        </p:blipFill>
        <p:spPr>
          <a:xfrm>
            <a:off x="196050" y="1160075"/>
            <a:ext cx="3406600" cy="1575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p2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267535" y="624698"/>
            <a:ext cx="1543050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4" name="Google Shape;334;p25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084527" y="2907950"/>
            <a:ext cx="1629639" cy="1651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25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794525" y="792413"/>
            <a:ext cx="3778234" cy="393477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36" name="Google Shape;336;p25"/>
          <p:cNvCxnSpPr/>
          <p:nvPr/>
        </p:nvCxnSpPr>
        <p:spPr>
          <a:xfrm rot="10800000">
            <a:off x="4575200" y="624700"/>
            <a:ext cx="0" cy="4270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337" name="Google Shape;337;p25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5152225" y="851400"/>
            <a:ext cx="943700" cy="35770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25"/>
          <p:cNvSpPr/>
          <p:nvPr/>
        </p:nvSpPr>
        <p:spPr>
          <a:xfrm>
            <a:off x="6095925" y="851400"/>
            <a:ext cx="2339700" cy="3099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highlight>
                <a:schemeClr val="dk1"/>
              </a:highlight>
            </a:endParaRPr>
          </a:p>
        </p:txBody>
      </p:sp>
      <p:pic>
        <p:nvPicPr>
          <p:cNvPr id="339" name="Google Shape;339;p25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6918491" y="2957925"/>
            <a:ext cx="1691545" cy="1691545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25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26"/>
          <p:cNvSpPr/>
          <p:nvPr/>
        </p:nvSpPr>
        <p:spPr>
          <a:xfrm>
            <a:off x="1234455" y="1461488"/>
            <a:ext cx="102900" cy="2194800"/>
          </a:xfrm>
          <a:prstGeom prst="rect">
            <a:avLst/>
          </a:prstGeom>
          <a:solidFill>
            <a:srgbClr val="0086F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6"/>
          <p:cNvSpPr txBox="1"/>
          <p:nvPr/>
        </p:nvSpPr>
        <p:spPr>
          <a:xfrm>
            <a:off x="1508776" y="1461500"/>
            <a:ext cx="6968700" cy="22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0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WORKSHOP HANDS-ON (1H30)</a:t>
            </a:r>
            <a:endParaRPr b="1" i="0" sz="1000" u="none" cap="none" strike="noStrike">
              <a:solidFill>
                <a:srgbClr val="0086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0086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pt-BR" sz="3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Magalu Cloud na Prática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br>
              <a:rPr lang="pt-BR" sz="19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i="0" lang="pt-BR" sz="19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Construindo e Automatizando Infraestrutura de Nuvem com Compute, Object Storage S3 e IaC</a:t>
            </a:r>
            <a:endParaRPr sz="16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47" name="Google Shape;347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348" name="Google Shape;348;p26" title="Slide 3.png"/>
          <p:cNvPicPr preferRelativeResize="0"/>
          <p:nvPr/>
        </p:nvPicPr>
        <p:blipFill rotWithShape="1">
          <a:blip r:embed="rId4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6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50" name="Google Shape;350;p26" title="Logo-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351" name="Google Shape;351;p26" title="saopaulo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26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53" name="Google Shape;353;p26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7"/>
          <p:cNvSpPr txBox="1"/>
          <p:nvPr/>
        </p:nvSpPr>
        <p:spPr>
          <a:xfrm>
            <a:off x="548655" y="622343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VISÃO GERAL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59" name="Google Shape;359;p27"/>
          <p:cNvSpPr txBox="1"/>
          <p:nvPr/>
        </p:nvSpPr>
        <p:spPr>
          <a:xfrm>
            <a:off x="548655" y="828083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Objetivos e Dinâmica do Workshop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60" name="Google Shape;360;p27"/>
          <p:cNvSpPr/>
          <p:nvPr/>
        </p:nvSpPr>
        <p:spPr>
          <a:xfrm>
            <a:off x="548650" y="1376725"/>
            <a:ext cx="3840600" cy="35397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61" name="Google Shape;361;p27"/>
          <p:cNvSpPr txBox="1"/>
          <p:nvPr/>
        </p:nvSpPr>
        <p:spPr>
          <a:xfrm>
            <a:off x="720109" y="1513883"/>
            <a:ext cx="3497700" cy="31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600">
                <a:solidFill>
                  <a:srgbClr val="0F172A"/>
                </a:solidFill>
                <a:latin typeface="Trebuchet MS"/>
                <a:ea typeface="Trebuchet MS"/>
                <a:cs typeface="Trebuchet MS"/>
                <a:sym typeface="Trebuchet MS"/>
              </a:rPr>
              <a:t>🎯</a:t>
            </a:r>
            <a:r>
              <a:rPr b="1" i="0" lang="pt-BR" sz="17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 Propósito do Workshop</a:t>
            </a:r>
            <a:endParaRPr sz="16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br>
              <a:rPr lang="pt-BR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i="0" lang="pt-BR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Apresentar a plataforma de nuvem pública 100% brasileira da Magalu Cloud.</a:t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Simular um caso real: hospedar um website na nuvem.</a:t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Experiência Hands-On individual: cada participante cria, testa e apaga seu ambiente.</a:t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Modelo pay-as-you-go: provisionar e depois desmontar tudo sem custo residual.</a:t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62" name="Google Shape;362;p27"/>
          <p:cNvSpPr/>
          <p:nvPr/>
        </p:nvSpPr>
        <p:spPr>
          <a:xfrm>
            <a:off x="4663575" y="1376725"/>
            <a:ext cx="3909300" cy="35397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63" name="Google Shape;363;p27"/>
          <p:cNvSpPr txBox="1"/>
          <p:nvPr/>
        </p:nvSpPr>
        <p:spPr>
          <a:xfrm>
            <a:off x="4835019" y="1513883"/>
            <a:ext cx="3566400" cy="30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600">
                <a:solidFill>
                  <a:srgbClr val="0F172A"/>
                </a:solidFill>
                <a:latin typeface="Trebuchet MS"/>
                <a:ea typeface="Trebuchet MS"/>
                <a:cs typeface="Trebuchet MS"/>
                <a:sym typeface="Trebuchet MS"/>
              </a:rPr>
              <a:t>⏱️</a:t>
            </a:r>
            <a:r>
              <a:rPr b="1" i="0" lang="pt-BR" sz="17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 Agenda (90 Minutos)</a:t>
            </a:r>
            <a:endParaRPr sz="16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br>
              <a:rPr lang="pt-BR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i="0" lang="pt-BR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15 min: Apresentação da Magalu Cloud e Arquitetura da Solução. </a:t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15 min: Criação da Conta no ID Magalu e Pré-requisitos.</a:t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25 min: Provisionamento da Infraestrutura (Console, CLI ou IaC).</a:t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20 min: Deploy da Aplicação, Integração S3 e Validação de Mídias.</a:t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10 min: Conte</a:t>
            </a:r>
            <a:r>
              <a:rPr lang="pt-BR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údo Extra (produto IA)</a:t>
            </a:r>
            <a:endParaRPr i="0" u="none" cap="none" strike="noStrike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i="0" lang="pt-BR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5 min: Sessão de Perguntas (Q&amp;A).</a:t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64" name="Google Shape;364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365" name="Google Shape;365;p27" title="Slide 3.png"/>
          <p:cNvPicPr preferRelativeResize="0"/>
          <p:nvPr/>
        </p:nvPicPr>
        <p:blipFill rotWithShape="1">
          <a:blip r:embed="rId4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27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67" name="Google Shape;367;p27" title="Logo-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368" name="Google Shape;368;p27" title="saopaulo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369" name="Google Shape;369;p27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0" name="Google Shape;370;p27"/>
          <p:cNvSpPr txBox="1"/>
          <p:nvPr/>
        </p:nvSpPr>
        <p:spPr>
          <a:xfrm>
            <a:off x="7032175" y="2222966"/>
            <a:ext cx="374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latin typeface="Montserrat"/>
                <a:ea typeface="Montserrat"/>
                <a:cs typeface="Montserrat"/>
                <a:sym typeface="Montserrat"/>
              </a:rPr>
              <a:t>✅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1" name="Google Shape;371;p27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28"/>
          <p:cNvSpPr txBox="1"/>
          <p:nvPr/>
        </p:nvSpPr>
        <p:spPr>
          <a:xfrm>
            <a:off x="548655" y="622343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ARQUITETURA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7" name="Google Shape;377;p28"/>
          <p:cNvSpPr txBox="1"/>
          <p:nvPr/>
        </p:nvSpPr>
        <p:spPr>
          <a:xfrm>
            <a:off x="548655" y="828083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Arquitetura da Solução: WordPress + Object Storage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8" name="Google Shape;378;p28"/>
          <p:cNvSpPr/>
          <p:nvPr/>
        </p:nvSpPr>
        <p:spPr>
          <a:xfrm>
            <a:off x="548650" y="1376725"/>
            <a:ext cx="2469000" cy="33759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3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9" name="Google Shape;379;p28"/>
          <p:cNvSpPr txBox="1"/>
          <p:nvPr/>
        </p:nvSpPr>
        <p:spPr>
          <a:xfrm>
            <a:off x="720109" y="1513883"/>
            <a:ext cx="2126100" cy="292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5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1. Compute &amp; Rede</a:t>
            </a:r>
            <a:endParaRPr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br>
              <a:rPr lang="pt-BR" sz="13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1 Máquina Virtual (VM) com Ubuntu 24.04 LTS.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Flavor padrão BV1-1-10   (1 vCPU, 1GB RAM,      10GB Disco)</a:t>
            </a:r>
            <a:r>
              <a:rPr lang="pt-BR" sz="13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1 IP Público IPv4 dedicado para acesso via navegador.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Security Group com portas 22 (SSH) e 80 (HTTP) liberadas.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0" name="Google Shape;380;p28"/>
          <p:cNvSpPr/>
          <p:nvPr/>
        </p:nvSpPr>
        <p:spPr>
          <a:xfrm>
            <a:off x="3291925" y="1376725"/>
            <a:ext cx="2469000" cy="33759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3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1" name="Google Shape;381;p28"/>
          <p:cNvSpPr txBox="1"/>
          <p:nvPr/>
        </p:nvSpPr>
        <p:spPr>
          <a:xfrm>
            <a:off x="3463382" y="1513883"/>
            <a:ext cx="2126100" cy="31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5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2. Aplicação &amp; Dados</a:t>
            </a:r>
            <a:endParaRPr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br>
              <a:rPr lang="pt-BR" sz="13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WordPress oficial rodando em container Docker (Apache + PHP).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Banco de dados relacional MySQL 8.0 em container dedicado.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Deploy automatizado via Docker Compose na VM.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Código, temas e configurações isolados no disco da VM.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2" name="Google Shape;382;p28"/>
          <p:cNvSpPr/>
          <p:nvPr/>
        </p:nvSpPr>
        <p:spPr>
          <a:xfrm>
            <a:off x="6035200" y="1376725"/>
            <a:ext cx="2537700" cy="33996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3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3" name="Google Shape;383;p28"/>
          <p:cNvSpPr txBox="1"/>
          <p:nvPr/>
        </p:nvSpPr>
        <p:spPr>
          <a:xfrm>
            <a:off x="6206655" y="1513883"/>
            <a:ext cx="2194800" cy="292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5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3. Object Storage (S3)</a:t>
            </a:r>
            <a:endParaRPr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br>
              <a:rPr lang="pt-BR" sz="13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1 Bucket exclusivo na região Sudeste (br-se1).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Visibilidade pública de leitura para entrega de mídias.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Plugin Media Cloud Sync: salva imagens / vídeos direto no bucket.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URLs das imagens servidas pelo endpoint S3 sem onerar a VM.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84" name="Google Shape;38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5" name="Google Shape;385;p28" title="Slide 3.png"/>
          <p:cNvPicPr preferRelativeResize="0"/>
          <p:nvPr/>
        </p:nvPicPr>
        <p:blipFill rotWithShape="1">
          <a:blip r:embed="rId4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28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87" name="Google Shape;387;p28" title="Logo-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28" title="saopaulo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28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0" name="Google Shape;390;p28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29"/>
          <p:cNvSpPr txBox="1"/>
          <p:nvPr/>
        </p:nvSpPr>
        <p:spPr>
          <a:xfrm>
            <a:off x="559892" y="639840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ONBOARDING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6" name="Google Shape;396;p29"/>
          <p:cNvSpPr txBox="1"/>
          <p:nvPr/>
        </p:nvSpPr>
        <p:spPr>
          <a:xfrm>
            <a:off x="559892" y="845580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Passo 1: Criação da Conta no ID Magalu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7" name="Google Shape;397;p29"/>
          <p:cNvSpPr/>
          <p:nvPr/>
        </p:nvSpPr>
        <p:spPr>
          <a:xfrm>
            <a:off x="97072" y="1394225"/>
            <a:ext cx="3840600" cy="34872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7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8" name="Google Shape;398;p29"/>
          <p:cNvSpPr txBox="1"/>
          <p:nvPr/>
        </p:nvSpPr>
        <p:spPr>
          <a:xfrm>
            <a:off x="268519" y="1531380"/>
            <a:ext cx="3497700" cy="30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6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📝 Cadastro Individual</a:t>
            </a:r>
            <a:endParaRPr sz="15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br>
              <a:rPr lang="pt-BR" sz="13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Cada participante utiliza sua própria conta no ID Magalu.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Acesse: </a:t>
            </a:r>
            <a:r>
              <a:rPr i="0" lang="pt-BR" sz="1300" u="sng" cap="none" strike="noStrike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https://magalu.cloud</a:t>
            </a: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e clique em 'Criar conta'.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Preencha nome completo, CPF/CNPJ, e-mail e senha segura.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Acesse sua caixa de entrada e confirme o e-mail de ativação.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Documentação oficial: </a:t>
            </a:r>
            <a:r>
              <a:rPr lang="pt-BR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https://docs.magalu.cloud/docs/onboarding/create-account</a:t>
            </a:r>
            <a:r>
              <a:rPr lang="pt-BR" sz="13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99" name="Google Shape;399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0" name="Google Shape;400;p29" title="Slide 3.png"/>
          <p:cNvPicPr preferRelativeResize="0"/>
          <p:nvPr/>
        </p:nvPicPr>
        <p:blipFill rotWithShape="1">
          <a:blip r:embed="rId6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p29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02" name="Google Shape;402;p29" title="Logo-9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29" title="saopauloW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29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05" name="Google Shape;405;p29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034018" y="1643824"/>
            <a:ext cx="4992514" cy="2862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06" name="Google Shape;406;p29"/>
          <p:cNvCxnSpPr/>
          <p:nvPr/>
        </p:nvCxnSpPr>
        <p:spPr>
          <a:xfrm>
            <a:off x="7649750" y="995525"/>
            <a:ext cx="873300" cy="5763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07" name="Google Shape;407;p29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30"/>
          <p:cNvSpPr txBox="1"/>
          <p:nvPr/>
        </p:nvSpPr>
        <p:spPr>
          <a:xfrm>
            <a:off x="559892" y="639840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ONBOARDING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3" name="Google Shape;413;p30"/>
          <p:cNvSpPr txBox="1"/>
          <p:nvPr/>
        </p:nvSpPr>
        <p:spPr>
          <a:xfrm>
            <a:off x="559892" y="845580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Passo 1: Criação da Conta no ID Magalu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4" name="Google Shape;414;p30"/>
          <p:cNvSpPr/>
          <p:nvPr/>
        </p:nvSpPr>
        <p:spPr>
          <a:xfrm>
            <a:off x="90176" y="1376775"/>
            <a:ext cx="3909300" cy="34872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7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5" name="Google Shape;415;p30"/>
          <p:cNvSpPr txBox="1"/>
          <p:nvPr/>
        </p:nvSpPr>
        <p:spPr>
          <a:xfrm>
            <a:off x="261633" y="1513930"/>
            <a:ext cx="3566400" cy="28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6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🔐 Primeiro Acesso ao Console</a:t>
            </a:r>
            <a:endParaRPr sz="15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br>
              <a:rPr lang="pt-BR" sz="13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Acesse o Console: </a:t>
            </a:r>
            <a:r>
              <a:rPr i="0" lang="pt-BR" sz="1300" u="sng" cap="none" strike="noStrike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https://console.magalu.cloud</a:t>
            </a: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Faça login com seu ID Magalu recém-criado.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Aceite os Termos de Serviço da plataforma Magalu Cloud.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Confirme a criação automática do seu Tenant (organização padrão).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Pronto! Seu painel de controle está ativo para provisionamento.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16" name="Google Shape;416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417" name="Google Shape;417;p30" title="Slide 3.png"/>
          <p:cNvPicPr preferRelativeResize="0"/>
          <p:nvPr/>
        </p:nvPicPr>
        <p:blipFill rotWithShape="1">
          <a:blip r:embed="rId5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418" name="Google Shape;418;p30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19" name="Google Shape;419;p30" title="Logo-9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420" name="Google Shape;420;p30" title="saopauloW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p30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22" name="Google Shape;422;p3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134401" y="1716918"/>
            <a:ext cx="4839723" cy="2716254"/>
          </a:xfrm>
          <a:prstGeom prst="rect">
            <a:avLst/>
          </a:prstGeom>
          <a:noFill/>
          <a:ln>
            <a:noFill/>
          </a:ln>
        </p:spPr>
      </p:pic>
      <p:sp>
        <p:nvSpPr>
          <p:cNvPr id="423" name="Google Shape;423;p30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31"/>
          <p:cNvSpPr txBox="1"/>
          <p:nvPr/>
        </p:nvSpPr>
        <p:spPr>
          <a:xfrm>
            <a:off x="559892" y="639840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ONBOARDING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9" name="Google Shape;429;p31"/>
          <p:cNvSpPr txBox="1"/>
          <p:nvPr/>
        </p:nvSpPr>
        <p:spPr>
          <a:xfrm>
            <a:off x="559892" y="845580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Passo 1: Criação da Conta no ID Magalu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30" name="Google Shape;430;p31"/>
          <p:cNvSpPr/>
          <p:nvPr/>
        </p:nvSpPr>
        <p:spPr>
          <a:xfrm>
            <a:off x="90176" y="1376775"/>
            <a:ext cx="3909300" cy="34872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7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31" name="Google Shape;431;p31"/>
          <p:cNvSpPr txBox="1"/>
          <p:nvPr/>
        </p:nvSpPr>
        <p:spPr>
          <a:xfrm>
            <a:off x="261625" y="1513925"/>
            <a:ext cx="3659400" cy="3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6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🔐 </a:t>
            </a:r>
            <a:r>
              <a:rPr b="1" lang="pt-BR" sz="16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Acesso ao Tenant do Workshop</a:t>
            </a:r>
            <a:endParaRPr sz="15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br>
              <a:rPr lang="pt-BR" sz="13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lang="pt-BR" sz="13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Entre no grupo do whatsapp</a:t>
            </a: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: </a:t>
            </a:r>
            <a:r>
              <a:rPr lang="pt-BR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https://chat.whatsapp.com/DjXNR87YBcb94669Hlbg8P</a:t>
            </a:r>
            <a:r>
              <a:rPr lang="pt-BR" sz="1300" u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lang="pt-BR" sz="13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Acesse o Forms e envie o e-mail usado no ID Magalu </a:t>
            </a:r>
            <a:r>
              <a:rPr lang="pt-BR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https://forms.gle/ocvRupRunz5yXexd7</a:t>
            </a:r>
            <a:r>
              <a:rPr lang="pt-BR" sz="13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lang="pt-BR" sz="13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Aguardar o moderador do Workshop liberar acesso ao Tenant</a:t>
            </a: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Confirme </a:t>
            </a:r>
            <a:r>
              <a:rPr lang="pt-BR" sz="13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se apareceu o Tenant</a:t>
            </a:r>
            <a:endParaRPr sz="13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1" lang="pt-BR" sz="13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**CPEN.SOL - Workshop Arquitetos"</a:t>
            </a: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lang="pt-BR" sz="13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Pronto!</a:t>
            </a:r>
            <a:r>
              <a:rPr lang="pt-BR" sz="13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Selecione o Tenant do Workshop para  a criação dos recursos a seguir</a:t>
            </a: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32" name="Google Shape;432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31" title="Slide 3.png"/>
          <p:cNvPicPr preferRelativeResize="0"/>
          <p:nvPr/>
        </p:nvPicPr>
        <p:blipFill rotWithShape="1">
          <a:blip r:embed="rId6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31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35" name="Google Shape;435;p31" title="Logo-9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31" title="saopauloW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p31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38" name="Google Shape;438;p31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151876" y="1803955"/>
            <a:ext cx="4839724" cy="263284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39" name="Google Shape;439;p31"/>
          <p:cNvCxnSpPr/>
          <p:nvPr/>
        </p:nvCxnSpPr>
        <p:spPr>
          <a:xfrm>
            <a:off x="6697900" y="2283600"/>
            <a:ext cx="873300" cy="5763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440" name="Google Shape;440;p31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82942" y="592025"/>
            <a:ext cx="1108650" cy="1112358"/>
          </a:xfrm>
          <a:prstGeom prst="rect">
            <a:avLst/>
          </a:prstGeom>
          <a:noFill/>
          <a:ln>
            <a:noFill/>
          </a:ln>
        </p:spPr>
      </p:pic>
      <p:sp>
        <p:nvSpPr>
          <p:cNvPr id="441" name="Google Shape;441;p31"/>
          <p:cNvSpPr txBox="1"/>
          <p:nvPr/>
        </p:nvSpPr>
        <p:spPr>
          <a:xfrm>
            <a:off x="7164675" y="955746"/>
            <a:ext cx="7734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pt-BR" sz="13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Forms:</a:t>
            </a:r>
            <a:endParaRPr/>
          </a:p>
        </p:txBody>
      </p:sp>
      <p:sp>
        <p:nvSpPr>
          <p:cNvPr id="442" name="Google Shape;442;p31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32"/>
          <p:cNvSpPr txBox="1"/>
          <p:nvPr/>
        </p:nvSpPr>
        <p:spPr>
          <a:xfrm>
            <a:off x="559892" y="639830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PRÉ-REQUISITOS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48" name="Google Shape;448;p32"/>
          <p:cNvSpPr txBox="1"/>
          <p:nvPr/>
        </p:nvSpPr>
        <p:spPr>
          <a:xfrm>
            <a:off x="559892" y="845570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Passo 2: </a:t>
            </a:r>
            <a:r>
              <a:rPr b="1" lang="pt-BR" sz="18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Instalação de f</a:t>
            </a: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erramenta</a:t>
            </a:r>
            <a:r>
              <a:rPr b="1" lang="pt-BR" sz="18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s / utilitários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49" name="Google Shape;449;p32"/>
          <p:cNvSpPr/>
          <p:nvPr/>
        </p:nvSpPr>
        <p:spPr>
          <a:xfrm>
            <a:off x="106725" y="1394225"/>
            <a:ext cx="3909300" cy="35397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7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50" name="Google Shape;450;p32"/>
          <p:cNvSpPr txBox="1"/>
          <p:nvPr/>
        </p:nvSpPr>
        <p:spPr>
          <a:xfrm>
            <a:off x="278183" y="1531390"/>
            <a:ext cx="3566400" cy="317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6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🛠️ Instalação das Ferramentas</a:t>
            </a:r>
            <a:endParaRPr sz="15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br>
              <a:rPr lang="pt-BR" sz="13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O repositório inclui scripts automatizados de instalação:</a:t>
            </a:r>
            <a:endParaRPr i="0" sz="1300" u="none" cap="none" strike="noStrike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pt-BR" sz="13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r>
              <a:rPr lang="pt-BR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https://github.com/fernandoravagnani-luizalabs/mgc-workshop/</a:t>
            </a:r>
            <a:r>
              <a:rPr lang="pt-BR" sz="13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3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b="1"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Linux / macOS</a:t>
            </a: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: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  chmod +x scripts/install-prereqs.sh &amp;&amp; ./scripts/install-prereqs.sh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b="1"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Windows</a:t>
            </a: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(PowerShell Administrador):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  .\scripts\install-prereqs.ps1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Instala automaticamente: mgc CLI, terraform, ansible e git.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51" name="Google Shape;451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452" name="Google Shape;452;p32" title="Slide 3.png"/>
          <p:cNvPicPr preferRelativeResize="0"/>
          <p:nvPr/>
        </p:nvPicPr>
        <p:blipFill rotWithShape="1">
          <a:blip r:embed="rId5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453" name="Google Shape;453;p32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54" name="Google Shape;454;p32" title="Logo-9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455" name="Google Shape;455;p32" title="saopauloW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456" name="Google Shape;456;p32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57" name="Google Shape;457;p32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382105" y="1432361"/>
            <a:ext cx="3860969" cy="34109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58" name="Google Shape;458;p32"/>
          <p:cNvCxnSpPr/>
          <p:nvPr/>
        </p:nvCxnSpPr>
        <p:spPr>
          <a:xfrm flipH="1">
            <a:off x="5737075" y="3169925"/>
            <a:ext cx="519600" cy="5130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59" name="Google Shape;459;p32"/>
          <p:cNvCxnSpPr/>
          <p:nvPr/>
        </p:nvCxnSpPr>
        <p:spPr>
          <a:xfrm flipH="1">
            <a:off x="5775950" y="3453325"/>
            <a:ext cx="519600" cy="5130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60" name="Google Shape;460;p32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33"/>
          <p:cNvSpPr txBox="1"/>
          <p:nvPr/>
        </p:nvSpPr>
        <p:spPr>
          <a:xfrm>
            <a:off x="563080" y="665989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OPÇÕES DE EXECUÇÃO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6" name="Google Shape;466;p33"/>
          <p:cNvSpPr txBox="1"/>
          <p:nvPr/>
        </p:nvSpPr>
        <p:spPr>
          <a:xfrm>
            <a:off x="563080" y="871729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Escolha seu Método de Provisionamento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7" name="Google Shape;467;p33"/>
          <p:cNvSpPr/>
          <p:nvPr/>
        </p:nvSpPr>
        <p:spPr>
          <a:xfrm>
            <a:off x="563080" y="1420369"/>
            <a:ext cx="2469000" cy="32919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6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8" name="Google Shape;468;p33"/>
          <p:cNvSpPr txBox="1"/>
          <p:nvPr/>
        </p:nvSpPr>
        <p:spPr>
          <a:xfrm>
            <a:off x="734534" y="1557529"/>
            <a:ext cx="2126100" cy="26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Método 1: </a:t>
            </a:r>
            <a:endParaRPr b="1" i="0" u="none" cap="none" strike="noStrike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Console Web</a:t>
            </a:r>
            <a:endParaRPr sz="13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b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Interface gráfica intuitiva no navegador.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Ideal para quem prefere uma experiência visual.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Passo a passo por menus do Console da MGC.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Deploy do WordPress via SSH manual.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👉 </a:t>
            </a: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I</a:t>
            </a: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niciantes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9" name="Google Shape;469;p33"/>
          <p:cNvSpPr/>
          <p:nvPr/>
        </p:nvSpPr>
        <p:spPr>
          <a:xfrm>
            <a:off x="3306353" y="1420369"/>
            <a:ext cx="2469000" cy="32919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6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0" name="Google Shape;470;p33"/>
          <p:cNvSpPr txBox="1"/>
          <p:nvPr/>
        </p:nvSpPr>
        <p:spPr>
          <a:xfrm>
            <a:off x="3477807" y="1557529"/>
            <a:ext cx="2126100" cy="26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Método 2: </a:t>
            </a:r>
            <a:endParaRPr b="1" i="0" u="none" cap="none" strike="noStrike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MGC CLI</a:t>
            </a:r>
            <a:endParaRPr sz="13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b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Linha de comando oficial da Magalu Cloud.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Execução rápida e direta no terminal.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Comandos para VM, Chaves e Object Storage.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Deploy do WordPress via SSH.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👉 DevOps/SREs.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1" name="Google Shape;471;p33"/>
          <p:cNvSpPr/>
          <p:nvPr/>
        </p:nvSpPr>
        <p:spPr>
          <a:xfrm>
            <a:off x="6049626" y="1420369"/>
            <a:ext cx="2537700" cy="32919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6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2" name="Google Shape;472;p33"/>
          <p:cNvSpPr txBox="1"/>
          <p:nvPr/>
        </p:nvSpPr>
        <p:spPr>
          <a:xfrm>
            <a:off x="6221080" y="1557529"/>
            <a:ext cx="2194800" cy="26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Método 3: </a:t>
            </a:r>
            <a:endParaRPr b="1" i="0" u="none" cap="none" strike="noStrike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Terraform + Ansible</a:t>
            </a:r>
            <a:endParaRPr sz="13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b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Infraestrutura como Código (IaC) 100% automatizada.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Cria VM, Chave SSH, Bucket, ACL e IP público.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Provisioner Ansible instala Docker e sobe o site.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Deploy completo com 'terraform apply'.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👉 </a:t>
            </a: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A</a:t>
            </a: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utomação avançada.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73" name="Google Shape;473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4" name="Google Shape;474;p33" title="Slide 3.png"/>
          <p:cNvPicPr preferRelativeResize="0"/>
          <p:nvPr/>
        </p:nvPicPr>
        <p:blipFill rotWithShape="1">
          <a:blip r:embed="rId4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33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76" name="Google Shape;476;p33" title="Logo-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7" name="Google Shape;477;p33" title="saopaulo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478" name="Google Shape;478;p33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9" name="Google Shape;479;p33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34"/>
          <p:cNvSpPr txBox="1"/>
          <p:nvPr/>
        </p:nvSpPr>
        <p:spPr>
          <a:xfrm>
            <a:off x="3032782" y="1461488"/>
            <a:ext cx="7544100" cy="17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000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EXECUÇÃO</a:t>
            </a:r>
            <a:endParaRPr b="1" i="0" sz="1000" u="none" cap="none" strike="noStrike">
              <a:solidFill>
                <a:srgbClr val="0086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0086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pt-BR" sz="31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Método 1: </a:t>
            </a:r>
            <a:endParaRPr b="1" sz="31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SzPts val="1100"/>
              <a:buNone/>
            </a:pPr>
            <a:r>
              <a:rPr b="1" lang="pt-BR" sz="31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Console Web</a:t>
            </a:r>
            <a:endParaRPr b="1" sz="31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85" name="Google Shape;48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6" name="Google Shape;486;p34" title="Slide 3.png"/>
          <p:cNvPicPr preferRelativeResize="0"/>
          <p:nvPr/>
        </p:nvPicPr>
        <p:blipFill rotWithShape="1">
          <a:blip r:embed="rId4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p34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88" name="Google Shape;488;p34" title="Logo-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34" title="saopaulo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1" name="Google Shape;491;p34"/>
          <p:cNvSpPr/>
          <p:nvPr/>
        </p:nvSpPr>
        <p:spPr>
          <a:xfrm>
            <a:off x="2758455" y="1461488"/>
            <a:ext cx="102900" cy="2194800"/>
          </a:xfrm>
          <a:prstGeom prst="rect">
            <a:avLst/>
          </a:prstGeom>
          <a:solidFill>
            <a:srgbClr val="0086F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5"/>
          <p:cNvSpPr txBox="1"/>
          <p:nvPr/>
        </p:nvSpPr>
        <p:spPr>
          <a:xfrm>
            <a:off x="559892" y="639830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800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VIA CONSOLE WEB</a:t>
            </a:r>
            <a:endParaRPr b="1" sz="800">
              <a:solidFill>
                <a:srgbClr val="0086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8" name="Google Shape;498;p35"/>
          <p:cNvSpPr txBox="1"/>
          <p:nvPr/>
        </p:nvSpPr>
        <p:spPr>
          <a:xfrm>
            <a:off x="559892" y="845570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8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Procedimento 1 (Console): Chaves SSH</a:t>
            </a:r>
            <a:endParaRPr b="1" sz="18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9" name="Google Shape;499;p35"/>
          <p:cNvSpPr/>
          <p:nvPr/>
        </p:nvSpPr>
        <p:spPr>
          <a:xfrm>
            <a:off x="88325" y="1249863"/>
            <a:ext cx="3840600" cy="36492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7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0" name="Google Shape;500;p35"/>
          <p:cNvSpPr txBox="1"/>
          <p:nvPr/>
        </p:nvSpPr>
        <p:spPr>
          <a:xfrm>
            <a:off x="259786" y="1391649"/>
            <a:ext cx="3497700" cy="336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5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Cadastrar Chave SSH no Console</a:t>
            </a:r>
            <a:endParaRPr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b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Necessária para </a:t>
            </a: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conectar n</a:t>
            </a: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a VM.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Gere sua chave localmente via terminal: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ssh-keygen -t ed25519 -f ~/.ssh/id_ed25519 -N '' -C 'workshop-mgc'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Ajuste as permissões de segurança: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chmod 600 ~/.ssh/id_ed25519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Sua chave pública (~/.ssh/id_ed25519.pub) será cadastrada na MGC.</a:t>
            </a:r>
            <a:endParaRPr i="0" sz="1200" u="none" cap="none" strike="noStrike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Vá em: Criar instância &gt; Acesso &gt; Defina sua chave SSH</a:t>
            </a:r>
            <a:endParaRPr sz="12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BR" sz="1200" u="sng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https://docs.magalu.cloud/docs/computing/virtual-machine/how-to/create-instances/set-ssh-key-instance</a:t>
            </a: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2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01" name="Google Shape;501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p35" title="Slide 3.png"/>
          <p:cNvPicPr preferRelativeResize="0"/>
          <p:nvPr/>
        </p:nvPicPr>
        <p:blipFill rotWithShape="1">
          <a:blip r:embed="rId5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503" name="Google Shape;503;p35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04" name="Google Shape;504;p35" title="Logo-9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505" name="Google Shape;505;p35" title="saopauloW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506" name="Google Shape;506;p35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07" name="Google Shape;507;p3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081332" y="1502218"/>
            <a:ext cx="4910267" cy="310556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08" name="Google Shape;508;p35"/>
          <p:cNvCxnSpPr/>
          <p:nvPr/>
        </p:nvCxnSpPr>
        <p:spPr>
          <a:xfrm rot="10800000">
            <a:off x="4938175" y="3685675"/>
            <a:ext cx="572100" cy="5163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09" name="Google Shape;509;p35"/>
          <p:cNvCxnSpPr/>
          <p:nvPr/>
        </p:nvCxnSpPr>
        <p:spPr>
          <a:xfrm rot="10800000">
            <a:off x="4938175" y="3097900"/>
            <a:ext cx="572100" cy="5163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10" name="Google Shape;510;p35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36"/>
          <p:cNvSpPr txBox="1"/>
          <p:nvPr/>
        </p:nvSpPr>
        <p:spPr>
          <a:xfrm>
            <a:off x="548655" y="723900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VIA CONSOLE WEB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6" name="Google Shape;516;p36"/>
          <p:cNvSpPr txBox="1"/>
          <p:nvPr/>
        </p:nvSpPr>
        <p:spPr>
          <a:xfrm>
            <a:off x="548655" y="929640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Procedimento 1 (Console): Criar Máquina Virtual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7" name="Google Shape;517;p36"/>
          <p:cNvSpPr/>
          <p:nvPr/>
        </p:nvSpPr>
        <p:spPr>
          <a:xfrm>
            <a:off x="115259" y="1478280"/>
            <a:ext cx="3840600" cy="32919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6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8" name="Google Shape;518;p36"/>
          <p:cNvSpPr txBox="1"/>
          <p:nvPr/>
        </p:nvSpPr>
        <p:spPr>
          <a:xfrm>
            <a:off x="286714" y="1615440"/>
            <a:ext cx="3497700" cy="26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📋 Configuração da Instância</a:t>
            </a:r>
            <a:endParaRPr sz="13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Acesse: </a:t>
            </a: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Virtual Machine</a:t>
            </a: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→ Criar </a:t>
            </a: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instância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Defina: nome, imagem, tipo, rede, acesso e identificação</a:t>
            </a:r>
            <a:endParaRPr sz="12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Clique em: Ir par a revisão &gt; Criar instância</a:t>
            </a:r>
            <a:endParaRPr sz="12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Anote o IP Público alocado (ex: 200.x.x.x.x).</a:t>
            </a:r>
            <a:endParaRPr sz="12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Esse IP será utilizado para conectar via SSH e abrir o site no navegador</a:t>
            </a:r>
            <a:endParaRPr sz="12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Doc: </a:t>
            </a:r>
            <a:r>
              <a:rPr lang="pt-BR" sz="12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https://docs.magalu.cloud/docs/computing/virtual-machine/how-to/create-instances/create-instance</a:t>
            </a: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2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19" name="Google Shape;519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20" name="Google Shape;520;p36" title="Slide 3.png"/>
          <p:cNvPicPr preferRelativeResize="0"/>
          <p:nvPr/>
        </p:nvPicPr>
        <p:blipFill rotWithShape="1">
          <a:blip r:embed="rId5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521" name="Google Shape;521;p36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22" name="Google Shape;522;p36" title="Logo-9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523" name="Google Shape;523;p36" title="saopauloW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524" name="Google Shape;524;p36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25" name="Google Shape;525;p36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077776" y="1473400"/>
            <a:ext cx="4972188" cy="3220574"/>
          </a:xfrm>
          <a:prstGeom prst="rect">
            <a:avLst/>
          </a:prstGeom>
          <a:noFill/>
          <a:ln>
            <a:noFill/>
          </a:ln>
        </p:spPr>
      </p:pic>
      <p:sp>
        <p:nvSpPr>
          <p:cNvPr id="526" name="Google Shape;526;p36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37"/>
          <p:cNvSpPr txBox="1"/>
          <p:nvPr/>
        </p:nvSpPr>
        <p:spPr>
          <a:xfrm>
            <a:off x="548655" y="723900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VIA CONSOLE WEB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32" name="Google Shape;532;p37"/>
          <p:cNvSpPr txBox="1"/>
          <p:nvPr/>
        </p:nvSpPr>
        <p:spPr>
          <a:xfrm>
            <a:off x="548655" y="929640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Procedimento 1 (Console): Criar Bucket no Object Storage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33" name="Google Shape;533;p37"/>
          <p:cNvSpPr/>
          <p:nvPr/>
        </p:nvSpPr>
        <p:spPr>
          <a:xfrm>
            <a:off x="91450" y="1478275"/>
            <a:ext cx="4201500" cy="33597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6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34" name="Google Shape;534;p37"/>
          <p:cNvSpPr txBox="1"/>
          <p:nvPr/>
        </p:nvSpPr>
        <p:spPr>
          <a:xfrm>
            <a:off x="262900" y="1615450"/>
            <a:ext cx="3974700" cy="29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🪣 Configuração do Bucket</a:t>
            </a:r>
            <a:endParaRPr sz="13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Acesse: Object Storage → Criar bucket.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Nome: site-media-&lt;seu-nome&gt;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Região: br-se1 (mesma região da VM).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Visibilidade: Selecionar 'Público'.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Clique em 'Criar bucket'.</a:t>
            </a:r>
            <a:endParaRPr i="0" sz="1200" u="none" cap="none" strike="noStrike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Endpoint S3 da Magalu Cloud: </a:t>
            </a:r>
            <a:r>
              <a:rPr lang="pt-BR" sz="12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https://br-se1.magaluobjects.com</a:t>
            </a: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Anote o nome do bucket para configurar o plugin no WordPress.</a:t>
            </a:r>
            <a:endParaRPr sz="12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Doc: </a:t>
            </a:r>
            <a:r>
              <a:rPr lang="pt-BR" sz="12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https://docs.magalu.cloud/docs/storage/object-storage/quickstart</a:t>
            </a: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35" name="Google Shape;535;p3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36" name="Google Shape;536;p37" title="Slide 3.png"/>
          <p:cNvPicPr preferRelativeResize="0"/>
          <p:nvPr/>
        </p:nvPicPr>
        <p:blipFill rotWithShape="1">
          <a:blip r:embed="rId6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37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38" name="Google Shape;538;p37" title="Logo-9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539" name="Google Shape;539;p37" title="saopauloW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540" name="Google Shape;540;p37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41" name="Google Shape;541;p37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473327" y="1263925"/>
            <a:ext cx="4472249" cy="3506724"/>
          </a:xfrm>
          <a:prstGeom prst="rect">
            <a:avLst/>
          </a:prstGeom>
          <a:noFill/>
          <a:ln>
            <a:noFill/>
          </a:ln>
        </p:spPr>
      </p:pic>
      <p:sp>
        <p:nvSpPr>
          <p:cNvPr id="542" name="Google Shape;542;p37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38"/>
          <p:cNvSpPr txBox="1"/>
          <p:nvPr/>
        </p:nvSpPr>
        <p:spPr>
          <a:xfrm>
            <a:off x="548655" y="723900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VIA CONSOLE WEB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48" name="Google Shape;548;p38"/>
          <p:cNvSpPr txBox="1"/>
          <p:nvPr/>
        </p:nvSpPr>
        <p:spPr>
          <a:xfrm>
            <a:off x="548655" y="929640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Procedimento 1 (Console): Deploy do WordPress via SSH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49" name="Google Shape;549;p38"/>
          <p:cNvSpPr/>
          <p:nvPr/>
        </p:nvSpPr>
        <p:spPr>
          <a:xfrm>
            <a:off x="91450" y="1478275"/>
            <a:ext cx="3497700" cy="34470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6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0" name="Google Shape;550;p38"/>
          <p:cNvSpPr txBox="1"/>
          <p:nvPr/>
        </p:nvSpPr>
        <p:spPr>
          <a:xfrm>
            <a:off x="262909" y="1615440"/>
            <a:ext cx="3497700" cy="322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3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1. Conectar e Instalar Docker</a:t>
            </a:r>
            <a:endParaRPr sz="13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Conectar via SSH na VM</a:t>
            </a:r>
            <a:endParaRPr b="1"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ssh -i ~/.ssh/id_ed25519 ubuntu@&lt;IP_PUBLICO&gt;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i="0" sz="1000" u="none" cap="none" strike="noStrike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Instalar Docker e Compose Plugin</a:t>
            </a:r>
            <a:endParaRPr b="1"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sudo apt update &amp;&amp; sudo apt install -y curl ca-certificates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sudo install -m 0755 -d /etc/apt/keyrings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sudo curl -fsSL https://download.docker.com/linux/ubuntu/gpg \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-o /etc/apt/keyrings/docker.asc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echo "deb [arch=$(dpkg --print-architecture) \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signed-by=/etc/apt/keyrings/docker.asc] \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https://download.docker.com/linux/ubuntu noble stable" \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| sudo tee /etc/apt/sources.list.d/docker.list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sudo apt update &amp;&amp; sudo apt install -y \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docker-ce docker-ce-cli docker-compose-plugin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51" name="Google Shape;55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2" name="Google Shape;552;p38" title="Slide 3.png"/>
          <p:cNvPicPr preferRelativeResize="0"/>
          <p:nvPr/>
        </p:nvPicPr>
        <p:blipFill rotWithShape="1">
          <a:blip r:embed="rId4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553" name="Google Shape;553;p38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54" name="Google Shape;554;p38" title="Logo-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555" name="Google Shape;555;p38" title="saopaulo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p38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57" name="Google Shape;557;p38"/>
          <p:cNvPicPr preferRelativeResize="0"/>
          <p:nvPr/>
        </p:nvPicPr>
        <p:blipFill rotWithShape="1">
          <a:blip r:embed="rId7">
            <a:alphaModFix/>
          </a:blip>
          <a:srcRect b="0" l="0" r="7919" t="0"/>
          <a:stretch/>
        </p:blipFill>
        <p:spPr>
          <a:xfrm>
            <a:off x="3702150" y="1511650"/>
            <a:ext cx="5320218" cy="322740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58" name="Google Shape;558;p38"/>
          <p:cNvCxnSpPr/>
          <p:nvPr/>
        </p:nvCxnSpPr>
        <p:spPr>
          <a:xfrm flipH="1">
            <a:off x="5632400" y="3955850"/>
            <a:ext cx="532800" cy="2358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59" name="Google Shape;559;p38"/>
          <p:cNvCxnSpPr/>
          <p:nvPr/>
        </p:nvCxnSpPr>
        <p:spPr>
          <a:xfrm flipH="1">
            <a:off x="5872150" y="4265450"/>
            <a:ext cx="532800" cy="2358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60" name="Google Shape;560;p38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4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p39"/>
          <p:cNvSpPr txBox="1"/>
          <p:nvPr/>
        </p:nvSpPr>
        <p:spPr>
          <a:xfrm>
            <a:off x="548655" y="723900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VIA CONSOLE WEB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6" name="Google Shape;566;p39"/>
          <p:cNvSpPr txBox="1"/>
          <p:nvPr/>
        </p:nvSpPr>
        <p:spPr>
          <a:xfrm>
            <a:off x="548655" y="929640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Procedimento 1 (Console): Deploy do WordPress via SSH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7" name="Google Shape;567;p39"/>
          <p:cNvSpPr/>
          <p:nvPr/>
        </p:nvSpPr>
        <p:spPr>
          <a:xfrm>
            <a:off x="91575" y="1478275"/>
            <a:ext cx="3375000" cy="34644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68" name="Google Shape;568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69" name="Google Shape;569;p39" title="Slide 3.png"/>
          <p:cNvPicPr preferRelativeResize="0"/>
          <p:nvPr/>
        </p:nvPicPr>
        <p:blipFill rotWithShape="1">
          <a:blip r:embed="rId4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570" name="Google Shape;570;p39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71" name="Google Shape;571;p39" title="Logo-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572" name="Google Shape;572;p39" title="saopaulo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39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4" name="Google Shape;574;p39"/>
          <p:cNvSpPr txBox="1"/>
          <p:nvPr/>
        </p:nvSpPr>
        <p:spPr>
          <a:xfrm>
            <a:off x="263024" y="1615450"/>
            <a:ext cx="3203700" cy="3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1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2. Subir WordPress com Docker Compose</a:t>
            </a:r>
            <a:endParaRPr sz="11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i="0" lang="pt-BR" sz="4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mkdir -p ~/wordpress &amp;&amp; cd ~/wordpress</a:t>
            </a:r>
            <a:endParaRPr sz="7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—--------------------------------------------------</a:t>
            </a:r>
            <a:endParaRPr i="0" sz="400" u="none" cap="none" strike="noStrike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pt-BR" sz="4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Criar docker-compose.yml e iniciar</a:t>
            </a:r>
            <a:endParaRPr b="1" sz="7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cat &gt; docker-compose.yml &lt;&lt;'EOF'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services: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wordpress: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image: wordpress:latest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restart: always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ports: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  - "80:80"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environment: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  WORDPRESS_DB_HOST: db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  WORDPRESS_DB_USER: wordpress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  WORDPRESS_DB_PASSWORD: wordpress_secret_pass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  WORDPRESS_DB_NAME: wordpress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volumes: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  - wordpress_data:/var/www/html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db: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image: mysql:8.0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restart: always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environment: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  MYSQL_DATABASE: wordpress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  MYSQL_USER: wordpress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  MYSQL_PASSWORD: wordpress_secret_pass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  MYSQL_RANDOM_ROOT_PASSWORD: '1'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volumes: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  - db_data:/var/lib/mysql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volumes: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wordpress_data: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db_data:</a:t>
            </a:r>
            <a:endParaRPr sz="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SzPts val="1100"/>
              <a:buNone/>
            </a:pP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EOF</a:t>
            </a:r>
            <a:b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—--------------------------------------------------</a:t>
            </a:r>
            <a:endParaRPr i="0" sz="400" u="none" cap="none" strike="noStrike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4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sudo docker compose up -d</a:t>
            </a:r>
            <a:endParaRPr sz="7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75" name="Google Shape;575;p3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547525" y="1461822"/>
            <a:ext cx="5520276" cy="33126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76" name="Google Shape;576;p39"/>
          <p:cNvCxnSpPr/>
          <p:nvPr/>
        </p:nvCxnSpPr>
        <p:spPr>
          <a:xfrm flipH="1">
            <a:off x="5819750" y="4125725"/>
            <a:ext cx="532800" cy="2358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77" name="Google Shape;577;p39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40"/>
          <p:cNvSpPr txBox="1"/>
          <p:nvPr/>
        </p:nvSpPr>
        <p:spPr>
          <a:xfrm>
            <a:off x="548655" y="723900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VIA CONSOLE WEB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3" name="Google Shape;583;p40"/>
          <p:cNvSpPr txBox="1"/>
          <p:nvPr/>
        </p:nvSpPr>
        <p:spPr>
          <a:xfrm>
            <a:off x="548655" y="929640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Procedimento 1 (Console): </a:t>
            </a:r>
            <a:r>
              <a:rPr b="1" lang="pt-BR" sz="18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Acesso a</a:t>
            </a: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o WordPress via </a:t>
            </a:r>
            <a:r>
              <a:rPr b="1" lang="pt-BR" sz="18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HTTP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4" name="Google Shape;584;p40"/>
          <p:cNvSpPr/>
          <p:nvPr/>
        </p:nvSpPr>
        <p:spPr>
          <a:xfrm>
            <a:off x="91575" y="1478275"/>
            <a:ext cx="3375000" cy="30714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85" name="Google Shape;585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86" name="Google Shape;586;p40" title="Slide 3.png"/>
          <p:cNvPicPr preferRelativeResize="0"/>
          <p:nvPr/>
        </p:nvPicPr>
        <p:blipFill rotWithShape="1">
          <a:blip r:embed="rId4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587" name="Google Shape;587;p40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88" name="Google Shape;588;p40" title="Logo-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589" name="Google Shape;589;p40" title="saopaulo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40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91" name="Google Shape;591;p40"/>
          <p:cNvSpPr txBox="1"/>
          <p:nvPr/>
        </p:nvSpPr>
        <p:spPr>
          <a:xfrm>
            <a:off x="263024" y="1615450"/>
            <a:ext cx="3203700" cy="28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pt-BR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🌐</a:t>
            </a:r>
            <a:r>
              <a:rPr b="1" lang="pt-BR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 Acesso ao Website WordPress</a:t>
            </a:r>
            <a:endParaRPr sz="13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Copie o IPv4 Público da VM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Abra o navegador e digite: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lang="pt-BR" sz="12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http://200.x.x.x</a:t>
            </a:r>
            <a:endParaRPr sz="12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Certifique-se que o Grupo de segurança tenha regra de acesso liberada</a:t>
            </a:r>
            <a:endParaRPr sz="12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 IPv4</a:t>
            </a:r>
            <a:endParaRPr sz="12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 TCP</a:t>
            </a:r>
            <a:endParaRPr sz="12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 80 (http)</a:t>
            </a:r>
            <a:endParaRPr sz="12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 Entrada</a:t>
            </a:r>
            <a:endParaRPr sz="12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 Qualquer IP</a:t>
            </a:r>
            <a:endParaRPr sz="12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100">
              <a:solidFill>
                <a:srgbClr val="0086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592" name="Google Shape;592;p40"/>
          <p:cNvCxnSpPr/>
          <p:nvPr/>
        </p:nvCxnSpPr>
        <p:spPr>
          <a:xfrm flipH="1">
            <a:off x="5819750" y="4125725"/>
            <a:ext cx="532800" cy="2358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593" name="Google Shape;593;p4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741712" y="1359250"/>
            <a:ext cx="5158565" cy="3494825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40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41"/>
          <p:cNvSpPr txBox="1"/>
          <p:nvPr/>
        </p:nvSpPr>
        <p:spPr>
          <a:xfrm>
            <a:off x="548655" y="723900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VIA CONSOLE WEB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00" name="Google Shape;600;p41"/>
          <p:cNvSpPr txBox="1"/>
          <p:nvPr/>
        </p:nvSpPr>
        <p:spPr>
          <a:xfrm>
            <a:off x="548655" y="929640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Procedimento 1 (Console): </a:t>
            </a:r>
            <a:r>
              <a:rPr b="1" lang="pt-BR" sz="18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Exclusão da Virtual Machine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01" name="Google Shape;601;p41"/>
          <p:cNvSpPr/>
          <p:nvPr/>
        </p:nvSpPr>
        <p:spPr>
          <a:xfrm>
            <a:off x="91575" y="1478275"/>
            <a:ext cx="3375000" cy="30714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02" name="Google Shape;602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603" name="Google Shape;603;p41" title="Slide 3.png"/>
          <p:cNvPicPr preferRelativeResize="0"/>
          <p:nvPr/>
        </p:nvPicPr>
        <p:blipFill rotWithShape="1">
          <a:blip r:embed="rId4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41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05" name="Google Shape;605;p41" title="Logo-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606" name="Google Shape;606;p41" title="saopaulo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607" name="Google Shape;607;p41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08" name="Google Shape;608;p41"/>
          <p:cNvSpPr txBox="1"/>
          <p:nvPr/>
        </p:nvSpPr>
        <p:spPr>
          <a:xfrm>
            <a:off x="263024" y="1615450"/>
            <a:ext cx="3203700" cy="27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pt-BR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❌</a:t>
            </a:r>
            <a:r>
              <a:rPr b="1" lang="pt-BR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 Exclusão da Instância</a:t>
            </a:r>
            <a:endParaRPr sz="13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Acesse: Virtual Machine &gt; Instância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No ícone ⚙️ ou </a:t>
            </a:r>
            <a:endParaRPr sz="12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Clique em: "Excluir"</a:t>
            </a:r>
            <a:endParaRPr sz="12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Confirme o nome da instância a excluir</a:t>
            </a:r>
            <a:endParaRPr sz="12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Clique em "Excluir reserva de IP Público"</a:t>
            </a:r>
            <a:endParaRPr sz="12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Clique em: "Excluir instância"</a:t>
            </a:r>
            <a:endParaRPr sz="12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Doc: </a:t>
            </a:r>
            <a:r>
              <a:rPr lang="pt-BR" sz="12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https://docs.magalu.cloud/docs/computing/virtual-machine/how-to/manage-instances/delete-instance</a:t>
            </a: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b="1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09" name="Google Shape;609;p4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540900" y="2132852"/>
            <a:ext cx="126956" cy="23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41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619125" y="1359253"/>
            <a:ext cx="5410374" cy="33851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11" name="Google Shape;611;p41"/>
          <p:cNvCxnSpPr/>
          <p:nvPr/>
        </p:nvCxnSpPr>
        <p:spPr>
          <a:xfrm flipH="1">
            <a:off x="5898375" y="3096925"/>
            <a:ext cx="532800" cy="2358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12" name="Google Shape;612;p41"/>
          <p:cNvCxnSpPr/>
          <p:nvPr/>
        </p:nvCxnSpPr>
        <p:spPr>
          <a:xfrm>
            <a:off x="4628275" y="3257250"/>
            <a:ext cx="575400" cy="3114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13" name="Google Shape;613;p41"/>
          <p:cNvCxnSpPr/>
          <p:nvPr/>
        </p:nvCxnSpPr>
        <p:spPr>
          <a:xfrm flipH="1" rot="10800000">
            <a:off x="5711125" y="4332450"/>
            <a:ext cx="483300" cy="2958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14" name="Google Shape;614;p41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42"/>
          <p:cNvSpPr txBox="1"/>
          <p:nvPr/>
        </p:nvSpPr>
        <p:spPr>
          <a:xfrm>
            <a:off x="548655" y="723900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VIA CONSOLE WEB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0" name="Google Shape;620;p42"/>
          <p:cNvSpPr txBox="1"/>
          <p:nvPr/>
        </p:nvSpPr>
        <p:spPr>
          <a:xfrm>
            <a:off x="548655" y="929640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Procedimento 1 (Console): </a:t>
            </a:r>
            <a:r>
              <a:rPr b="1" lang="pt-BR" sz="18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Exclusão do Bucket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1" name="Google Shape;621;p42"/>
          <p:cNvSpPr/>
          <p:nvPr/>
        </p:nvSpPr>
        <p:spPr>
          <a:xfrm>
            <a:off x="91575" y="1478275"/>
            <a:ext cx="3375000" cy="30714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22" name="Google Shape;622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623" name="Google Shape;623;p42" title="Slide 3.png"/>
          <p:cNvPicPr preferRelativeResize="0"/>
          <p:nvPr/>
        </p:nvPicPr>
        <p:blipFill rotWithShape="1">
          <a:blip r:embed="rId4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42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25" name="Google Shape;625;p42" title="Logo-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626" name="Google Shape;626;p42" title="saopaulo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627" name="Google Shape;627;p42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8" name="Google Shape;628;p42"/>
          <p:cNvSpPr txBox="1"/>
          <p:nvPr/>
        </p:nvSpPr>
        <p:spPr>
          <a:xfrm>
            <a:off x="263024" y="1615450"/>
            <a:ext cx="3203700" cy="25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❌ Exclus</a:t>
            </a:r>
            <a:r>
              <a:rPr b="1" lang="pt-BR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ão</a:t>
            </a:r>
            <a:r>
              <a:rPr b="1" lang="pt-BR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 do Bucket</a:t>
            </a:r>
            <a:endParaRPr sz="13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Acesse: Object Storage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No ícone       ou menu "Ações"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Clique em: "Excluir bucket"</a:t>
            </a:r>
            <a:endParaRPr sz="12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Confirme o nome do bucket a excluir</a:t>
            </a:r>
            <a:endParaRPr sz="12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Clique em: "Excluir"</a:t>
            </a:r>
            <a:endParaRPr sz="12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Doc: </a:t>
            </a:r>
            <a:r>
              <a:rPr lang="pt-BR" sz="12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https://docs.magalu.cloud/docs/storage/object-storage/how-to/buckets/create-list-delete-bucket#apagar-bucket</a:t>
            </a:r>
            <a:r>
              <a:rPr lang="pt-BR" sz="12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b="1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29" name="Google Shape;629;p42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083700" y="2132852"/>
            <a:ext cx="126956" cy="23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0" name="Google Shape;630;p42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619124" y="1359240"/>
            <a:ext cx="5372476" cy="33015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31" name="Google Shape;631;p42"/>
          <p:cNvCxnSpPr/>
          <p:nvPr/>
        </p:nvCxnSpPr>
        <p:spPr>
          <a:xfrm flipH="1">
            <a:off x="6008063" y="3440650"/>
            <a:ext cx="594600" cy="2589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32" name="Google Shape;632;p42"/>
          <p:cNvCxnSpPr/>
          <p:nvPr/>
        </p:nvCxnSpPr>
        <p:spPr>
          <a:xfrm flipH="1">
            <a:off x="6972588" y="4047150"/>
            <a:ext cx="594600" cy="2589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33" name="Google Shape;633;p42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43"/>
          <p:cNvSpPr txBox="1"/>
          <p:nvPr/>
        </p:nvSpPr>
        <p:spPr>
          <a:xfrm>
            <a:off x="3032782" y="1461488"/>
            <a:ext cx="7544100" cy="17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000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EXECUÇÃO</a:t>
            </a:r>
            <a:endParaRPr b="1" i="0" sz="1000" u="none" cap="none" strike="noStrike">
              <a:solidFill>
                <a:srgbClr val="0086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0086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SzPts val="1100"/>
              <a:buNone/>
            </a:pPr>
            <a:r>
              <a:rPr b="1" lang="pt-BR" sz="31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Método 2: </a:t>
            </a:r>
            <a:endParaRPr b="1" sz="31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SzPts val="1100"/>
              <a:buNone/>
            </a:pPr>
            <a:r>
              <a:rPr b="1" lang="pt-BR" sz="31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MGC CLI</a:t>
            </a:r>
            <a:endParaRPr b="1" sz="31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39" name="Google Shape;639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640" name="Google Shape;640;p43" title="Slide 3.png"/>
          <p:cNvPicPr preferRelativeResize="0"/>
          <p:nvPr/>
        </p:nvPicPr>
        <p:blipFill rotWithShape="1">
          <a:blip r:embed="rId4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641" name="Google Shape;641;p43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42" name="Google Shape;642;p43" title="Logo-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643" name="Google Shape;643;p43" title="saopaulo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644" name="Google Shape;644;p43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45" name="Google Shape;645;p43"/>
          <p:cNvSpPr/>
          <p:nvPr/>
        </p:nvSpPr>
        <p:spPr>
          <a:xfrm>
            <a:off x="2758455" y="1461488"/>
            <a:ext cx="102900" cy="2194800"/>
          </a:xfrm>
          <a:prstGeom prst="rect">
            <a:avLst/>
          </a:prstGeom>
          <a:solidFill>
            <a:srgbClr val="0086F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43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p44"/>
          <p:cNvSpPr txBox="1"/>
          <p:nvPr/>
        </p:nvSpPr>
        <p:spPr>
          <a:xfrm>
            <a:off x="548655" y="723900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VIA MGC CLI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52" name="Google Shape;652;p44"/>
          <p:cNvSpPr txBox="1"/>
          <p:nvPr/>
        </p:nvSpPr>
        <p:spPr>
          <a:xfrm>
            <a:off x="548655" y="929640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Procedimento 2 (CLI): Autenticação e Configurações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53" name="Google Shape;653;p44"/>
          <p:cNvSpPr/>
          <p:nvPr/>
        </p:nvSpPr>
        <p:spPr>
          <a:xfrm>
            <a:off x="91455" y="1478280"/>
            <a:ext cx="3840600" cy="32919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54" name="Google Shape;654;p44"/>
          <p:cNvSpPr txBox="1"/>
          <p:nvPr/>
        </p:nvSpPr>
        <p:spPr>
          <a:xfrm>
            <a:off x="262909" y="1615440"/>
            <a:ext cx="3497700" cy="307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3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1. Autenticar CLI e Configurar API Key</a:t>
            </a:r>
            <a:endParaRPr sz="13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Login via navegador no ID Magalu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mgc auth login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i="0" sz="1000" u="none" cap="none" strike="noStrike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Confirmar o tenant ativo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mgc auth tenant current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i="0" sz="1000" u="none" cap="none" strike="noStrike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Criar API Key para o Object Storage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mgc object-storage api-key create workshop-key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i="0" sz="1000" u="none" cap="none" strike="noStrike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Configurar a chave como padrão no CLI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mgc object-storage api-key set &lt;UUID_DA_KEY&gt;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mgc object-storage api-key current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i="0" sz="1000" u="none" cap="none" strike="noStrike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Doc: </a:t>
            </a:r>
            <a:r>
              <a:rPr lang="pt-BR" sz="10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https://docs.magalu.cloud/docs/storage/object-storage/compatible-tools/mgc-cli-compatibility</a:t>
            </a:r>
            <a:r>
              <a:rPr lang="pt-BR" sz="1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55" name="Google Shape;655;p4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656" name="Google Shape;656;p44" title="Slide 3.png"/>
          <p:cNvPicPr preferRelativeResize="0"/>
          <p:nvPr/>
        </p:nvPicPr>
        <p:blipFill rotWithShape="1">
          <a:blip r:embed="rId5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657" name="Google Shape;657;p44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58" name="Google Shape;658;p44" title="Logo-9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659" name="Google Shape;659;p44" title="saopauloW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p44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61" name="Google Shape;661;p44" title="Captura de Tela 2026-09-20 às 16.54.54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068705" y="1718290"/>
            <a:ext cx="4907145" cy="2908671"/>
          </a:xfrm>
          <a:prstGeom prst="rect">
            <a:avLst/>
          </a:prstGeom>
          <a:noFill/>
          <a:ln>
            <a:noFill/>
          </a:ln>
        </p:spPr>
      </p:pic>
      <p:sp>
        <p:nvSpPr>
          <p:cNvPr id="662" name="Google Shape;662;p44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6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45"/>
          <p:cNvSpPr txBox="1"/>
          <p:nvPr/>
        </p:nvSpPr>
        <p:spPr>
          <a:xfrm>
            <a:off x="548655" y="723900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VIA MGC CLI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8" name="Google Shape;668;p45"/>
          <p:cNvSpPr txBox="1"/>
          <p:nvPr/>
        </p:nvSpPr>
        <p:spPr>
          <a:xfrm>
            <a:off x="548655" y="929640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Procedimento 2 (CLI): Autenticação e Configurações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9" name="Google Shape;669;p45"/>
          <p:cNvSpPr/>
          <p:nvPr/>
        </p:nvSpPr>
        <p:spPr>
          <a:xfrm>
            <a:off x="91574" y="1478275"/>
            <a:ext cx="3618300" cy="32919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0" name="Google Shape;670;p45"/>
          <p:cNvSpPr txBox="1"/>
          <p:nvPr/>
        </p:nvSpPr>
        <p:spPr>
          <a:xfrm>
            <a:off x="263025" y="1615450"/>
            <a:ext cx="3312900" cy="307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3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2. Registrar Chave SSH no Perfil</a:t>
            </a:r>
            <a:endParaRPr sz="13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Gerar chave local (se ainda não possuir)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ssh-keygen -t ed25519 \</a:t>
            </a:r>
            <a:endParaRPr i="0" sz="1000" u="none" cap="none" strike="noStrike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-f ~/.ssh/</a:t>
            </a:r>
            <a:r>
              <a:rPr lang="pt-BR" sz="1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sshkey-workshop-mgc</a:t>
            </a: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\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-N "" -C "workshop-mgc"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i="0" sz="1000" u="none" cap="none" strike="noStrike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Registrar a chave pública no perfil da MGC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mgc profile ssh-keys create \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--name site-key-&lt;seu-nome&gt; \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--key "$(cat ~/.ssh/</a:t>
            </a:r>
            <a:r>
              <a:rPr lang="pt-BR" sz="1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sshkey-workshop-mgc</a:t>
            </a: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.pub)"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i="0" sz="1000" u="none" cap="none" strike="noStrike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Listar chaves registradas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mgc profile ssh-keys list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i="0" sz="1000" u="none" cap="none" strike="noStrike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Doc:</a:t>
            </a:r>
            <a:r>
              <a:rPr lang="pt-BR" sz="1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10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https://docs.magalu.cloud/docs/computing/ssh-keys/how-to/create</a:t>
            </a:r>
            <a:r>
              <a:rPr lang="pt-BR" sz="1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71" name="Google Shape;671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672" name="Google Shape;672;p45" title="Slide 3.png"/>
          <p:cNvPicPr preferRelativeResize="0"/>
          <p:nvPr/>
        </p:nvPicPr>
        <p:blipFill rotWithShape="1">
          <a:blip r:embed="rId5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673" name="Google Shape;673;p45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74" name="Google Shape;674;p45" title="Logo-9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675" name="Google Shape;675;p45" title="saopauloW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676" name="Google Shape;676;p45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77" name="Google Shape;677;p4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832500" y="1622726"/>
            <a:ext cx="5182727" cy="2988700"/>
          </a:xfrm>
          <a:prstGeom prst="rect">
            <a:avLst/>
          </a:prstGeom>
          <a:noFill/>
          <a:ln>
            <a:noFill/>
          </a:ln>
        </p:spPr>
      </p:pic>
      <p:sp>
        <p:nvSpPr>
          <p:cNvPr id="678" name="Google Shape;678;p45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82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46"/>
          <p:cNvSpPr txBox="1"/>
          <p:nvPr/>
        </p:nvSpPr>
        <p:spPr>
          <a:xfrm>
            <a:off x="548655" y="723900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VIA MGC CLI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4" name="Google Shape;684;p46"/>
          <p:cNvSpPr txBox="1"/>
          <p:nvPr/>
        </p:nvSpPr>
        <p:spPr>
          <a:xfrm>
            <a:off x="548655" y="929640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Procedimento 2 (CLI): Criar Máquina Virtual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5" name="Google Shape;685;p46"/>
          <p:cNvSpPr/>
          <p:nvPr/>
        </p:nvSpPr>
        <p:spPr>
          <a:xfrm>
            <a:off x="91450" y="1478275"/>
            <a:ext cx="3965100" cy="34413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6" name="Google Shape;686;p46"/>
          <p:cNvSpPr txBox="1"/>
          <p:nvPr/>
        </p:nvSpPr>
        <p:spPr>
          <a:xfrm>
            <a:off x="262900" y="1615450"/>
            <a:ext cx="3793500" cy="330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Comandos CLI para Criação e Consulta da VM</a:t>
            </a:r>
            <a:endParaRPr sz="12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i="0" lang="pt-BR" sz="9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1. Criar a VM com IP público na região br-se1</a:t>
            </a:r>
            <a:endParaRPr sz="12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9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mgc virtual-machine instances create \</a:t>
            </a:r>
            <a:endParaRPr sz="12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9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--name site-web-01 \</a:t>
            </a:r>
            <a:endParaRPr sz="12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9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--machine-type.name BV1-1-10 \</a:t>
            </a:r>
            <a:endParaRPr sz="12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9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--image.name="cloud-ubuntu-24.04 LTS" \</a:t>
            </a:r>
            <a:endParaRPr sz="12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9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--ssh-key-name </a:t>
            </a:r>
            <a:r>
              <a:rPr lang="pt-BR" sz="9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site-key-&lt;seu-nome&gt;</a:t>
            </a:r>
            <a:r>
              <a:rPr i="0" lang="pt-BR" sz="9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\</a:t>
            </a:r>
            <a:endParaRPr sz="12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9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--network.associate-public-ip true \</a:t>
            </a:r>
            <a:endParaRPr sz="12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9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--region br-se1</a:t>
            </a:r>
            <a:r>
              <a:rPr lang="pt-BR" sz="9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\</a:t>
            </a:r>
            <a:endParaRPr sz="9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--availability-zone=br-se1-a</a:t>
            </a:r>
            <a:endParaRPr sz="9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i="0" sz="900" u="none" cap="none" strike="noStrike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9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2. Listar instâncias e copiar o IP Público associado</a:t>
            </a:r>
            <a:endParaRPr sz="12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9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mgc virtual-machine instances list</a:t>
            </a:r>
            <a:endParaRPr sz="12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i="0" sz="900" u="none" cap="none" strike="noStrike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9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3. Consultar detalhes da instância criada</a:t>
            </a:r>
            <a:endParaRPr sz="12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9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mgc virtual-machine instances get &lt;ID_DA_INSTANCIA&gt;</a:t>
            </a:r>
            <a:endParaRPr sz="12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i="0" sz="900" u="none" cap="none" strike="noStrike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9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Doc:</a:t>
            </a:r>
            <a:r>
              <a:rPr lang="pt-BR" sz="9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9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https://docs.magalu.cloud/docs/computing/virtual-machine/how-to/create-instances/create-instance</a:t>
            </a:r>
            <a:r>
              <a:rPr lang="pt-BR" sz="9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2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87" name="Google Shape;687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688" name="Google Shape;688;p46" title="Slide 3.png"/>
          <p:cNvPicPr preferRelativeResize="0"/>
          <p:nvPr/>
        </p:nvPicPr>
        <p:blipFill rotWithShape="1">
          <a:blip r:embed="rId5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689" name="Google Shape;689;p46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90" name="Google Shape;690;p46" title="Logo-9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691" name="Google Shape;691;p46" title="saopauloW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692" name="Google Shape;692;p46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93" name="Google Shape;693;p46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216825" y="1644040"/>
            <a:ext cx="4782651" cy="3073828"/>
          </a:xfrm>
          <a:prstGeom prst="rect">
            <a:avLst/>
          </a:prstGeom>
          <a:noFill/>
          <a:ln>
            <a:noFill/>
          </a:ln>
        </p:spPr>
      </p:pic>
      <p:sp>
        <p:nvSpPr>
          <p:cNvPr id="694" name="Google Shape;694;p46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47"/>
          <p:cNvSpPr txBox="1"/>
          <p:nvPr/>
        </p:nvSpPr>
        <p:spPr>
          <a:xfrm>
            <a:off x="548655" y="723900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VIA MGC CLI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00" name="Google Shape;700;p47"/>
          <p:cNvSpPr/>
          <p:nvPr/>
        </p:nvSpPr>
        <p:spPr>
          <a:xfrm>
            <a:off x="108550" y="1471125"/>
            <a:ext cx="3853500" cy="34281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01" name="Google Shape;701;p47"/>
          <p:cNvSpPr txBox="1"/>
          <p:nvPr/>
        </p:nvSpPr>
        <p:spPr>
          <a:xfrm>
            <a:off x="548655" y="929640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Procedimento 2 (CLI): Criar Bucket no Object Storage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02" name="Google Shape;702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703" name="Google Shape;703;p47" title="Slide 3.png"/>
          <p:cNvPicPr preferRelativeResize="0"/>
          <p:nvPr/>
        </p:nvPicPr>
        <p:blipFill rotWithShape="1">
          <a:blip r:embed="rId4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704" name="Google Shape;704;p47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05" name="Google Shape;705;p47" title="Logo-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6" name="Google Shape;706;p47" title="saopaulo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707" name="Google Shape;707;p47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08" name="Google Shape;708;p47"/>
          <p:cNvSpPr txBox="1"/>
          <p:nvPr/>
        </p:nvSpPr>
        <p:spPr>
          <a:xfrm>
            <a:off x="262900" y="1615450"/>
            <a:ext cx="3612600" cy="31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1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Comandos CLI para Criação e Configuração de Leitura Pública do Bucket</a:t>
            </a:r>
            <a:endParaRPr sz="11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i="0" lang="pt-BR" sz="7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1. Criar o bucket na região Sudeste (br-se1)</a:t>
            </a:r>
            <a:endParaRPr sz="1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7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mgc object-storage buckets create site-media-&lt;seu-nome&gt; \</a:t>
            </a:r>
            <a:endParaRPr sz="1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7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--public-read \</a:t>
            </a:r>
            <a:endParaRPr sz="1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7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--region br-se1</a:t>
            </a:r>
            <a:endParaRPr sz="7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7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2. Definir a política de leitura pública (s3:GetObject) para entrega de mídias</a:t>
            </a:r>
            <a:endParaRPr sz="1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7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mgc object-storage buckets policy set \</a:t>
            </a:r>
            <a:endParaRPr sz="1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7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--dst site-media-&lt;seu-nome&gt; \</a:t>
            </a:r>
            <a:endParaRPr sz="1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7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--policy '{</a:t>
            </a:r>
            <a:endParaRPr sz="1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7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"Version": "2012-10-17",</a:t>
            </a:r>
            <a:endParaRPr sz="1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7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"Statement": [{</a:t>
            </a:r>
            <a:endParaRPr sz="1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7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  "Effect": "Allow",</a:t>
            </a:r>
            <a:endParaRPr sz="1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7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  "Principal": "*",</a:t>
            </a:r>
            <a:endParaRPr sz="1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7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  "Action": "s3:GetObject",</a:t>
            </a:r>
            <a:endParaRPr sz="1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7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  "Resource": "site-media-&lt;seu-nome&gt;/*"</a:t>
            </a:r>
            <a:endParaRPr sz="1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7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}]</a:t>
            </a:r>
            <a:endParaRPr sz="1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7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}'</a:t>
            </a:r>
            <a:endParaRPr sz="1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i="0" sz="700" u="none" cap="none" strike="noStrike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7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Doc: </a:t>
            </a:r>
            <a:r>
              <a:rPr lang="pt-BR" sz="7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https://docs.magalu.cloud/docs/storage/object-storage/how-to/buckets/create-list-delete-bucket</a:t>
            </a:r>
            <a:r>
              <a:rPr lang="pt-BR" sz="7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0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09" name="Google Shape;709;p4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114450" y="1664040"/>
            <a:ext cx="4877151" cy="2826678"/>
          </a:xfrm>
          <a:prstGeom prst="rect">
            <a:avLst/>
          </a:prstGeom>
          <a:noFill/>
          <a:ln>
            <a:noFill/>
          </a:ln>
        </p:spPr>
      </p:pic>
      <p:sp>
        <p:nvSpPr>
          <p:cNvPr id="710" name="Google Shape;710;p47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14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p48"/>
          <p:cNvSpPr txBox="1"/>
          <p:nvPr/>
        </p:nvSpPr>
        <p:spPr>
          <a:xfrm>
            <a:off x="548655" y="723900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VIA MGC CLI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16" name="Google Shape;716;p48"/>
          <p:cNvSpPr txBox="1"/>
          <p:nvPr/>
        </p:nvSpPr>
        <p:spPr>
          <a:xfrm>
            <a:off x="548655" y="929640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Procedimento 2 (CLI): </a:t>
            </a:r>
            <a:r>
              <a:rPr b="1" lang="pt-BR" sz="18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Excluir</a:t>
            </a: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Máquina Virtual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17" name="Google Shape;717;p48"/>
          <p:cNvSpPr/>
          <p:nvPr/>
        </p:nvSpPr>
        <p:spPr>
          <a:xfrm>
            <a:off x="91450" y="1478275"/>
            <a:ext cx="3965100" cy="31848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18" name="Google Shape;718;p48"/>
          <p:cNvSpPr txBox="1"/>
          <p:nvPr/>
        </p:nvSpPr>
        <p:spPr>
          <a:xfrm>
            <a:off x="186700" y="1615450"/>
            <a:ext cx="3793500" cy="25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❌ </a:t>
            </a:r>
            <a:r>
              <a:rPr b="1" i="0" lang="pt-BR" sz="13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Comando CLI para Exclus</a:t>
            </a:r>
            <a:r>
              <a:rPr b="1" lang="pt-BR" sz="13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ão</a:t>
            </a:r>
            <a:r>
              <a:rPr b="1" i="0" lang="pt-BR" sz="13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 da VM</a:t>
            </a:r>
            <a:endParaRPr sz="13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1. </a:t>
            </a:r>
            <a:r>
              <a:rPr lang="pt-BR" sz="1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Listar as</a:t>
            </a: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VMs na região br-se1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pt-BR" sz="1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mgc virtual-machine instances list </a:t>
            </a:r>
            <a:r>
              <a:rPr lang="pt-BR" sz="1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--region br-se1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2. </a:t>
            </a:r>
            <a:r>
              <a:rPr lang="pt-BR" sz="1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Identifique o ID da VM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pt-BR" sz="1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(é o campo .id que fica na raiz/root level)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i="0" sz="1000" u="none" cap="none" strike="noStrike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3. </a:t>
            </a:r>
            <a:r>
              <a:rPr lang="pt-BR" sz="1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Exclua a instância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pt-BR" sz="1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mgc virtual-machine instances delete</a:t>
            </a: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&lt;ID_DA_INSTANCIA&gt;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i="0" sz="1000" u="none" cap="none" strike="noStrike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Doc:</a:t>
            </a:r>
            <a:r>
              <a:rPr lang="pt-BR" sz="1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10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https://docs.magalu.cloud/docs/computing/virtual-machine/how-to/create-instances/create-instance</a:t>
            </a:r>
            <a:r>
              <a:rPr lang="pt-BR" sz="1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19" name="Google Shape;719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720" name="Google Shape;720;p48" title="Slide 3.png"/>
          <p:cNvPicPr preferRelativeResize="0"/>
          <p:nvPr/>
        </p:nvPicPr>
        <p:blipFill rotWithShape="1">
          <a:blip r:embed="rId5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721" name="Google Shape;721;p48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22" name="Google Shape;722;p48" title="Logo-9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723" name="Google Shape;723;p48" title="saopauloW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724" name="Google Shape;724;p48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25" name="Google Shape;725;p48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208950" y="1548456"/>
            <a:ext cx="4782650" cy="303369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26" name="Google Shape;726;p48"/>
          <p:cNvCxnSpPr/>
          <p:nvPr/>
        </p:nvCxnSpPr>
        <p:spPr>
          <a:xfrm flipH="1">
            <a:off x="6160463" y="1771000"/>
            <a:ext cx="594600" cy="2589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27" name="Google Shape;727;p48"/>
          <p:cNvCxnSpPr/>
          <p:nvPr/>
        </p:nvCxnSpPr>
        <p:spPr>
          <a:xfrm flipH="1">
            <a:off x="7576756" y="3928230"/>
            <a:ext cx="594600" cy="2589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28" name="Google Shape;728;p48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49"/>
          <p:cNvSpPr txBox="1"/>
          <p:nvPr/>
        </p:nvSpPr>
        <p:spPr>
          <a:xfrm>
            <a:off x="548655" y="723900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VIA MGC CLI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34" name="Google Shape;734;p49"/>
          <p:cNvSpPr/>
          <p:nvPr/>
        </p:nvSpPr>
        <p:spPr>
          <a:xfrm>
            <a:off x="108550" y="1471125"/>
            <a:ext cx="3853500" cy="34281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35" name="Google Shape;735;p49"/>
          <p:cNvSpPr txBox="1"/>
          <p:nvPr/>
        </p:nvSpPr>
        <p:spPr>
          <a:xfrm>
            <a:off x="548655" y="929640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Procedimento 2 (CLI): </a:t>
            </a:r>
            <a:r>
              <a:rPr b="1" lang="pt-BR" sz="18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Excluir</a:t>
            </a: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Bucket no Object Storage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36" name="Google Shape;736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737" name="Google Shape;737;p49" title="Slide 3.png"/>
          <p:cNvPicPr preferRelativeResize="0"/>
          <p:nvPr/>
        </p:nvPicPr>
        <p:blipFill rotWithShape="1">
          <a:blip r:embed="rId4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738" name="Google Shape;738;p49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39" name="Google Shape;739;p49" title="Logo-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740" name="Google Shape;740;p49" title="saopaulo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741" name="Google Shape;741;p49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42" name="Google Shape;742;p49"/>
          <p:cNvSpPr txBox="1"/>
          <p:nvPr/>
        </p:nvSpPr>
        <p:spPr>
          <a:xfrm>
            <a:off x="262900" y="1615450"/>
            <a:ext cx="3612600" cy="277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❌</a:t>
            </a:r>
            <a:r>
              <a:rPr b="1" lang="pt-BR" sz="16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i="0" lang="pt-BR" sz="13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Comando CLI para </a:t>
            </a:r>
            <a:r>
              <a:rPr b="1" lang="pt-BR" sz="13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exclusão </a:t>
            </a:r>
            <a:r>
              <a:rPr b="1" i="0" lang="pt-BR" sz="13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do Bucket</a:t>
            </a:r>
            <a:endParaRPr sz="13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1. Listar os buckets na região Sudeste (br-se1)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pt-BR" sz="1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mgc object-storage buckets list --region br-se1</a:t>
            </a:r>
            <a:endParaRPr sz="10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2. Identifique o nome do bucket</a:t>
            </a:r>
            <a:endParaRPr sz="10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(é o campo "Name" que fica na raiz/root level)</a:t>
            </a:r>
            <a:endParaRPr sz="10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3. Exclua o bucket</a:t>
            </a:r>
            <a:endParaRPr sz="10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SzPts val="1100"/>
              <a:buNone/>
            </a:pPr>
            <a:r>
              <a:rPr lang="pt-BR" sz="1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mgc object-storage buckets delete site-media-&lt;seu-nome&gt;</a:t>
            </a:r>
            <a:endParaRPr sz="10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i="0" sz="1000" u="none" cap="none" strike="noStrike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Doc: </a:t>
            </a:r>
            <a:r>
              <a:rPr lang="pt-BR" sz="10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https://docs.magalu.cloud/docs/storage/object-storage/how-to/buckets/create-list-delete-bucket</a:t>
            </a:r>
            <a:r>
              <a:rPr lang="pt-BR" sz="1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43" name="Google Shape;743;p49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114450" y="1892640"/>
            <a:ext cx="4877149" cy="243857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44" name="Google Shape;744;p49"/>
          <p:cNvCxnSpPr/>
          <p:nvPr/>
        </p:nvCxnSpPr>
        <p:spPr>
          <a:xfrm rot="10800000">
            <a:off x="5662150" y="2410950"/>
            <a:ext cx="584100" cy="2829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45" name="Google Shape;745;p49"/>
          <p:cNvCxnSpPr/>
          <p:nvPr/>
        </p:nvCxnSpPr>
        <p:spPr>
          <a:xfrm flipH="1">
            <a:off x="7040088" y="3352000"/>
            <a:ext cx="594600" cy="2589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46" name="Google Shape;746;p49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50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p50"/>
          <p:cNvSpPr txBox="1"/>
          <p:nvPr/>
        </p:nvSpPr>
        <p:spPr>
          <a:xfrm>
            <a:off x="2270782" y="1461488"/>
            <a:ext cx="7544100" cy="34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000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EXECUÇÃO</a:t>
            </a:r>
            <a:endParaRPr b="1" i="0" sz="1000" u="none" cap="none" strike="noStrike">
              <a:solidFill>
                <a:srgbClr val="0086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0086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SzPts val="1100"/>
              <a:buNone/>
            </a:pPr>
            <a:r>
              <a:rPr b="1" lang="pt-BR" sz="31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Método 3: </a:t>
            </a:r>
            <a:endParaRPr b="1" sz="31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SzPts val="1100"/>
              <a:buNone/>
            </a:pPr>
            <a:r>
              <a:rPr b="1" lang="pt-BR" sz="31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(IaC): Automação com </a:t>
            </a:r>
            <a:endParaRPr b="1" sz="31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pt-BR" sz="31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Terraform e Ansible</a:t>
            </a:r>
            <a:endParaRPr b="1" sz="31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31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1" sz="31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52" name="Google Shape;752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753" name="Google Shape;753;p50" title="Slide 3.png"/>
          <p:cNvPicPr preferRelativeResize="0"/>
          <p:nvPr/>
        </p:nvPicPr>
        <p:blipFill rotWithShape="1">
          <a:blip r:embed="rId4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754" name="Google Shape;754;p50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55" name="Google Shape;755;p50" title="Logo-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756" name="Google Shape;756;p50" title="saopaulo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757" name="Google Shape;757;p50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58" name="Google Shape;758;p50"/>
          <p:cNvSpPr/>
          <p:nvPr/>
        </p:nvSpPr>
        <p:spPr>
          <a:xfrm>
            <a:off x="1996455" y="1461488"/>
            <a:ext cx="102900" cy="2194800"/>
          </a:xfrm>
          <a:prstGeom prst="rect">
            <a:avLst/>
          </a:prstGeom>
          <a:solidFill>
            <a:srgbClr val="0086F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" name="Google Shape;759;p50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63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p51"/>
          <p:cNvSpPr txBox="1"/>
          <p:nvPr/>
        </p:nvSpPr>
        <p:spPr>
          <a:xfrm>
            <a:off x="548655" y="723900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TERRAFORM + ANSIBLE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65" name="Google Shape;765;p51"/>
          <p:cNvSpPr txBox="1"/>
          <p:nvPr/>
        </p:nvSpPr>
        <p:spPr>
          <a:xfrm>
            <a:off x="548655" y="929640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Procedimento 3 (IaC): Automação com Terraform e Ansible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66" name="Google Shape;766;p51"/>
          <p:cNvSpPr/>
          <p:nvPr/>
        </p:nvSpPr>
        <p:spPr>
          <a:xfrm>
            <a:off x="320050" y="1478275"/>
            <a:ext cx="3840600" cy="33975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67" name="Google Shape;767;p51"/>
          <p:cNvSpPr txBox="1"/>
          <p:nvPr/>
        </p:nvSpPr>
        <p:spPr>
          <a:xfrm>
            <a:off x="491509" y="1615440"/>
            <a:ext cx="3497700" cy="308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🏗️ O que o Terraform Provisiona?</a:t>
            </a:r>
            <a:endParaRPr sz="11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Chave SSH (mgc_ssh_keys): registra a chave pública na nuvem.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VM (mgc_virtual_machine_instances): aloca a VM com IP público.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Bucket (mgc_object_storage_buckets): cria o repositório de mídias.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ACL S3 (aws_s3_bucket_acl): aplica permissão public-read via endpoint S3.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Outputs: exibe IP público, comando SSH e URL do site no terminal.</a:t>
            </a:r>
            <a:endParaRPr i="0" sz="1000" u="none" cap="none" strike="noStrike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Doc: </a:t>
            </a:r>
            <a:r>
              <a:rPr lang="pt-BR" sz="10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https://docs.magalu.cloud/docs/storage/object-storage/compatible-tools/terraform-configuration</a:t>
            </a:r>
            <a:r>
              <a:rPr lang="pt-BR" sz="1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68" name="Google Shape;768;p51"/>
          <p:cNvSpPr/>
          <p:nvPr/>
        </p:nvSpPr>
        <p:spPr>
          <a:xfrm>
            <a:off x="4403100" y="1478275"/>
            <a:ext cx="4169700" cy="33975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69" name="Google Shape;769;p51"/>
          <p:cNvSpPr txBox="1"/>
          <p:nvPr/>
        </p:nvSpPr>
        <p:spPr>
          <a:xfrm>
            <a:off x="4607875" y="1615450"/>
            <a:ext cx="3793500" cy="240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🤖 O que o Ansible Executa Automaticamente?</a:t>
            </a:r>
            <a:endParaRPr sz="11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Trigger local-exec é acionado logo após a VM ficar disponível.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Gera o inventário hosts.ini dinamicamente com o IP da VM.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Aguarda o daemon SSH e o boot da VM (cloud-init status --wait).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Instala o Docker Engine e o plugin Docker Compose.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Copia o docker-compose.yml e inicia os containers do WordPress.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Zero intervenção manual necessária!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70" name="Google Shape;770;p5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771" name="Google Shape;771;p51" title="Slide 3.png"/>
          <p:cNvPicPr preferRelativeResize="0"/>
          <p:nvPr/>
        </p:nvPicPr>
        <p:blipFill rotWithShape="1">
          <a:blip r:embed="rId5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772" name="Google Shape;772;p51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73" name="Google Shape;773;p51" title="Logo-9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774" name="Google Shape;774;p51" title="saopauloW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775" name="Google Shape;775;p51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76" name="Google Shape;776;p51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80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781;p52"/>
          <p:cNvSpPr txBox="1"/>
          <p:nvPr/>
        </p:nvSpPr>
        <p:spPr>
          <a:xfrm>
            <a:off x="548655" y="723900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TERRAFORM + ANSIBLE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82" name="Google Shape;782;p52"/>
          <p:cNvSpPr txBox="1"/>
          <p:nvPr/>
        </p:nvSpPr>
        <p:spPr>
          <a:xfrm>
            <a:off x="548655" y="929640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Procedimento 3 (IaC): </a:t>
            </a:r>
            <a:r>
              <a:rPr b="1" lang="pt-BR" sz="18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Criação da API Key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83" name="Google Shape;783;p52"/>
          <p:cNvSpPr/>
          <p:nvPr/>
        </p:nvSpPr>
        <p:spPr>
          <a:xfrm>
            <a:off x="320050" y="1478275"/>
            <a:ext cx="3840600" cy="30192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84" name="Google Shape;784;p52"/>
          <p:cNvSpPr txBox="1"/>
          <p:nvPr/>
        </p:nvSpPr>
        <p:spPr>
          <a:xfrm>
            <a:off x="491509" y="1615440"/>
            <a:ext cx="3497700" cy="255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🔑</a:t>
            </a:r>
            <a:r>
              <a:rPr b="1" i="0" lang="pt-BR" sz="12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lang="pt-BR" sz="12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Criar a API Key</a:t>
            </a:r>
            <a:endParaRPr sz="11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pt-BR" sz="1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mgc auth api-key create \</a:t>
            </a:r>
            <a:br>
              <a:rPr lang="pt-BR" sz="1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--name workshop-key-&lt;seu-nome&gt; </a:t>
            </a:r>
            <a:endParaRPr sz="10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lang="pt-BR" sz="1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Em "Select scopes", clique com a seta p/ direita → (dessa forma todos os scopes serão habilitados)</a:t>
            </a:r>
            <a:endParaRPr sz="10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pt-BR" sz="1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Por fim, clique em "Tab" para criar a api-key</a:t>
            </a:r>
            <a:endParaRPr sz="10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t/>
            </a:r>
            <a:endParaRPr sz="10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Doc: </a:t>
            </a:r>
            <a:r>
              <a:rPr lang="pt-BR" sz="10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https://docs.magalu.cloud/docs/devops-tools/api-keys/how-to/other-products/create-api-key</a:t>
            </a:r>
            <a:r>
              <a:rPr lang="pt-BR" sz="1000" u="non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85" name="Google Shape;785;p5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786" name="Google Shape;786;p52" title="Slide 3.png"/>
          <p:cNvPicPr preferRelativeResize="0"/>
          <p:nvPr/>
        </p:nvPicPr>
        <p:blipFill rotWithShape="1">
          <a:blip r:embed="rId5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787" name="Google Shape;787;p52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88" name="Google Shape;788;p52" title="Logo-9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789" name="Google Shape;789;p52" title="saopauloW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790" name="Google Shape;790;p52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91" name="Google Shape;791;p52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  <p:pic>
        <p:nvPicPr>
          <p:cNvPr id="792" name="Google Shape;792;p52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313050" y="1511640"/>
            <a:ext cx="4678551" cy="1973228"/>
          </a:xfrm>
          <a:prstGeom prst="rect">
            <a:avLst/>
          </a:prstGeom>
          <a:noFill/>
          <a:ln>
            <a:noFill/>
          </a:ln>
        </p:spPr>
      </p:pic>
      <p:pic>
        <p:nvPicPr>
          <p:cNvPr id="793" name="Google Shape;793;p52"/>
          <p:cNvPicPr preferRelativeResize="0"/>
          <p:nvPr/>
        </p:nvPicPr>
        <p:blipFill rotWithShape="1">
          <a:blip r:embed="rId9">
            <a:alphaModFix/>
          </a:blip>
          <a:srcRect b="0" l="0" r="6655" t="0"/>
          <a:stretch/>
        </p:blipFill>
        <p:spPr>
          <a:xfrm>
            <a:off x="4313050" y="3595150"/>
            <a:ext cx="4707976" cy="8010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94" name="Google Shape;794;p52"/>
          <p:cNvCxnSpPr/>
          <p:nvPr/>
        </p:nvCxnSpPr>
        <p:spPr>
          <a:xfrm flipH="1">
            <a:off x="6819925" y="2943375"/>
            <a:ext cx="513300" cy="3474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95" name="Google Shape;795;p52"/>
          <p:cNvCxnSpPr/>
          <p:nvPr/>
        </p:nvCxnSpPr>
        <p:spPr>
          <a:xfrm flipH="1">
            <a:off x="5641150" y="2943375"/>
            <a:ext cx="513300" cy="3474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99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p53"/>
          <p:cNvSpPr txBox="1"/>
          <p:nvPr/>
        </p:nvSpPr>
        <p:spPr>
          <a:xfrm>
            <a:off x="548655" y="723900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TERRAFORM + ANSIBLE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01" name="Google Shape;801;p53"/>
          <p:cNvSpPr txBox="1"/>
          <p:nvPr/>
        </p:nvSpPr>
        <p:spPr>
          <a:xfrm>
            <a:off x="548655" y="929640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Procedimento 3 (IaC): Executando o Terraform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02" name="Google Shape;802;p53"/>
          <p:cNvSpPr/>
          <p:nvPr/>
        </p:nvSpPr>
        <p:spPr>
          <a:xfrm>
            <a:off x="91455" y="1478280"/>
            <a:ext cx="3840600" cy="32919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03" name="Google Shape;803;p53"/>
          <p:cNvSpPr txBox="1"/>
          <p:nvPr/>
        </p:nvSpPr>
        <p:spPr>
          <a:xfrm>
            <a:off x="262909" y="1615440"/>
            <a:ext cx="3497700" cy="30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1. Configurar terraform.tfvars</a:t>
            </a:r>
            <a:endParaRPr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cd terraform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cp terraform.tfvars.example terraform.tfvars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i="0" sz="1100" u="none" cap="none" strike="noStrike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Preencher variáveis obrigatórias: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mgc_api_key          = "SUA_API_KEY_MGC"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region               = "br-se1"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vm_name              = "site-web-01"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ssh_key_name         = "site-key"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ssh_public_key       = "ssh-ed25519 AAAAC3..."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ssh_private_key_path = "~/.ssh/id_ed25519"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bucket_name          = "site-media-&lt;seu-nome&gt;"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object_storage_access_key = "SUA_ACCESS_KEY"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object_storage_secret_key = "SUA_SECRET_KEY"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04" name="Google Shape;804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805" name="Google Shape;805;p53" title="Slide 3.png"/>
          <p:cNvPicPr preferRelativeResize="0"/>
          <p:nvPr/>
        </p:nvPicPr>
        <p:blipFill rotWithShape="1">
          <a:blip r:embed="rId4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806" name="Google Shape;806;p53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07" name="Google Shape;807;p53" title="Logo-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808" name="Google Shape;808;p53" title="saopaulo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809" name="Google Shape;809;p53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10" name="Google Shape;810;p53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  <p:pic>
        <p:nvPicPr>
          <p:cNvPr id="811" name="Google Shape;811;p5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084455" y="1740240"/>
            <a:ext cx="4907144" cy="274732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12" name="Google Shape;812;p53"/>
          <p:cNvCxnSpPr/>
          <p:nvPr/>
        </p:nvCxnSpPr>
        <p:spPr>
          <a:xfrm flipH="1">
            <a:off x="6026975" y="2116325"/>
            <a:ext cx="513300" cy="3474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13" name="Google Shape;813;p53"/>
          <p:cNvCxnSpPr/>
          <p:nvPr/>
        </p:nvCxnSpPr>
        <p:spPr>
          <a:xfrm flipH="1">
            <a:off x="7211225" y="3040650"/>
            <a:ext cx="513300" cy="3474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14" name="Google Shape;814;p53"/>
          <p:cNvCxnSpPr/>
          <p:nvPr/>
        </p:nvCxnSpPr>
        <p:spPr>
          <a:xfrm flipH="1">
            <a:off x="6182125" y="3610525"/>
            <a:ext cx="513300" cy="3474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18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p54"/>
          <p:cNvSpPr txBox="1"/>
          <p:nvPr/>
        </p:nvSpPr>
        <p:spPr>
          <a:xfrm>
            <a:off x="548655" y="723900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TERRAFORM + ANSIBLE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20" name="Google Shape;820;p54"/>
          <p:cNvSpPr txBox="1"/>
          <p:nvPr/>
        </p:nvSpPr>
        <p:spPr>
          <a:xfrm>
            <a:off x="548655" y="929640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Procedimento 3 (IaC): Executando o Terraform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21" name="Google Shape;821;p54"/>
          <p:cNvSpPr/>
          <p:nvPr/>
        </p:nvSpPr>
        <p:spPr>
          <a:xfrm>
            <a:off x="91575" y="1478275"/>
            <a:ext cx="3909300" cy="34527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22" name="Google Shape;822;p54"/>
          <p:cNvSpPr txBox="1"/>
          <p:nvPr/>
        </p:nvSpPr>
        <p:spPr>
          <a:xfrm>
            <a:off x="263019" y="1615440"/>
            <a:ext cx="3566400" cy="32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2. Aplicar o Provisionamento</a:t>
            </a:r>
            <a:endParaRPr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Inicializar providers (MGC, AWS S3, Null)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terraform init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i="0" sz="1100" u="none" cap="none" strike="noStrike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Validar o plano de execução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terraform plan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i="0" sz="1100" u="none" cap="none" strike="noStrike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Aplicar a infraestrutura e rodar o deploy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terraform apply -auto-approve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i="0" sz="1100" u="none" cap="none" strike="noStrike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Ao final, veja os outputs no terminal: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Outputs: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bucket_name = "site-media-seu-nome"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public_ip   = "201.23.xx.xx"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wp_url      = "http://201.23.xx.xx"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23" name="Google Shape;823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824" name="Google Shape;824;p54" title="Slide 3.png"/>
          <p:cNvPicPr preferRelativeResize="0"/>
          <p:nvPr/>
        </p:nvPicPr>
        <p:blipFill rotWithShape="1">
          <a:blip r:embed="rId4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825" name="Google Shape;825;p54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26" name="Google Shape;826;p54" title="Logo-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827" name="Google Shape;827;p54" title="saopaulo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828" name="Google Shape;828;p54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29" name="Google Shape;829;p54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  <p:pic>
        <p:nvPicPr>
          <p:cNvPr id="830" name="Google Shape;830;p54"/>
          <p:cNvPicPr preferRelativeResize="0"/>
          <p:nvPr/>
        </p:nvPicPr>
        <p:blipFill rotWithShape="1">
          <a:blip r:embed="rId7">
            <a:alphaModFix/>
          </a:blip>
          <a:srcRect b="0" l="0" r="0" t="37946"/>
          <a:stretch/>
        </p:blipFill>
        <p:spPr>
          <a:xfrm>
            <a:off x="4153275" y="1506498"/>
            <a:ext cx="4838324" cy="148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1" name="Google Shape;831;p5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153275" y="3098575"/>
            <a:ext cx="4838324" cy="164598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32" name="Google Shape;832;p54"/>
          <p:cNvCxnSpPr/>
          <p:nvPr/>
        </p:nvCxnSpPr>
        <p:spPr>
          <a:xfrm flipH="1">
            <a:off x="5648900" y="2468425"/>
            <a:ext cx="513300" cy="3474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33" name="Google Shape;833;p54"/>
          <p:cNvCxnSpPr/>
          <p:nvPr/>
        </p:nvCxnSpPr>
        <p:spPr>
          <a:xfrm flipH="1">
            <a:off x="7132450" y="2815825"/>
            <a:ext cx="513300" cy="3474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55"/>
          <p:cNvSpPr txBox="1"/>
          <p:nvPr/>
        </p:nvSpPr>
        <p:spPr>
          <a:xfrm>
            <a:off x="548655" y="723900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TERRAFORM + ANSIBLE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39" name="Google Shape;839;p55"/>
          <p:cNvSpPr txBox="1"/>
          <p:nvPr/>
        </p:nvSpPr>
        <p:spPr>
          <a:xfrm>
            <a:off x="548655" y="929640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Procedimento 3 (IaC): Executando o Terraform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40" name="Google Shape;840;p55"/>
          <p:cNvSpPr/>
          <p:nvPr/>
        </p:nvSpPr>
        <p:spPr>
          <a:xfrm>
            <a:off x="91564" y="1478280"/>
            <a:ext cx="3909300" cy="32919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41" name="Google Shape;841;p55"/>
          <p:cNvSpPr txBox="1"/>
          <p:nvPr/>
        </p:nvSpPr>
        <p:spPr>
          <a:xfrm>
            <a:off x="263019" y="1615440"/>
            <a:ext cx="3566400" cy="28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❌</a:t>
            </a:r>
            <a:r>
              <a:rPr b="1" i="0" lang="pt-BR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lang="pt-BR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Exclusão dos recursos</a:t>
            </a:r>
            <a:endParaRPr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Inicializar providers (MGC, AWS S3, Null)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terraform </a:t>
            </a:r>
            <a:r>
              <a:rPr lang="pt-BR" sz="11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destroy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i="0" sz="1100" u="none" cap="none" strike="noStrike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Atenção aos 5 recursos que serão excluídos</a:t>
            </a:r>
            <a:br>
              <a:rPr lang="pt-BR" sz="11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Plan: 0 to add, 0 to change, 5 to destroy.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i="0" sz="1100" u="none" cap="none" strike="noStrike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</a:t>
            </a:r>
            <a:r>
              <a:rPr lang="pt-BR" sz="11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Após confirmar os recursos que serão excluídos, responda "yes"</a:t>
            </a:r>
            <a:endParaRPr sz="11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Enter a value: yes</a:t>
            </a:r>
            <a:endParaRPr sz="11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i="0" sz="1100" u="none" cap="none" strike="noStrike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pt-BR" sz="11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# Ao final, </a:t>
            </a:r>
            <a:r>
              <a:rPr lang="pt-BR" sz="11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valide se o Terraform excluiu de fato:</a:t>
            </a:r>
            <a:endParaRPr sz="11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Destroy complete! Resources: 5 destroyed.</a:t>
            </a:r>
            <a:endParaRPr sz="11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42" name="Google Shape;842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843" name="Google Shape;843;p55" title="Slide 3.png"/>
          <p:cNvPicPr preferRelativeResize="0"/>
          <p:nvPr/>
        </p:nvPicPr>
        <p:blipFill rotWithShape="1">
          <a:blip r:embed="rId4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844" name="Google Shape;844;p55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45" name="Google Shape;845;p55" title="Logo-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846" name="Google Shape;846;p55" title="saopaulo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847" name="Google Shape;847;p55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48" name="Google Shape;848;p55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  <p:pic>
        <p:nvPicPr>
          <p:cNvPr id="849" name="Google Shape;849;p5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153275" y="1226911"/>
            <a:ext cx="4663127" cy="103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850" name="Google Shape;850;p5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153275" y="2298688"/>
            <a:ext cx="4663131" cy="251168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51" name="Google Shape;851;p55"/>
          <p:cNvCxnSpPr/>
          <p:nvPr/>
        </p:nvCxnSpPr>
        <p:spPr>
          <a:xfrm flipH="1">
            <a:off x="7420375" y="1130875"/>
            <a:ext cx="513300" cy="3474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52" name="Google Shape;852;p55"/>
          <p:cNvCxnSpPr/>
          <p:nvPr/>
        </p:nvCxnSpPr>
        <p:spPr>
          <a:xfrm flipH="1">
            <a:off x="5903700" y="2008800"/>
            <a:ext cx="513300" cy="3474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53" name="Google Shape;853;p55"/>
          <p:cNvCxnSpPr/>
          <p:nvPr/>
        </p:nvCxnSpPr>
        <p:spPr>
          <a:xfrm flipH="1">
            <a:off x="5902700" y="4358800"/>
            <a:ext cx="513300" cy="3474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p56"/>
          <p:cNvSpPr txBox="1"/>
          <p:nvPr/>
        </p:nvSpPr>
        <p:spPr>
          <a:xfrm>
            <a:off x="2270782" y="1461488"/>
            <a:ext cx="7544100" cy="23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000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CONCLUSÃO</a:t>
            </a:r>
            <a:endParaRPr b="1" i="0" sz="1000" u="none" cap="none" strike="noStrike">
              <a:solidFill>
                <a:srgbClr val="0086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0086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SzPts val="1100"/>
              <a:buNone/>
            </a:pPr>
            <a:r>
              <a:rPr b="1" lang="pt-BR" sz="31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Aprendizados</a:t>
            </a:r>
            <a:endParaRPr b="1" sz="31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SzPts val="1100"/>
              <a:buNone/>
            </a:pPr>
            <a:r>
              <a:rPr b="1" lang="pt-BR" sz="31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           e</a:t>
            </a:r>
            <a:endParaRPr b="1" sz="31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SzPts val="1100"/>
              <a:buNone/>
            </a:pPr>
            <a:r>
              <a:rPr b="1" lang="pt-BR" sz="31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Próximos passos…</a:t>
            </a:r>
            <a:endParaRPr b="1" sz="31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59" name="Google Shape;859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0" name="Google Shape;860;p56" title="Slide 3.png"/>
          <p:cNvPicPr preferRelativeResize="0"/>
          <p:nvPr/>
        </p:nvPicPr>
        <p:blipFill rotWithShape="1">
          <a:blip r:embed="rId4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861" name="Google Shape;861;p56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62" name="Google Shape;862;p56" title="Logo-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863" name="Google Shape;863;p56" title="saopaulo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864" name="Google Shape;864;p56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65" name="Google Shape;865;p56"/>
          <p:cNvSpPr/>
          <p:nvPr/>
        </p:nvSpPr>
        <p:spPr>
          <a:xfrm>
            <a:off x="1996455" y="1461488"/>
            <a:ext cx="102900" cy="2194800"/>
          </a:xfrm>
          <a:prstGeom prst="rect">
            <a:avLst/>
          </a:prstGeom>
          <a:solidFill>
            <a:srgbClr val="0086F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6" name="Google Shape;866;p56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70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p57"/>
          <p:cNvSpPr txBox="1"/>
          <p:nvPr/>
        </p:nvSpPr>
        <p:spPr>
          <a:xfrm>
            <a:off x="548655" y="723900"/>
            <a:ext cx="8024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SUMÁRIO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72" name="Google Shape;872;p57"/>
          <p:cNvSpPr txBox="1"/>
          <p:nvPr/>
        </p:nvSpPr>
        <p:spPr>
          <a:xfrm>
            <a:off x="548655" y="929640"/>
            <a:ext cx="8024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Principais Aprendizados e </a:t>
            </a:r>
            <a:r>
              <a:rPr b="1" lang="pt-BR" sz="18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Evolução</a:t>
            </a:r>
            <a:r>
              <a:rPr b="1" i="0" lang="pt-BR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Arquitetura</a:t>
            </a:r>
            <a:r>
              <a:rPr b="1" lang="pt-BR" sz="18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l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73" name="Google Shape;873;p57"/>
          <p:cNvSpPr/>
          <p:nvPr/>
        </p:nvSpPr>
        <p:spPr>
          <a:xfrm>
            <a:off x="548650" y="1706876"/>
            <a:ext cx="3840600" cy="25785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74" name="Google Shape;874;p57"/>
          <p:cNvSpPr txBox="1"/>
          <p:nvPr/>
        </p:nvSpPr>
        <p:spPr>
          <a:xfrm>
            <a:off x="720109" y="1844040"/>
            <a:ext cx="3497700" cy="21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🎓 O que Aprendemos Hoje?</a:t>
            </a:r>
            <a:endParaRPr sz="11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Autenticação e gestão de contas com o ID Magalu.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Provisionamento de instâncias de VM na nuvem Magalu.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Uso do Object Storage S3 para armazenamento escalável de mídias.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Gerenciamento de recursos via Console, CLI e Infraestrutura como Código (Terraform).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Deploy automatizado de aplicações web com Docker Compose e Ansible.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75" name="Google Shape;875;p57"/>
          <p:cNvSpPr/>
          <p:nvPr/>
        </p:nvSpPr>
        <p:spPr>
          <a:xfrm>
            <a:off x="4663575" y="1706876"/>
            <a:ext cx="3909300" cy="25944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76" name="Google Shape;876;p57"/>
          <p:cNvSpPr txBox="1"/>
          <p:nvPr/>
        </p:nvSpPr>
        <p:spPr>
          <a:xfrm>
            <a:off x="4835019" y="1844040"/>
            <a:ext cx="3566400" cy="21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🚀 Como Evoluir Essa Arquitetura?</a:t>
            </a:r>
            <a:endParaRPr sz="11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DBaaS: Migrar o banco MySQL para o Database-as-a-Service gerenciado da MGC.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Kubernetes (MKE): Orquestrar a aplicação em containers escaláveis.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Load Balancer: Distribuir tráfego entre múltiplas instâncias web.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CDN &amp; WAF: Acelerar entrega de conteúdo e proteger contra ameaças.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0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Backups e Políticas de Ciclo de Vida no Object Storage.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77" name="Google Shape;877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878" name="Google Shape;878;p57" title="Slide 3.png"/>
          <p:cNvPicPr preferRelativeResize="0"/>
          <p:nvPr/>
        </p:nvPicPr>
        <p:blipFill rotWithShape="1">
          <a:blip r:embed="rId4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879" name="Google Shape;879;p57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80" name="Google Shape;880;p57" title="Logo-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881" name="Google Shape;881;p57" title="saopaulo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882" name="Google Shape;882;p57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83" name="Google Shape;883;p57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87" name="Shape 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Google Shape;888;p58"/>
          <p:cNvSpPr/>
          <p:nvPr/>
        </p:nvSpPr>
        <p:spPr>
          <a:xfrm>
            <a:off x="341450" y="1249675"/>
            <a:ext cx="8383800" cy="29982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89" name="Google Shape;889;p58"/>
          <p:cNvSpPr txBox="1"/>
          <p:nvPr/>
        </p:nvSpPr>
        <p:spPr>
          <a:xfrm>
            <a:off x="529750" y="1386850"/>
            <a:ext cx="8024100" cy="26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5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📚 Links Úteis e Documentações Oficiais da Magalu Cloud</a:t>
            </a:r>
            <a:endParaRPr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33415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🌐 Portal Oficial: </a:t>
            </a:r>
            <a:r>
              <a:rPr i="0" lang="pt-BR" sz="1300" u="sng" cap="none" strike="noStrike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https://magalu.cloud/</a:t>
            </a: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📖 Documentação Central: </a:t>
            </a:r>
            <a:r>
              <a:rPr i="0" lang="pt-BR" sz="1300" u="sng" cap="none" strike="noStrike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https://docs.magalu.cloud/</a:t>
            </a: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🚀 Guia de Criação de Conta: </a:t>
            </a:r>
            <a:r>
              <a:rPr i="0" lang="pt-BR" sz="1300" u="sng" cap="none" strike="noStrike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https://docs.magalu.cloud/docs/onboarding/create-account</a:t>
            </a: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💻 Guia da MGC CLI: </a:t>
            </a:r>
            <a:r>
              <a:rPr lang="pt-BR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https://docs.magalu.cloud/docs/devops-tools/cli-mgc/overview</a:t>
            </a:r>
            <a:r>
              <a:rPr lang="pt-BR" sz="13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🖥️ Máquinas Virtuais: </a:t>
            </a:r>
            <a:r>
              <a:rPr lang="pt-BR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https://docs.magalu.cloud/docs/computing/virtual-machine/overview</a:t>
            </a:r>
            <a:r>
              <a:rPr lang="pt-BR" sz="13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🪣 Object Storage S3: </a:t>
            </a:r>
            <a:r>
              <a:rPr lang="pt-BR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8"/>
              </a:rPr>
              <a:t>https://docs.magalu.cloud/docs/storage/object-storage/overview</a:t>
            </a:r>
            <a:r>
              <a:rPr lang="pt-BR" sz="13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🏗️ Terraform Provider MGC: </a:t>
            </a:r>
            <a:r>
              <a:rPr i="0" lang="pt-BR" sz="1300" u="sng" cap="none" strike="noStrike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9"/>
              </a:rPr>
              <a:t>https://registry.terraform.io/providers/MagaluCloud/mgc/latest/docs</a:t>
            </a: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• 🐙 Repositório do Workshop: </a:t>
            </a:r>
            <a:r>
              <a:rPr i="0" lang="pt-BR" sz="1300" u="sng" cap="none" strike="noStrike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10"/>
              </a:rPr>
              <a:t>https://github.com/fernandoravagnani-luizalabs/mgc-workshop</a:t>
            </a:r>
            <a:r>
              <a:rPr i="0" lang="pt-BR" sz="13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90" name="Google Shape;890;p58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891" name="Google Shape;891;p58" title="Slide 3.png"/>
          <p:cNvPicPr preferRelativeResize="0"/>
          <p:nvPr/>
        </p:nvPicPr>
        <p:blipFill rotWithShape="1">
          <a:blip r:embed="rId12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892" name="Google Shape;892;p58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93" name="Google Shape;893;p58" title="Logo-9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894" name="Google Shape;894;p58" title="saopauloW.png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895" name="Google Shape;895;p58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96" name="Google Shape;896;p58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1" name="Google Shape;901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902" name="Google Shape;902;p59" title="Slide 3.png"/>
          <p:cNvPicPr preferRelativeResize="0"/>
          <p:nvPr/>
        </p:nvPicPr>
        <p:blipFill rotWithShape="1">
          <a:blip r:embed="rId4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903" name="Google Shape;903;p59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04" name="Google Shape;904;p59" title="Logo-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905" name="Google Shape;905;p59" title="saopaulo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906" name="Google Shape;906;p59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07" name="Google Shape;907;p59"/>
          <p:cNvSpPr/>
          <p:nvPr/>
        </p:nvSpPr>
        <p:spPr>
          <a:xfrm>
            <a:off x="2095225" y="1307604"/>
            <a:ext cx="106500" cy="2815500"/>
          </a:xfrm>
          <a:prstGeom prst="rect">
            <a:avLst/>
          </a:prstGeom>
          <a:solidFill>
            <a:srgbClr val="0086F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8" name="Google Shape;908;p59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  <p:pic>
        <p:nvPicPr>
          <p:cNvPr id="909" name="Google Shape;909;p59" title="AI Hub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705204" y="3426054"/>
            <a:ext cx="697100" cy="697100"/>
          </a:xfrm>
          <a:prstGeom prst="rect">
            <a:avLst/>
          </a:prstGeom>
          <a:noFill/>
          <a:ln>
            <a:noFill/>
          </a:ln>
        </p:spPr>
      </p:pic>
      <p:sp>
        <p:nvSpPr>
          <p:cNvPr id="910" name="Google Shape;910;p59"/>
          <p:cNvSpPr/>
          <p:nvPr/>
        </p:nvSpPr>
        <p:spPr>
          <a:xfrm>
            <a:off x="3560688" y="3552275"/>
            <a:ext cx="4114500" cy="44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MGC AI Hub</a:t>
            </a:r>
            <a:endParaRPr sz="2400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11" name="Google Shape;911;p59"/>
          <p:cNvSpPr/>
          <p:nvPr/>
        </p:nvSpPr>
        <p:spPr>
          <a:xfrm>
            <a:off x="2705205" y="1191700"/>
            <a:ext cx="49374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800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IA EM PRODUÇÃO</a:t>
            </a:r>
            <a:endParaRPr sz="2800" strike="noStrike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12" name="Google Shape;912;p59"/>
          <p:cNvSpPr/>
          <p:nvPr/>
        </p:nvSpPr>
        <p:spPr>
          <a:xfrm>
            <a:off x="2705201" y="1671750"/>
            <a:ext cx="39996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800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SEM COMPLICAÇÃO</a:t>
            </a:r>
            <a:endParaRPr sz="2800" strike="noStrike">
              <a:solidFill>
                <a:srgbClr val="0086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13" name="Google Shape;913;p59"/>
          <p:cNvSpPr/>
          <p:nvPr/>
        </p:nvSpPr>
        <p:spPr>
          <a:xfrm>
            <a:off x="2718975" y="2433145"/>
            <a:ext cx="14400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Conheça a nova</a:t>
            </a:r>
            <a:endParaRPr sz="1100" strike="noStrike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14" name="Google Shape;914;p59"/>
          <p:cNvSpPr/>
          <p:nvPr/>
        </p:nvSpPr>
        <p:spPr>
          <a:xfrm>
            <a:off x="2718975" y="2666425"/>
            <a:ext cx="2914500" cy="31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700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PLATAFORMA DE </a:t>
            </a:r>
            <a:r>
              <a:rPr b="1" lang="pt-BR" sz="17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IA</a:t>
            </a:r>
            <a:endParaRPr sz="1700" strike="noStrike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15" name="Google Shape;915;p59"/>
          <p:cNvSpPr/>
          <p:nvPr/>
        </p:nvSpPr>
        <p:spPr>
          <a:xfrm>
            <a:off x="2718975" y="2995555"/>
            <a:ext cx="2468700" cy="19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00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DA MAGALU CLOUD</a:t>
            </a:r>
            <a:endParaRPr sz="900" strike="noStrike">
              <a:solidFill>
                <a:srgbClr val="0086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19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0" name="Google Shape;920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60" title="Slide 3.png"/>
          <p:cNvPicPr preferRelativeResize="0"/>
          <p:nvPr/>
        </p:nvPicPr>
        <p:blipFill rotWithShape="1">
          <a:blip r:embed="rId4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922" name="Google Shape;922;p60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23" name="Google Shape;923;p60" title="Logo-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924" name="Google Shape;924;p60" title="saopaulo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925" name="Google Shape;925;p60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26" name="Google Shape;926;p60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  <p:sp>
        <p:nvSpPr>
          <p:cNvPr id="927" name="Google Shape;927;p60"/>
          <p:cNvSpPr/>
          <p:nvPr/>
        </p:nvSpPr>
        <p:spPr>
          <a:xfrm>
            <a:off x="493830" y="820020"/>
            <a:ext cx="3291600" cy="15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800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A RESPOSTA</a:t>
            </a:r>
            <a:endParaRPr sz="800" strike="noStrike">
              <a:solidFill>
                <a:srgbClr val="0086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28" name="Google Shape;928;p60"/>
          <p:cNvSpPr/>
          <p:nvPr/>
        </p:nvSpPr>
        <p:spPr>
          <a:xfrm>
            <a:off x="507593" y="1049663"/>
            <a:ext cx="73377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FORNECEMOS</a:t>
            </a:r>
            <a:r>
              <a:rPr b="1" lang="pt-BR" sz="1800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 INFERÊNCIA </a:t>
            </a:r>
            <a:r>
              <a:rPr b="1" lang="pt-BR"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PARA A SUA SOLUÇÃO</a:t>
            </a:r>
            <a:endParaRPr sz="1800" strike="noStrike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29" name="Google Shape;929;p60"/>
          <p:cNvSpPr/>
          <p:nvPr/>
        </p:nvSpPr>
        <p:spPr>
          <a:xfrm>
            <a:off x="507600" y="1670250"/>
            <a:ext cx="48003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Da escolha do modelo à API, sem complexidade operacional:</a:t>
            </a:r>
            <a:endParaRPr sz="1100" strike="noStrike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30" name="Google Shape;930;p60"/>
          <p:cNvSpPr/>
          <p:nvPr/>
        </p:nvSpPr>
        <p:spPr>
          <a:xfrm>
            <a:off x="582930" y="2335530"/>
            <a:ext cx="1611600" cy="1042200"/>
          </a:xfrm>
          <a:prstGeom prst="roundRect">
            <a:avLst>
              <a:gd fmla="val 5263" name="adj"/>
            </a:avLst>
          </a:prstGeom>
          <a:solidFill>
            <a:srgbClr val="F8FAFC"/>
          </a:solidFill>
          <a:ln cap="flat" cmpd="sng" w="9525">
            <a:solidFill>
              <a:srgbClr val="E2E8F0">
                <a:alpha val="851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28575" rotWithShape="0" algn="bl" dir="5400000" dist="19050">
              <a:srgbClr val="000000">
                <a:alpha val="35000"/>
              </a:srgbClr>
            </a:outerShdw>
          </a:effectLst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31" name="Google Shape;931;p60"/>
          <p:cNvSpPr/>
          <p:nvPr/>
        </p:nvSpPr>
        <p:spPr>
          <a:xfrm>
            <a:off x="706320" y="2465940"/>
            <a:ext cx="2742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700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01</a:t>
            </a:r>
            <a:endParaRPr sz="700" strike="noStrike">
              <a:solidFill>
                <a:srgbClr val="0086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32" name="Google Shape;932;p60"/>
          <p:cNvSpPr/>
          <p:nvPr/>
        </p:nvSpPr>
        <p:spPr>
          <a:xfrm>
            <a:off x="706320" y="2726490"/>
            <a:ext cx="13647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SUA </a:t>
            </a:r>
            <a:r>
              <a:rPr b="1" lang="pt-BR" sz="12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SOLUÇÃO</a:t>
            </a:r>
            <a:endParaRPr sz="1200" strike="noStrike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33" name="Google Shape;933;p60"/>
          <p:cNvSpPr/>
          <p:nvPr/>
        </p:nvSpPr>
        <p:spPr>
          <a:xfrm>
            <a:off x="706320" y="3000810"/>
            <a:ext cx="1364700" cy="16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Produto, agente ou serviço</a:t>
            </a:r>
            <a:endParaRPr sz="800" strike="noStrike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34" name="Google Shape;934;p60"/>
          <p:cNvSpPr/>
          <p:nvPr/>
        </p:nvSpPr>
        <p:spPr>
          <a:xfrm>
            <a:off x="2218723" y="2671680"/>
            <a:ext cx="191700" cy="287700"/>
          </a:xfrm>
          <a:prstGeom prst="chevron">
            <a:avLst>
              <a:gd fmla="val 50000" name="adj"/>
            </a:avLst>
          </a:prstGeom>
          <a:solidFill>
            <a:srgbClr val="0086FF"/>
          </a:solidFill>
          <a:ln cap="flat" cmpd="sng" w="9525">
            <a:solidFill>
              <a:srgbClr val="0086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16D0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35" name="Google Shape;935;p60"/>
          <p:cNvSpPr/>
          <p:nvPr/>
        </p:nvSpPr>
        <p:spPr>
          <a:xfrm>
            <a:off x="2434590" y="2335530"/>
            <a:ext cx="1474200" cy="1042200"/>
          </a:xfrm>
          <a:prstGeom prst="roundRect">
            <a:avLst>
              <a:gd fmla="val 5263" name="adj"/>
            </a:avLst>
          </a:prstGeom>
          <a:solidFill>
            <a:srgbClr val="F8FAFC"/>
          </a:solidFill>
          <a:ln cap="flat" cmpd="sng" w="9525">
            <a:solidFill>
              <a:srgbClr val="E2E8F0">
                <a:alpha val="851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28575" rotWithShape="0" algn="bl" dir="5400000" dist="19050">
              <a:srgbClr val="000000">
                <a:alpha val="35000"/>
              </a:srgbClr>
            </a:outerShdw>
          </a:effectLst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36" name="Google Shape;936;p60"/>
          <p:cNvSpPr/>
          <p:nvPr/>
        </p:nvSpPr>
        <p:spPr>
          <a:xfrm>
            <a:off x="2557980" y="2465940"/>
            <a:ext cx="2742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700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02</a:t>
            </a:r>
            <a:endParaRPr sz="700" strike="noStrike">
              <a:solidFill>
                <a:srgbClr val="0086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37" name="Google Shape;937;p60"/>
          <p:cNvSpPr/>
          <p:nvPr/>
        </p:nvSpPr>
        <p:spPr>
          <a:xfrm>
            <a:off x="2557980" y="2726490"/>
            <a:ext cx="12273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API</a:t>
            </a:r>
            <a:endParaRPr sz="1200" strike="noStrike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38" name="Google Shape;938;p60"/>
          <p:cNvSpPr/>
          <p:nvPr/>
        </p:nvSpPr>
        <p:spPr>
          <a:xfrm>
            <a:off x="2557980" y="3000810"/>
            <a:ext cx="1227300" cy="16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Integração simples</a:t>
            </a:r>
            <a:endParaRPr sz="800" strike="noStrike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39" name="Google Shape;939;p60"/>
          <p:cNvSpPr/>
          <p:nvPr/>
        </p:nvSpPr>
        <p:spPr>
          <a:xfrm>
            <a:off x="3933110" y="2671680"/>
            <a:ext cx="191700" cy="287700"/>
          </a:xfrm>
          <a:prstGeom prst="chevron">
            <a:avLst>
              <a:gd fmla="val 50000" name="adj"/>
            </a:avLst>
          </a:prstGeom>
          <a:solidFill>
            <a:srgbClr val="0086FF"/>
          </a:solidFill>
          <a:ln cap="flat" cmpd="sng" w="9525">
            <a:solidFill>
              <a:srgbClr val="0086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16D0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40" name="Google Shape;940;p60"/>
          <p:cNvSpPr/>
          <p:nvPr/>
        </p:nvSpPr>
        <p:spPr>
          <a:xfrm>
            <a:off x="4149090" y="2335530"/>
            <a:ext cx="1680000" cy="1042200"/>
          </a:xfrm>
          <a:prstGeom prst="roundRect">
            <a:avLst>
              <a:gd fmla="val 5263" name="adj"/>
            </a:avLst>
          </a:prstGeom>
          <a:solidFill>
            <a:srgbClr val="F8FAFC"/>
          </a:solidFill>
          <a:ln cap="flat" cmpd="sng" w="9525">
            <a:solidFill>
              <a:srgbClr val="E2E8F0">
                <a:alpha val="851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28575" rotWithShape="0" algn="bl" dir="5400000" dist="19050">
              <a:srgbClr val="000000">
                <a:alpha val="35000"/>
              </a:srgbClr>
            </a:outerShdw>
          </a:effectLst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41" name="Google Shape;941;p60"/>
          <p:cNvSpPr/>
          <p:nvPr/>
        </p:nvSpPr>
        <p:spPr>
          <a:xfrm>
            <a:off x="4272480" y="2465940"/>
            <a:ext cx="2742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700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03</a:t>
            </a:r>
            <a:endParaRPr sz="700" strike="noStrike">
              <a:solidFill>
                <a:srgbClr val="0086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42" name="Google Shape;942;p60"/>
          <p:cNvSpPr/>
          <p:nvPr/>
        </p:nvSpPr>
        <p:spPr>
          <a:xfrm>
            <a:off x="4272480" y="2726490"/>
            <a:ext cx="14334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MODELOS</a:t>
            </a:r>
            <a:endParaRPr sz="1200" strike="noStrike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43" name="Google Shape;943;p60"/>
          <p:cNvSpPr/>
          <p:nvPr/>
        </p:nvSpPr>
        <p:spPr>
          <a:xfrm>
            <a:off x="4272480" y="3000810"/>
            <a:ext cx="1433400" cy="16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Catálogo selecionado</a:t>
            </a:r>
            <a:endParaRPr sz="800" strike="noStrike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44" name="Google Shape;944;p60"/>
          <p:cNvSpPr/>
          <p:nvPr/>
        </p:nvSpPr>
        <p:spPr>
          <a:xfrm>
            <a:off x="5860250" y="2671680"/>
            <a:ext cx="191700" cy="287700"/>
          </a:xfrm>
          <a:prstGeom prst="chevron">
            <a:avLst>
              <a:gd fmla="val 50000" name="adj"/>
            </a:avLst>
          </a:prstGeom>
          <a:solidFill>
            <a:srgbClr val="0086FF"/>
          </a:solidFill>
          <a:ln cap="flat" cmpd="sng" w="9525">
            <a:solidFill>
              <a:srgbClr val="0086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16D0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45" name="Google Shape;945;p60"/>
          <p:cNvSpPr/>
          <p:nvPr/>
        </p:nvSpPr>
        <p:spPr>
          <a:xfrm>
            <a:off x="6083100" y="2335530"/>
            <a:ext cx="2160000" cy="1042200"/>
          </a:xfrm>
          <a:prstGeom prst="roundRect">
            <a:avLst>
              <a:gd fmla="val 5263" name="adj"/>
            </a:avLst>
          </a:prstGeom>
          <a:solidFill>
            <a:srgbClr val="F8FAFC"/>
          </a:solidFill>
          <a:ln cap="flat" cmpd="sng" w="15225">
            <a:solidFill>
              <a:srgbClr val="E2E8F0">
                <a:alpha val="851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28575" rotWithShape="0" algn="bl" dir="5400000" dist="19050">
              <a:srgbClr val="000000">
                <a:alpha val="35000"/>
              </a:srgbClr>
            </a:outerShdw>
          </a:effectLst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46" name="Google Shape;946;p60"/>
          <p:cNvSpPr/>
          <p:nvPr/>
        </p:nvSpPr>
        <p:spPr>
          <a:xfrm>
            <a:off x="6206490" y="2465940"/>
            <a:ext cx="2742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700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04</a:t>
            </a:r>
            <a:endParaRPr sz="700" strike="noStrike">
              <a:solidFill>
                <a:srgbClr val="0086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47" name="Google Shape;947;p60"/>
          <p:cNvSpPr/>
          <p:nvPr/>
        </p:nvSpPr>
        <p:spPr>
          <a:xfrm>
            <a:off x="6206490" y="2726490"/>
            <a:ext cx="19131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MAGALU CLOUD</a:t>
            </a:r>
            <a:endParaRPr sz="1200" strike="noStrike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48" name="Google Shape;948;p60"/>
          <p:cNvSpPr/>
          <p:nvPr/>
        </p:nvSpPr>
        <p:spPr>
          <a:xfrm>
            <a:off x="6206490" y="3000810"/>
            <a:ext cx="1913100" cy="16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Runtime + infraestrutura GPU</a:t>
            </a:r>
            <a:endParaRPr sz="800" strike="noStrike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49" name="Google Shape;949;p60"/>
          <p:cNvSpPr/>
          <p:nvPr/>
        </p:nvSpPr>
        <p:spPr>
          <a:xfrm>
            <a:off x="857250" y="3771835"/>
            <a:ext cx="1371300" cy="2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700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ESCOLHA.</a:t>
            </a:r>
            <a:endParaRPr sz="1700" strike="noStrike">
              <a:solidFill>
                <a:srgbClr val="0086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50" name="Google Shape;950;p60"/>
          <p:cNvSpPr/>
          <p:nvPr/>
        </p:nvSpPr>
        <p:spPr>
          <a:xfrm>
            <a:off x="3483810" y="3771835"/>
            <a:ext cx="1371300" cy="2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700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INTEGRE.</a:t>
            </a:r>
            <a:endParaRPr sz="1700" strike="noStrike">
              <a:solidFill>
                <a:srgbClr val="0086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51" name="Google Shape;951;p60"/>
          <p:cNvSpPr/>
          <p:nvPr/>
        </p:nvSpPr>
        <p:spPr>
          <a:xfrm>
            <a:off x="6275070" y="3771835"/>
            <a:ext cx="1371300" cy="2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700" strike="noStrike">
                <a:solidFill>
                  <a:srgbClr val="0086FF"/>
                </a:solidFill>
                <a:latin typeface="Montserrat"/>
                <a:ea typeface="Montserrat"/>
                <a:cs typeface="Montserrat"/>
                <a:sym typeface="Montserrat"/>
              </a:rPr>
              <a:t>USE.</a:t>
            </a:r>
            <a:endParaRPr sz="1700" strike="noStrike">
              <a:solidFill>
                <a:srgbClr val="0086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52" name="Google Shape;952;p60"/>
          <p:cNvSpPr/>
          <p:nvPr/>
        </p:nvSpPr>
        <p:spPr>
          <a:xfrm>
            <a:off x="857250" y="4265665"/>
            <a:ext cx="69264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Sem provisionar GPUs. Sem configurar runtimes. Sem transformar seu time de produto em time de infraestrutura.</a:t>
            </a:r>
            <a:endParaRPr sz="1100" strike="noStrike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56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7" name="Google Shape;95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958" name="Google Shape;958;p61" title="Slide 3.png"/>
          <p:cNvPicPr preferRelativeResize="0"/>
          <p:nvPr/>
        </p:nvPicPr>
        <p:blipFill rotWithShape="1">
          <a:blip r:embed="rId4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959" name="Google Shape;959;p61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60" name="Google Shape;960;p61" title="Logo-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961" name="Google Shape;961;p61" title="saopaulo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962" name="Google Shape;962;p61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63" name="Google Shape;963;p61"/>
          <p:cNvSpPr txBox="1"/>
          <p:nvPr>
            <p:ph idx="12" type="sldNum"/>
          </p:nvPr>
        </p:nvSpPr>
        <p:spPr>
          <a:xfrm>
            <a:off x="83178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  <p:sp>
        <p:nvSpPr>
          <p:cNvPr id="964" name="Google Shape;964;p61"/>
          <p:cNvSpPr/>
          <p:nvPr/>
        </p:nvSpPr>
        <p:spPr>
          <a:xfrm>
            <a:off x="493830" y="743820"/>
            <a:ext cx="3291600" cy="15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8FF"/>
              </a:buClr>
              <a:buSzPts val="800"/>
              <a:buFont typeface="Arial"/>
              <a:buNone/>
            </a:pPr>
            <a:r>
              <a:rPr b="1" lang="pt-BR" sz="800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A RESPOSTA</a:t>
            </a:r>
            <a:endParaRPr sz="800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65" name="Google Shape;965;p61"/>
          <p:cNvSpPr/>
          <p:nvPr/>
        </p:nvSpPr>
        <p:spPr>
          <a:xfrm>
            <a:off x="493847" y="990600"/>
            <a:ext cx="4643700" cy="3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FBFF"/>
              </a:buClr>
              <a:buSzPts val="1800"/>
              <a:buFont typeface="Arial"/>
              <a:buNone/>
            </a:pPr>
            <a:r>
              <a:rPr b="1" lang="pt-BR"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DA ESCOLHA </a:t>
            </a:r>
            <a:endParaRPr b="1" sz="18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FBFF"/>
              </a:buClr>
              <a:buSzPts val="1800"/>
              <a:buFont typeface="Arial"/>
              <a:buNone/>
            </a:pPr>
            <a:r>
              <a:rPr b="1" lang="pt-BR"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DO MODELO </a:t>
            </a:r>
            <a:r>
              <a:rPr b="1" lang="pt-BR"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À API</a:t>
            </a:r>
            <a:endParaRPr sz="18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66" name="Google Shape;966;p61"/>
          <p:cNvSpPr/>
          <p:nvPr/>
        </p:nvSpPr>
        <p:spPr>
          <a:xfrm>
            <a:off x="93378" y="1993106"/>
            <a:ext cx="2859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800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01</a:t>
            </a:r>
            <a:endParaRPr sz="1100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67" name="Google Shape;967;p61"/>
          <p:cNvSpPr/>
          <p:nvPr/>
        </p:nvSpPr>
        <p:spPr>
          <a:xfrm>
            <a:off x="464853" y="2803881"/>
            <a:ext cx="27861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4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ESCOLHA</a:t>
            </a:r>
            <a:endParaRPr sz="11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68" name="Google Shape;968;p61"/>
          <p:cNvSpPr/>
          <p:nvPr/>
        </p:nvSpPr>
        <p:spPr>
          <a:xfrm>
            <a:off x="464853" y="3061056"/>
            <a:ext cx="29292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Encontre o modelo para sua solução.</a:t>
            </a:r>
            <a:endParaRPr sz="11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969" name="Google Shape;969;p61"/>
          <p:cNvCxnSpPr/>
          <p:nvPr/>
        </p:nvCxnSpPr>
        <p:spPr>
          <a:xfrm>
            <a:off x="464853" y="2543175"/>
            <a:ext cx="2543100" cy="0"/>
          </a:xfrm>
          <a:prstGeom prst="straightConnector1">
            <a:avLst/>
          </a:prstGeom>
          <a:noFill/>
          <a:ln cap="flat" cmpd="sng" w="7150">
            <a:solidFill>
              <a:srgbClr val="24314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70" name="Google Shape;970;p61"/>
          <p:cNvSpPr/>
          <p:nvPr/>
        </p:nvSpPr>
        <p:spPr>
          <a:xfrm>
            <a:off x="93378" y="2764631"/>
            <a:ext cx="2859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800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02</a:t>
            </a:r>
            <a:endParaRPr sz="1100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71" name="Google Shape;971;p61"/>
          <p:cNvSpPr/>
          <p:nvPr/>
        </p:nvSpPr>
        <p:spPr>
          <a:xfrm>
            <a:off x="446000" y="2009694"/>
            <a:ext cx="27861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4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GERE SEU ACESSO</a:t>
            </a:r>
            <a:endParaRPr sz="11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72" name="Google Shape;972;p61"/>
          <p:cNvSpPr/>
          <p:nvPr/>
        </p:nvSpPr>
        <p:spPr>
          <a:xfrm>
            <a:off x="446000" y="2266869"/>
            <a:ext cx="29292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Crie uma API key para começar.</a:t>
            </a:r>
            <a:endParaRPr sz="11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973" name="Google Shape;973;p61"/>
          <p:cNvCxnSpPr/>
          <p:nvPr/>
        </p:nvCxnSpPr>
        <p:spPr>
          <a:xfrm>
            <a:off x="464853" y="3314700"/>
            <a:ext cx="2543100" cy="0"/>
          </a:xfrm>
          <a:prstGeom prst="straightConnector1">
            <a:avLst/>
          </a:prstGeom>
          <a:noFill/>
          <a:ln cap="flat" cmpd="sng" w="7150">
            <a:solidFill>
              <a:srgbClr val="24314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74" name="Google Shape;974;p61"/>
          <p:cNvSpPr/>
          <p:nvPr/>
        </p:nvSpPr>
        <p:spPr>
          <a:xfrm>
            <a:off x="93378" y="3536156"/>
            <a:ext cx="2859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800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03</a:t>
            </a:r>
            <a:endParaRPr sz="1100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75" name="Google Shape;975;p61"/>
          <p:cNvSpPr/>
          <p:nvPr/>
        </p:nvSpPr>
        <p:spPr>
          <a:xfrm>
            <a:off x="464853" y="3521869"/>
            <a:ext cx="27861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4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INTEGRE</a:t>
            </a:r>
            <a:endParaRPr sz="11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76" name="Google Shape;976;p61"/>
          <p:cNvSpPr/>
          <p:nvPr/>
        </p:nvSpPr>
        <p:spPr>
          <a:xfrm>
            <a:off x="464853" y="3779044"/>
            <a:ext cx="29292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Consuma inferência via API.</a:t>
            </a:r>
            <a:endParaRPr sz="11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977" name="Google Shape;977;p61"/>
          <p:cNvCxnSpPr/>
          <p:nvPr/>
        </p:nvCxnSpPr>
        <p:spPr>
          <a:xfrm>
            <a:off x="464853" y="4086225"/>
            <a:ext cx="2543100" cy="0"/>
          </a:xfrm>
          <a:prstGeom prst="straightConnector1">
            <a:avLst/>
          </a:prstGeom>
          <a:noFill/>
          <a:ln cap="flat" cmpd="sng" w="7150">
            <a:solidFill>
              <a:srgbClr val="24314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78" name="Google Shape;978;p61"/>
          <p:cNvSpPr/>
          <p:nvPr/>
        </p:nvSpPr>
        <p:spPr>
          <a:xfrm>
            <a:off x="3428925" y="990600"/>
            <a:ext cx="5598000" cy="3788700"/>
          </a:xfrm>
          <a:prstGeom prst="roundRect">
            <a:avLst>
              <a:gd fmla="val 5714" name="adj"/>
            </a:avLst>
          </a:prstGeom>
          <a:solidFill>
            <a:srgbClr val="0B1225"/>
          </a:solidFill>
          <a:ln cap="flat" cmpd="sng" w="14300">
            <a:solidFill>
              <a:srgbClr val="00B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979" name="Google Shape;979;p61" title="AI Hub.mp4">
            <a:hlinkClick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521375" y="1055275"/>
            <a:ext cx="5405825" cy="366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83" name="Shape 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Google Shape;984;p62"/>
          <p:cNvSpPr/>
          <p:nvPr/>
        </p:nvSpPr>
        <p:spPr>
          <a:xfrm>
            <a:off x="6450540" y="1842300"/>
            <a:ext cx="2051100" cy="2988000"/>
          </a:xfrm>
          <a:prstGeom prst="roundRect">
            <a:avLst>
              <a:gd fmla="val 5263" name="adj"/>
            </a:avLst>
          </a:prstGeom>
          <a:solidFill>
            <a:srgbClr val="F8FAFC"/>
          </a:solidFill>
          <a:ln cap="flat" cmpd="sng" w="9525">
            <a:solidFill>
              <a:srgbClr val="E2E8F0">
                <a:alpha val="851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28575" rotWithShape="0" algn="bl" dir="5400000" dist="19050">
              <a:srgbClr val="000000">
                <a:alpha val="35000"/>
              </a:srgbClr>
            </a:outerShdw>
          </a:effectLst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85" name="Google Shape;985;p62"/>
          <p:cNvSpPr/>
          <p:nvPr/>
        </p:nvSpPr>
        <p:spPr>
          <a:xfrm>
            <a:off x="4438950" y="1842300"/>
            <a:ext cx="1414200" cy="2988000"/>
          </a:xfrm>
          <a:prstGeom prst="roundRect">
            <a:avLst>
              <a:gd fmla="val 5263" name="adj"/>
            </a:avLst>
          </a:prstGeom>
          <a:solidFill>
            <a:srgbClr val="F8FAFC"/>
          </a:solidFill>
          <a:ln cap="flat" cmpd="sng" w="9525">
            <a:solidFill>
              <a:srgbClr val="E2E8F0">
                <a:alpha val="851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28575" rotWithShape="0" algn="bl" dir="5400000" dist="19050">
              <a:srgbClr val="000000">
                <a:alpha val="35000"/>
              </a:srgbClr>
            </a:outerShdw>
          </a:effectLst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86" name="Google Shape;986;p62"/>
          <p:cNvSpPr/>
          <p:nvPr/>
        </p:nvSpPr>
        <p:spPr>
          <a:xfrm>
            <a:off x="2229150" y="1842300"/>
            <a:ext cx="2051100" cy="2988000"/>
          </a:xfrm>
          <a:prstGeom prst="roundRect">
            <a:avLst>
              <a:gd fmla="val 5263" name="adj"/>
            </a:avLst>
          </a:prstGeom>
          <a:solidFill>
            <a:srgbClr val="F8FAFC"/>
          </a:solidFill>
          <a:ln cap="flat" cmpd="sng" w="9525">
            <a:solidFill>
              <a:srgbClr val="E2E8F0">
                <a:alpha val="851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28575" rotWithShape="0" algn="bl" dir="5400000" dist="19050">
              <a:srgbClr val="000000">
                <a:alpha val="35000"/>
              </a:srgbClr>
            </a:outerShdw>
          </a:effectLst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87" name="Google Shape;987;p62"/>
          <p:cNvSpPr/>
          <p:nvPr/>
        </p:nvSpPr>
        <p:spPr>
          <a:xfrm>
            <a:off x="400350" y="1842291"/>
            <a:ext cx="1683000" cy="2988000"/>
          </a:xfrm>
          <a:prstGeom prst="roundRect">
            <a:avLst>
              <a:gd fmla="val 5263" name="adj"/>
            </a:avLst>
          </a:prstGeom>
          <a:solidFill>
            <a:srgbClr val="F8FAFC"/>
          </a:solidFill>
          <a:ln cap="flat" cmpd="sng" w="9525">
            <a:solidFill>
              <a:srgbClr val="E2E8F0">
                <a:alpha val="851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28575" rotWithShape="0" algn="bl" dir="5400000" dist="19050">
              <a:srgbClr val="000000">
                <a:alpha val="35000"/>
              </a:srgbClr>
            </a:outerShdw>
          </a:effectLst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88" name="Google Shape;988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989" name="Google Shape;989;p62" title="Slide 3.png"/>
          <p:cNvPicPr preferRelativeResize="0"/>
          <p:nvPr/>
        </p:nvPicPr>
        <p:blipFill rotWithShape="1">
          <a:blip r:embed="rId4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990" name="Google Shape;990;p62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91" name="Google Shape;991;p62" title="Logo-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992" name="Google Shape;992;p62" title="saopaulo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993" name="Google Shape;993;p62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94" name="Google Shape;994;p62"/>
          <p:cNvSpPr txBox="1"/>
          <p:nvPr>
            <p:ph idx="12" type="sldNum"/>
          </p:nvPr>
        </p:nvSpPr>
        <p:spPr>
          <a:xfrm>
            <a:off x="83940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  <p:sp>
        <p:nvSpPr>
          <p:cNvPr id="995" name="Google Shape;995;p62"/>
          <p:cNvSpPr/>
          <p:nvPr/>
        </p:nvSpPr>
        <p:spPr>
          <a:xfrm>
            <a:off x="493850" y="744320"/>
            <a:ext cx="64713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MARKETPLACE DE </a:t>
            </a:r>
            <a:endParaRPr sz="2800" strike="noStrike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96" name="Google Shape;996;p62"/>
          <p:cNvSpPr/>
          <p:nvPr/>
        </p:nvSpPr>
        <p:spPr>
          <a:xfrm>
            <a:off x="493850" y="1185150"/>
            <a:ext cx="51822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800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MODELOS DE INFERÊNCIA</a:t>
            </a:r>
            <a:endParaRPr sz="2800" strike="noStrike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97" name="Google Shape;997;p62"/>
          <p:cNvSpPr txBox="1"/>
          <p:nvPr/>
        </p:nvSpPr>
        <p:spPr>
          <a:xfrm>
            <a:off x="504251" y="1919925"/>
            <a:ext cx="950400" cy="20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C7F2"/>
              </a:buClr>
              <a:buSzPts val="1047"/>
              <a:buFont typeface="Arial"/>
              <a:buNone/>
            </a:pPr>
            <a:r>
              <a:rPr b="1" i="0" lang="pt-BR" sz="1047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ENTRADA</a:t>
            </a:r>
            <a:endParaRPr b="0" i="0" sz="1047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8" name="Google Shape;998;p62"/>
          <p:cNvSpPr txBox="1"/>
          <p:nvPr/>
        </p:nvSpPr>
        <p:spPr>
          <a:xfrm>
            <a:off x="519903" y="4461000"/>
            <a:ext cx="1497000" cy="314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Llama-3.1-8B-Instruct </a:t>
            </a:r>
            <a:r>
              <a:rPr b="1" lang="pt-BR" sz="1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🇺🇸</a:t>
            </a:r>
            <a:endParaRPr b="1" sz="935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9" name="Google Shape;999;p62"/>
          <p:cNvSpPr txBox="1"/>
          <p:nvPr/>
        </p:nvSpPr>
        <p:spPr>
          <a:xfrm>
            <a:off x="519905" y="2578725"/>
            <a:ext cx="855600" cy="314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Qwen3-8B </a:t>
            </a:r>
            <a:r>
              <a:rPr b="1" lang="pt-BR" sz="1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🇨🇳</a:t>
            </a:r>
            <a:endParaRPr b="1" sz="935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0" name="Google Shape;1000;p62"/>
          <p:cNvSpPr txBox="1"/>
          <p:nvPr/>
        </p:nvSpPr>
        <p:spPr>
          <a:xfrm>
            <a:off x="519903" y="2893325"/>
            <a:ext cx="1497000" cy="314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Qwen3-Embedding-8B </a:t>
            </a:r>
            <a:r>
              <a:rPr b="1" lang="pt-BR" sz="1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🇨🇳</a:t>
            </a:r>
            <a:endParaRPr b="1" sz="935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1" name="Google Shape;1001;p62"/>
          <p:cNvSpPr txBox="1"/>
          <p:nvPr/>
        </p:nvSpPr>
        <p:spPr>
          <a:xfrm>
            <a:off x="519903" y="3207900"/>
            <a:ext cx="1372500" cy="314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Qwen3-Reranker-8B </a:t>
            </a:r>
            <a:r>
              <a:rPr b="1" lang="pt-BR" sz="1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🇨🇳</a:t>
            </a:r>
            <a:endParaRPr b="1" sz="935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2" name="Google Shape;1002;p62"/>
          <p:cNvSpPr txBox="1"/>
          <p:nvPr/>
        </p:nvSpPr>
        <p:spPr>
          <a:xfrm>
            <a:off x="519903" y="3516575"/>
            <a:ext cx="1372500" cy="314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bge-reranker-v2-m3 </a:t>
            </a:r>
            <a:r>
              <a:rPr b="1" lang="pt-BR" sz="1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🇨🇳</a:t>
            </a:r>
            <a:endParaRPr b="1" sz="935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3" name="Google Shape;1003;p62"/>
          <p:cNvSpPr txBox="1"/>
          <p:nvPr/>
        </p:nvSpPr>
        <p:spPr>
          <a:xfrm>
            <a:off x="519903" y="3839325"/>
            <a:ext cx="1414200" cy="314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nomic-embed-text-v1 </a:t>
            </a:r>
            <a:r>
              <a:rPr b="1" lang="pt-BR" sz="1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🇺🇸</a:t>
            </a:r>
            <a:endParaRPr b="1" sz="935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4" name="Google Shape;1004;p62"/>
          <p:cNvSpPr txBox="1"/>
          <p:nvPr/>
        </p:nvSpPr>
        <p:spPr>
          <a:xfrm>
            <a:off x="519904" y="4148550"/>
            <a:ext cx="1163700" cy="314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gemma-4-E4B-it </a:t>
            </a:r>
            <a:r>
              <a:rPr b="1" lang="pt-BR" sz="1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🇺🇸</a:t>
            </a:r>
            <a:endParaRPr b="1" sz="935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5" name="Google Shape;1005;p62"/>
          <p:cNvSpPr txBox="1"/>
          <p:nvPr/>
        </p:nvSpPr>
        <p:spPr>
          <a:xfrm>
            <a:off x="2338215" y="1924692"/>
            <a:ext cx="1224900" cy="20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C7F2"/>
              </a:buClr>
              <a:buSzPts val="1047"/>
              <a:buFont typeface="Arial"/>
              <a:buNone/>
            </a:pPr>
            <a:r>
              <a:rPr b="1" i="0" lang="pt-BR" sz="1047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INTERMEDIÁRIO</a:t>
            </a:r>
            <a:endParaRPr b="0" i="0" sz="1047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6" name="Google Shape;1006;p62"/>
          <p:cNvSpPr txBox="1"/>
          <p:nvPr/>
        </p:nvSpPr>
        <p:spPr>
          <a:xfrm>
            <a:off x="2353625" y="2578725"/>
            <a:ext cx="950400" cy="314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Qwen3.5-9B </a:t>
            </a:r>
            <a:r>
              <a:rPr b="1" lang="pt-BR" sz="1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🇨🇳</a:t>
            </a:r>
            <a:endParaRPr b="1" sz="935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7" name="Google Shape;1007;p62"/>
          <p:cNvSpPr txBox="1"/>
          <p:nvPr/>
        </p:nvSpPr>
        <p:spPr>
          <a:xfrm>
            <a:off x="2353625" y="2893325"/>
            <a:ext cx="1019700" cy="314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Qwen3.6-27B </a:t>
            </a:r>
            <a:r>
              <a:rPr b="1" lang="pt-BR" sz="1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🇨🇳</a:t>
            </a:r>
            <a:endParaRPr b="1" sz="935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8" name="Google Shape;1008;p62"/>
          <p:cNvSpPr txBox="1"/>
          <p:nvPr/>
        </p:nvSpPr>
        <p:spPr>
          <a:xfrm>
            <a:off x="2353625" y="3207900"/>
            <a:ext cx="1019700" cy="314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Qwen3.8-27B </a:t>
            </a:r>
            <a:r>
              <a:rPr b="1" lang="pt-BR" sz="1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🇨🇳</a:t>
            </a:r>
            <a:endParaRPr b="1" sz="935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9" name="Google Shape;1009;p62"/>
          <p:cNvSpPr txBox="1"/>
          <p:nvPr/>
        </p:nvSpPr>
        <p:spPr>
          <a:xfrm>
            <a:off x="2353625" y="4148550"/>
            <a:ext cx="1163700" cy="314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gemma-4-12B-it </a:t>
            </a:r>
            <a:r>
              <a:rPr b="1" lang="pt-BR" sz="1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🇺🇸</a:t>
            </a:r>
            <a:endParaRPr b="1" sz="935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0" name="Google Shape;1010;p62"/>
          <p:cNvSpPr txBox="1"/>
          <p:nvPr/>
        </p:nvSpPr>
        <p:spPr>
          <a:xfrm>
            <a:off x="2353625" y="4460992"/>
            <a:ext cx="1306200" cy="314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medgemma-27b-it </a:t>
            </a:r>
            <a:r>
              <a:rPr b="1" lang="pt-BR" sz="1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🇺🇸</a:t>
            </a:r>
            <a:endParaRPr b="1" sz="935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1" name="Google Shape;1011;p62"/>
          <p:cNvSpPr txBox="1"/>
          <p:nvPr/>
        </p:nvSpPr>
        <p:spPr>
          <a:xfrm>
            <a:off x="4530206" y="1919925"/>
            <a:ext cx="917100" cy="20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C7F2"/>
              </a:buClr>
              <a:buSzPts val="1047"/>
              <a:buFont typeface="Arial"/>
              <a:buNone/>
            </a:pPr>
            <a:r>
              <a:rPr b="1" i="0" lang="pt-BR" sz="1047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FRONTEIRA</a:t>
            </a:r>
            <a:endParaRPr b="0" i="0" sz="1047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2" name="Google Shape;1012;p62"/>
          <p:cNvSpPr txBox="1"/>
          <p:nvPr/>
        </p:nvSpPr>
        <p:spPr>
          <a:xfrm>
            <a:off x="4539935" y="2893325"/>
            <a:ext cx="1019700" cy="314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Qwen-3.8-max </a:t>
            </a:r>
            <a:r>
              <a:rPr b="1" lang="pt-BR" sz="1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🇨🇳</a:t>
            </a:r>
            <a:endParaRPr b="1" sz="935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3" name="Google Shape;1013;p62"/>
          <p:cNvSpPr txBox="1"/>
          <p:nvPr/>
        </p:nvSpPr>
        <p:spPr>
          <a:xfrm>
            <a:off x="519905" y="2272125"/>
            <a:ext cx="1019700" cy="314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Sabiazinho-4 </a:t>
            </a:r>
            <a:r>
              <a:rPr b="1" lang="pt-BR" sz="1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🇧🇷</a:t>
            </a:r>
            <a:endParaRPr b="1" sz="935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4" name="Google Shape;1014;p62"/>
          <p:cNvSpPr txBox="1"/>
          <p:nvPr/>
        </p:nvSpPr>
        <p:spPr>
          <a:xfrm>
            <a:off x="2339447" y="3516575"/>
            <a:ext cx="1294800" cy="314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Deepseek-v4-flash </a:t>
            </a:r>
            <a:r>
              <a:rPr b="1" lang="pt-BR" sz="1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🇨🇳</a:t>
            </a:r>
            <a:endParaRPr b="1" sz="935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5" name="Google Shape;1015;p62"/>
          <p:cNvSpPr txBox="1"/>
          <p:nvPr/>
        </p:nvSpPr>
        <p:spPr>
          <a:xfrm>
            <a:off x="4539935" y="2578725"/>
            <a:ext cx="1224900" cy="314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Deepseek-v4-pro </a:t>
            </a:r>
            <a:r>
              <a:rPr b="1" lang="pt-BR" sz="1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🇨🇳</a:t>
            </a:r>
            <a:endParaRPr b="1" sz="935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6" name="Google Shape;1016;p62"/>
          <p:cNvSpPr txBox="1"/>
          <p:nvPr/>
        </p:nvSpPr>
        <p:spPr>
          <a:xfrm>
            <a:off x="2353601" y="3839325"/>
            <a:ext cx="1926600" cy="314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Llama-3.3-70B-Instruct-FP8 </a:t>
            </a:r>
            <a:r>
              <a:rPr b="1" lang="pt-BR" sz="10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🇺🇸</a:t>
            </a:r>
            <a:endParaRPr b="1" sz="9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17" name="Google Shape;1017;p62"/>
          <p:cNvSpPr txBox="1"/>
          <p:nvPr/>
        </p:nvSpPr>
        <p:spPr>
          <a:xfrm>
            <a:off x="2348550" y="2272125"/>
            <a:ext cx="703200" cy="314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Sabia-4 </a:t>
            </a:r>
            <a:r>
              <a:rPr b="1" lang="pt-BR" sz="1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🇧🇷</a:t>
            </a:r>
            <a:endParaRPr b="1" sz="935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8" name="Google Shape;1018;p62"/>
          <p:cNvSpPr txBox="1"/>
          <p:nvPr/>
        </p:nvSpPr>
        <p:spPr>
          <a:xfrm>
            <a:off x="4539935" y="2272125"/>
            <a:ext cx="1224900" cy="314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Sabia-4-Thinking </a:t>
            </a:r>
            <a:r>
              <a:rPr b="1" lang="pt-BR" sz="1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🇧🇷</a:t>
            </a:r>
            <a:endParaRPr b="1" sz="935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9" name="Google Shape;1019;p62"/>
          <p:cNvSpPr txBox="1"/>
          <p:nvPr/>
        </p:nvSpPr>
        <p:spPr>
          <a:xfrm>
            <a:off x="6541794" y="1919925"/>
            <a:ext cx="1558200" cy="20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C7F2"/>
              </a:buClr>
              <a:buSzPts val="1047"/>
              <a:buFont typeface="Arial"/>
              <a:buNone/>
            </a:pPr>
            <a:r>
              <a:rPr b="1" lang="pt-BR" sz="1047">
                <a:solidFill>
                  <a:schemeClr val="accent1"/>
                </a:solidFill>
              </a:rPr>
              <a:t>CASES / SOLUÇÕES</a:t>
            </a:r>
            <a:endParaRPr b="0" i="0" sz="1047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0" name="Google Shape;1020;p62"/>
          <p:cNvSpPr txBox="1"/>
          <p:nvPr/>
        </p:nvSpPr>
        <p:spPr>
          <a:xfrm>
            <a:off x="6461252" y="2251942"/>
            <a:ext cx="315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💬</a:t>
            </a:r>
            <a:endParaRPr/>
          </a:p>
        </p:txBody>
      </p:sp>
      <p:sp>
        <p:nvSpPr>
          <p:cNvPr id="1021" name="Google Shape;1021;p62"/>
          <p:cNvSpPr txBox="1"/>
          <p:nvPr/>
        </p:nvSpPr>
        <p:spPr>
          <a:xfrm>
            <a:off x="6725690" y="2189025"/>
            <a:ext cx="1738500" cy="47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Assistentes e Copilotos</a:t>
            </a:r>
            <a:endParaRPr b="1" sz="935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(Conversas e suporte)</a:t>
            </a:r>
            <a:endParaRPr b="1" sz="935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2" name="Google Shape;1022;p62"/>
          <p:cNvSpPr txBox="1"/>
          <p:nvPr/>
        </p:nvSpPr>
        <p:spPr>
          <a:xfrm>
            <a:off x="6461240" y="2727872"/>
            <a:ext cx="315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/>
              <a:t>⛁</a:t>
            </a:r>
            <a:endParaRPr sz="1800"/>
          </a:p>
        </p:txBody>
      </p:sp>
      <p:sp>
        <p:nvSpPr>
          <p:cNvPr id="1023" name="Google Shape;1023;p62"/>
          <p:cNvSpPr txBox="1"/>
          <p:nvPr/>
        </p:nvSpPr>
        <p:spPr>
          <a:xfrm>
            <a:off x="6725690" y="2722425"/>
            <a:ext cx="1738500" cy="47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RAG e Conhecimento</a:t>
            </a:r>
            <a:b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(Respostas com contexto)</a:t>
            </a:r>
            <a:endParaRPr/>
          </a:p>
        </p:txBody>
      </p:sp>
      <p:sp>
        <p:nvSpPr>
          <p:cNvPr id="1024" name="Google Shape;1024;p62"/>
          <p:cNvSpPr txBox="1"/>
          <p:nvPr/>
        </p:nvSpPr>
        <p:spPr>
          <a:xfrm>
            <a:off x="6461240" y="3284242"/>
            <a:ext cx="357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📝</a:t>
            </a:r>
            <a:endParaRPr/>
          </a:p>
        </p:txBody>
      </p:sp>
      <p:sp>
        <p:nvSpPr>
          <p:cNvPr id="1025" name="Google Shape;1025;p62"/>
          <p:cNvSpPr txBox="1"/>
          <p:nvPr/>
        </p:nvSpPr>
        <p:spPr>
          <a:xfrm>
            <a:off x="6725690" y="3255825"/>
            <a:ext cx="1738500" cy="47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Documentos </a:t>
            </a:r>
            <a:endParaRPr b="1" sz="935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(resumo e extração)</a:t>
            </a:r>
            <a:endParaRPr/>
          </a:p>
        </p:txBody>
      </p:sp>
      <p:sp>
        <p:nvSpPr>
          <p:cNvPr id="1026" name="Google Shape;1026;p62"/>
          <p:cNvSpPr txBox="1"/>
          <p:nvPr/>
        </p:nvSpPr>
        <p:spPr>
          <a:xfrm>
            <a:off x="6725690" y="3789225"/>
            <a:ext cx="1738500" cy="47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Automação </a:t>
            </a:r>
            <a:endParaRPr b="1" sz="935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(IA dentro dos fluxos)</a:t>
            </a:r>
            <a:endParaRPr/>
          </a:p>
        </p:txBody>
      </p:sp>
      <p:sp>
        <p:nvSpPr>
          <p:cNvPr id="1027" name="Google Shape;1027;p62"/>
          <p:cNvSpPr txBox="1"/>
          <p:nvPr/>
        </p:nvSpPr>
        <p:spPr>
          <a:xfrm>
            <a:off x="6459297" y="3844452"/>
            <a:ext cx="315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⚙️</a:t>
            </a:r>
            <a:endParaRPr/>
          </a:p>
        </p:txBody>
      </p:sp>
      <p:sp>
        <p:nvSpPr>
          <p:cNvPr id="1028" name="Google Shape;1028;p62"/>
          <p:cNvSpPr txBox="1"/>
          <p:nvPr/>
        </p:nvSpPr>
        <p:spPr>
          <a:xfrm>
            <a:off x="6450315" y="4353633"/>
            <a:ext cx="357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/>
              <a:t>♫</a:t>
            </a:r>
            <a:endParaRPr sz="1600"/>
          </a:p>
        </p:txBody>
      </p:sp>
      <p:sp>
        <p:nvSpPr>
          <p:cNvPr id="1029" name="Google Shape;1029;p62"/>
          <p:cNvSpPr txBox="1"/>
          <p:nvPr/>
        </p:nvSpPr>
        <p:spPr>
          <a:xfrm>
            <a:off x="6725690" y="4322625"/>
            <a:ext cx="1738500" cy="47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Transcrição de Áudio (STT)</a:t>
            </a: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1" sz="935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35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Multilingue</a:t>
            </a:r>
            <a:endParaRPr/>
          </a:p>
        </p:txBody>
      </p:sp>
      <p:sp>
        <p:nvSpPr>
          <p:cNvPr id="1030" name="Google Shape;1030;p62"/>
          <p:cNvSpPr/>
          <p:nvPr/>
        </p:nvSpPr>
        <p:spPr>
          <a:xfrm>
            <a:off x="6088850" y="2290680"/>
            <a:ext cx="191700" cy="287700"/>
          </a:xfrm>
          <a:prstGeom prst="chevron">
            <a:avLst>
              <a:gd fmla="val 50000" name="adj"/>
            </a:avLst>
          </a:prstGeom>
          <a:solidFill>
            <a:srgbClr val="0086FF"/>
          </a:solidFill>
          <a:ln cap="flat" cmpd="sng" w="9525">
            <a:solidFill>
              <a:srgbClr val="0086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16D0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31" name="Google Shape;1031;p62"/>
          <p:cNvSpPr/>
          <p:nvPr/>
        </p:nvSpPr>
        <p:spPr>
          <a:xfrm>
            <a:off x="6088850" y="2824080"/>
            <a:ext cx="191700" cy="287700"/>
          </a:xfrm>
          <a:prstGeom prst="chevron">
            <a:avLst>
              <a:gd fmla="val 50000" name="adj"/>
            </a:avLst>
          </a:prstGeom>
          <a:solidFill>
            <a:srgbClr val="0086FF"/>
          </a:solidFill>
          <a:ln cap="flat" cmpd="sng" w="9525">
            <a:solidFill>
              <a:srgbClr val="0086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16D0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32" name="Google Shape;1032;p62"/>
          <p:cNvSpPr/>
          <p:nvPr/>
        </p:nvSpPr>
        <p:spPr>
          <a:xfrm>
            <a:off x="6088850" y="3357480"/>
            <a:ext cx="191700" cy="287700"/>
          </a:xfrm>
          <a:prstGeom prst="chevron">
            <a:avLst>
              <a:gd fmla="val 50000" name="adj"/>
            </a:avLst>
          </a:prstGeom>
          <a:solidFill>
            <a:srgbClr val="0086FF"/>
          </a:solidFill>
          <a:ln cap="flat" cmpd="sng" w="9525">
            <a:solidFill>
              <a:srgbClr val="0086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16D0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33" name="Google Shape;1033;p62"/>
          <p:cNvSpPr/>
          <p:nvPr/>
        </p:nvSpPr>
        <p:spPr>
          <a:xfrm>
            <a:off x="6088850" y="3890880"/>
            <a:ext cx="191700" cy="287700"/>
          </a:xfrm>
          <a:prstGeom prst="chevron">
            <a:avLst>
              <a:gd fmla="val 50000" name="adj"/>
            </a:avLst>
          </a:prstGeom>
          <a:solidFill>
            <a:srgbClr val="0086FF"/>
          </a:solidFill>
          <a:ln cap="flat" cmpd="sng" w="9525">
            <a:solidFill>
              <a:srgbClr val="0086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16D0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34" name="Google Shape;1034;p62"/>
          <p:cNvSpPr/>
          <p:nvPr/>
        </p:nvSpPr>
        <p:spPr>
          <a:xfrm>
            <a:off x="6088850" y="4424280"/>
            <a:ext cx="191700" cy="287700"/>
          </a:xfrm>
          <a:prstGeom prst="chevron">
            <a:avLst>
              <a:gd fmla="val 50000" name="adj"/>
            </a:avLst>
          </a:prstGeom>
          <a:solidFill>
            <a:srgbClr val="0086FF"/>
          </a:solidFill>
          <a:ln cap="flat" cmpd="sng" w="9525">
            <a:solidFill>
              <a:srgbClr val="0086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16D0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38" name="Shape 1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Google Shape;1039;p63"/>
          <p:cNvSpPr/>
          <p:nvPr/>
        </p:nvSpPr>
        <p:spPr>
          <a:xfrm>
            <a:off x="6119783" y="1327450"/>
            <a:ext cx="1414200" cy="393600"/>
          </a:xfrm>
          <a:prstGeom prst="roundRect">
            <a:avLst>
              <a:gd fmla="val 5263" name="adj"/>
            </a:avLst>
          </a:prstGeom>
          <a:solidFill>
            <a:srgbClr val="F8FAFC"/>
          </a:solidFill>
          <a:ln cap="flat" cmpd="sng" w="9525">
            <a:solidFill>
              <a:srgbClr val="E2E8F0">
                <a:alpha val="851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28575" rotWithShape="0" algn="bl" dir="5400000" dist="19050">
              <a:srgbClr val="000000">
                <a:alpha val="35000"/>
              </a:srgbClr>
            </a:outerShdw>
          </a:effectLst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40" name="Google Shape;1040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6" y="5027294"/>
            <a:ext cx="9144001" cy="45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1" name="Google Shape;1041;p63" title="Slide 3.png"/>
          <p:cNvPicPr preferRelativeResize="0"/>
          <p:nvPr/>
        </p:nvPicPr>
        <p:blipFill rotWithShape="1">
          <a:blip r:embed="rId4">
            <a:alphaModFix/>
          </a:blip>
          <a:srcRect b="83689" l="0" r="0" t="0"/>
          <a:stretch/>
        </p:blipFill>
        <p:spPr>
          <a:xfrm>
            <a:off x="0" y="0"/>
            <a:ext cx="9144003" cy="492301"/>
          </a:xfrm>
          <a:prstGeom prst="rect">
            <a:avLst/>
          </a:prstGeom>
          <a:noFill/>
          <a:ln>
            <a:noFill/>
          </a:ln>
        </p:spPr>
      </p:pic>
      <p:sp>
        <p:nvSpPr>
          <p:cNvPr id="1042" name="Google Shape;1042;p63"/>
          <p:cNvSpPr/>
          <p:nvPr/>
        </p:nvSpPr>
        <p:spPr>
          <a:xfrm>
            <a:off x="300" y="150"/>
            <a:ext cx="9143400" cy="492300"/>
          </a:xfrm>
          <a:prstGeom prst="rect">
            <a:avLst/>
          </a:prstGeom>
          <a:solidFill>
            <a:srgbClr val="070B18">
              <a:alpha val="60840"/>
            </a:srgbClr>
          </a:solidFill>
          <a:ln>
            <a:noFill/>
          </a:ln>
        </p:spPr>
        <p:txBody>
          <a:bodyPr anchorCtr="0" anchor="t" bIns="33750" lIns="67500" spcFirstLastPara="1" rIns="67500" wrap="square" tIns="337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43" name="Google Shape;1043;p63" title="Logo-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56683" y="91295"/>
            <a:ext cx="1163684" cy="310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4" name="Google Shape;1044;p63" title="saopaulo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1620" y="91295"/>
            <a:ext cx="1108649" cy="3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Google Shape;1045;p63"/>
          <p:cNvSpPr txBox="1"/>
          <p:nvPr/>
        </p:nvSpPr>
        <p:spPr>
          <a:xfrm>
            <a:off x="432574" y="0"/>
            <a:ext cx="6107700" cy="4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Workshop</a:t>
            </a:r>
            <a:br>
              <a:rPr b="1"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Teoria à Prática: Construindo sua Primeira Solução na Magalu Cloud</a:t>
            </a:r>
            <a:endParaRPr sz="11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46" name="Google Shape;1046;p63"/>
          <p:cNvSpPr txBox="1"/>
          <p:nvPr>
            <p:ph idx="12" type="sldNum"/>
          </p:nvPr>
        </p:nvSpPr>
        <p:spPr>
          <a:xfrm>
            <a:off x="8394023" y="4663225"/>
            <a:ext cx="7032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 de 52</a:t>
            </a:r>
            <a:endParaRPr/>
          </a:p>
        </p:txBody>
      </p:sp>
      <p:sp>
        <p:nvSpPr>
          <p:cNvPr id="1047" name="Google Shape;1047;p63"/>
          <p:cNvSpPr/>
          <p:nvPr/>
        </p:nvSpPr>
        <p:spPr>
          <a:xfrm>
            <a:off x="1384555" y="1445495"/>
            <a:ext cx="3291600" cy="15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800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EXPERIMENTE</a:t>
            </a:r>
            <a:endParaRPr sz="800" strike="noStrike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48" name="Google Shape;1048;p63"/>
          <p:cNvSpPr/>
          <p:nvPr/>
        </p:nvSpPr>
        <p:spPr>
          <a:xfrm>
            <a:off x="1384577" y="1713050"/>
            <a:ext cx="30912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QUER USAR O</a:t>
            </a:r>
            <a:endParaRPr sz="2800" strike="noStrike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49" name="Google Shape;1049;p63"/>
          <p:cNvSpPr/>
          <p:nvPr/>
        </p:nvSpPr>
        <p:spPr>
          <a:xfrm>
            <a:off x="1384571" y="2179325"/>
            <a:ext cx="38463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500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MGC AI HUB?</a:t>
            </a:r>
            <a:endParaRPr sz="2500" strike="noStrike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50" name="Google Shape;1050;p63"/>
          <p:cNvSpPr/>
          <p:nvPr/>
        </p:nvSpPr>
        <p:spPr>
          <a:xfrm>
            <a:off x="1398325" y="2783038"/>
            <a:ext cx="3474000" cy="101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6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Escaneie o </a:t>
            </a:r>
            <a:r>
              <a:rPr b="1" lang="pt-BR" sz="16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QR Code</a:t>
            </a:r>
            <a:r>
              <a:rPr lang="pt-BR" sz="16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 ou nos visite no totem (período da tarde) para conversar com especialistas e ver uma Demo do MGC AI HUB.</a:t>
            </a:r>
            <a:endParaRPr sz="16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51" name="Google Shape;1051;p63"/>
          <p:cNvSpPr txBox="1"/>
          <p:nvPr/>
        </p:nvSpPr>
        <p:spPr>
          <a:xfrm>
            <a:off x="5709537" y="1378395"/>
            <a:ext cx="21795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125" lIns="74250" spcFirstLastPara="1" rIns="74250" wrap="square" tIns="371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408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MGC AI HUB</a:t>
            </a:r>
            <a:endParaRPr b="1" sz="1191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52" name="Google Shape;1052;p63" title="LP_AI_HUB_-_APRESENTA_O_CF_2026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740451" y="1780500"/>
            <a:ext cx="2179502" cy="21795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6" name="Shape 1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7" name="Google Shape;1057;p64" title="bg8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8" name="Google Shape;1058;p64"/>
          <p:cNvSpPr txBox="1"/>
          <p:nvPr/>
        </p:nvSpPr>
        <p:spPr>
          <a:xfrm>
            <a:off x="3881750" y="2154825"/>
            <a:ext cx="48564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7800">
                <a:solidFill>
                  <a:schemeClr val="lt1"/>
                </a:solidFill>
                <a:latin typeface="Rubik"/>
                <a:ea typeface="Rubik"/>
                <a:cs typeface="Rubik"/>
                <a:sym typeface="Rubik"/>
              </a:rPr>
              <a:t>Dúvidas?</a:t>
            </a:r>
            <a:endParaRPr b="1" sz="7800">
              <a:solidFill>
                <a:schemeClr val="lt1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cxnSp>
        <p:nvCxnSpPr>
          <p:cNvPr id="1059" name="Google Shape;1059;p64"/>
          <p:cNvCxnSpPr/>
          <p:nvPr/>
        </p:nvCxnSpPr>
        <p:spPr>
          <a:xfrm>
            <a:off x="3787200" y="2471575"/>
            <a:ext cx="0" cy="18042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60" name="Google Shape;1060;p64"/>
          <p:cNvSpPr txBox="1"/>
          <p:nvPr/>
        </p:nvSpPr>
        <p:spPr>
          <a:xfrm>
            <a:off x="3948425" y="3676667"/>
            <a:ext cx="43173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380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Fáceis, por favor :)</a:t>
            </a:r>
            <a:endParaRPr b="1" sz="3800">
              <a:solidFill>
                <a:srgbClr val="FFFFFF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1061" name="Google Shape;1061;p6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77200" y="190460"/>
            <a:ext cx="1456100" cy="2481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5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6" name="Google Shape;1066;p65" title="bg3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"/>
            <a:ext cx="9144000" cy="5143489"/>
          </a:xfrm>
          <a:prstGeom prst="rect">
            <a:avLst/>
          </a:prstGeom>
          <a:noFill/>
          <a:ln>
            <a:noFill/>
          </a:ln>
        </p:spPr>
      </p:pic>
      <p:sp>
        <p:nvSpPr>
          <p:cNvPr id="1067" name="Google Shape;1067;p65"/>
          <p:cNvSpPr txBox="1"/>
          <p:nvPr/>
        </p:nvSpPr>
        <p:spPr>
          <a:xfrm>
            <a:off x="312375" y="539050"/>
            <a:ext cx="53826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7800">
                <a:solidFill>
                  <a:schemeClr val="lt1"/>
                </a:solidFill>
                <a:latin typeface="Rubik"/>
                <a:ea typeface="Rubik"/>
                <a:cs typeface="Rubik"/>
                <a:sym typeface="Rubik"/>
              </a:rPr>
              <a:t>Obrigado!</a:t>
            </a:r>
            <a:endParaRPr b="1" sz="65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68" name="Google Shape;1068;p65" title="Logo-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8156" y="2594240"/>
            <a:ext cx="2576699" cy="686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9" name="Google Shape;1069;p65" title="saopaulo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8474" y="3578104"/>
            <a:ext cx="2218699" cy="620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70" name="Google Shape;1070;p65"/>
          <p:cNvCxnSpPr/>
          <p:nvPr/>
        </p:nvCxnSpPr>
        <p:spPr>
          <a:xfrm>
            <a:off x="244075" y="819600"/>
            <a:ext cx="2400" cy="34698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